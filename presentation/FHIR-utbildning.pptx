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Välkomna! Presentera dig själv kort.</a:t>
            </a:r>
          </a:p>
          <a:p/>
          <a:p>
            <a:r>
              <a:t>Dagen är praktisk: vi varvar korta genomgångar med övningar. Alla övningar görs i deltagarnas egna repon på</a:t>
            </a:r>
          </a:p>
          <a:p>
            <a:r>
              <a:t>GitHub, som byggs automatiskt med SUSHI och IG Publisher i GitHub Actions. Ingen lokal installation behövs.</a:t>
            </a:r>
          </a:p>
          <a:p/>
          <a:p>
            <a:r>
              <a:t>Kontrollera att alla har skapat sitt repo från mallen och har en grön bock under Actions (förberedelseuppgift).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Sex moduler à 50 minuter med 10 minuters paus mellan varje, plus en kort inledning och en avslutning.</a:t>
            </a:r>
          </a:p>
          <a:p>
            <a:r>
              <a:t>Tiderna är ett förslag, anpassa efter lokal och lunch.</a:t>
            </a:r>
          </a:p>
          <a:p/>
          <a:p>
            <a:r>
              <a:t>Varje modul har samma rytm: genomgång, övning och en kort summering. Övningarna bygger på varandra.</a:t>
            </a:r>
          </a:p>
          <a:p>
            <a:r>
              <a:t>Den som hamnar efter kan när som helst köra arbetsflödet "Kom ikapp" och få lösningen till sitt repo.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Målet är praktisk tillämpning: efter dagen ska deltagarna kunna läsa och kravställa profiler, förstå vad en IG</a:t>
            </a:r>
          </a:p>
          <a:p>
            <a:r>
              <a:t>innehåller, och ha en fungerande miljö för att fortsätta på egen hand.</a:t>
            </a:r>
          </a:p>
          <a:p/>
          <a:p>
            <a:r>
              <a:t>Fråga gärna gruppen vilka roller som finns i rummet: kravställare, utvecklare, testare, arkitekter, informatiker.</a:t>
            </a:r>
          </a:p>
          <a:p>
            <a:r>
              <a:t>Anpassa djupet efter det.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 stället för nya exempel i varje modul följer vi samma två resurser hela dagen: Patient och Encounter.</a:t>
            </a:r>
          </a:p>
          <a:p>
            <a:r>
              <a:t>Testpersonen är Tolvan Tolvansson (191212121212), Skatteverkets klassiska testperson.</a:t>
            </a:r>
          </a:p>
          <a:p/>
          <a:p>
            <a:r>
              <a:t>Modul 1: vi läser resurserna. Modul 2: vi tolkar profilerna. Modul 3: vi skriver profilerna i FSH.</a:t>
            </a:r>
          </a:p>
          <a:p>
            <a:r>
              <a:t>Modul 4: vi lägger till regler med FHIRPath. Modul 5: vi exponerar data från ett "journalsystem" via ett FHIR-API, med mappningar i FHIR Mapping Language.</a:t>
            </a:r>
          </a:p>
          <a:p>
            <a:r>
              <a:t>Modul 6: vi beskriver kraven i ett CapabilityStatement och validerar instanser.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Varje deltagare har ett eget repo skapat från kursens mall-repo (GitHub template).</a:t>
            </a:r>
          </a:p>
          <a:p>
            <a:r>
              <a:t>Man ändrar filer direkt i webbläsaren (pennan, eller tryck punkt för github.dev) och checkar in.</a:t>
            </a:r>
          </a:p>
          <a:p>
            <a:r>
              <a:t>Varje incheckning startar GitHub Actions, som kör SUSHI och IG Publisher och publicerar IG:n på GitHub Pages.</a:t>
            </a:r>
          </a:p>
          <a:p>
            <a:r>
              <a:t>Det är samma upplägg som Ineras mall-repo för IG:er.</a:t>
            </a:r>
          </a:p>
          <a:p/>
          <a:p>
            <a:r>
              <a:t>Det finns också ett Docker-spår för den som vill bygga lokalt, och GitHub Codespaces om man vill ha en</a:t>
            </a:r>
          </a:p>
          <a:p>
            <a:r>
              <a:t>fullständig utvecklingsmiljö i webbläsaren.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Det här bör deltagarna ha gjort före kursen. Gå igenom det snabbt och hjälp den som fastnat under första övningen.</a:t>
            </a:r>
          </a:p>
          <a:p/>
          <a:p>
            <a:r>
              <a:t>Vanliga problem:</a:t>
            </a:r>
          </a:p>
          <a:p>
            <a:r>
              <a:t>- Repot skapades som privat på ett gratiskonto. Då fungerar inte GitHub Pages. Gör repot publikt.</a:t>
            </a:r>
          </a:p>
          <a:p>
            <a:r>
              <a:t>- GitHub Pages är inte aktiverat. Settings, Pages, Deploy from a branch, gh-pages, root.</a:t>
            </a:r>
          </a:p>
          <a:p>
            <a:r>
              <a:t>- Actions är avstängt i organisationen. Använd ett personligt konto.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 1 lägger grunden. Många har sett FHIR-JSON men inte läst den systematiskt.</a:t>
            </a:r>
          </a:p>
          <a:p>
            <a:r>
              <a:t>Fokus: att kunna slå upp och tolka varje del av en resurs med hjälp av specifikationen.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FHIR = Fast Healthcare Interoperability Resources, en standard från HL7.</a:t>
            </a:r>
          </a:p>
          <a:p>
            <a:r>
              <a:t>Bygger på webbteknik: REST, JSON/XML, OAuth.</a:t>
            </a:r>
          </a:p>
          <a:p/>
          <a:p>
            <a:r>
              <a:t>Grundidén: information delas upp i små återanvändbara byggstenar (resurser) som kan refereras till varandra.</a:t>
            </a:r>
          </a:p>
          <a:p>
            <a:r>
              <a:t>Basresurserna täcker det vanliga (80/20-regeln). Resten hanteras med profiler och extensions, och det är det dagen</a:t>
            </a:r>
          </a:p>
          <a:p>
            <a:r>
              <a:t>handlar om.</a:t>
            </a:r>
          </a:p>
          <a:p/>
          <a:p>
            <a:r>
              <a:t>Versioner: R4 (2019) är fortfarande den mest använda, även i Sverige (HL7 Sverige-basprofiler, Inera).</a:t>
            </a:r>
          </a:p>
          <a:p>
            <a:r>
              <a:t>R5 kom 2023, och R6 är på väg. Kursen använder R4.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Gå igenom delarna uppifrån och ned. Alla resurser (DomainResource) har samma "ram":</a:t>
            </a:r>
          </a:p>
          <a:p>
            <a:r>
              <a:t>- resourceType och id (logiskt id på servern)</a:t>
            </a:r>
          </a:p>
          <a:p>
            <a:r>
              <a:t>- meta: metadata som servern ofta sätter (versionId, lastUpdated) och profiler/taggar</a:t>
            </a:r>
          </a:p>
          <a:p>
            <a:r>
              <a:t>- text: narrativ, en människoläsbar XHTML-sammanfattning</a:t>
            </a:r>
          </a:p>
          <a:p>
            <a:r>
              <a:t>- extension och modifierExtension</a:t>
            </a:r>
          </a:p>
          <a:p>
            <a:r>
              <a:t>- därefter resursens egna element, i den ordning specifikationen anger (i XML är ordningen viktig)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Primitiva datatyper har ett enkelt värde. Observera skillnaden mellan date och dateTime, och att en dateTime med</a:t>
            </a:r>
          </a:p>
          <a:p>
            <a:r>
              <a:t>klockslag kräver tidszon.</a:t>
            </a:r>
          </a:p>
          <a:p/>
          <a:p>
            <a:r>
              <a:t>Komplexa datatyper är återanvändbara strukturer. De viktigaste att kunna: Identifier, HumanName, CodeableConcept,</a:t>
            </a:r>
          </a:p>
          <a:p>
            <a:r>
              <a:t>Coding, Reference, Period, Quantity.</a:t>
            </a:r>
          </a:p>
          <a:p/>
          <a:p>
            <a:r>
              <a:t>Tips: klicka på datatypen i specifikationens tabell för att se dess delar.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Visa gärna live: https://hl7.org/fhir/R4/patient.html</a:t>
            </a:r>
          </a:p>
          <a:p/>
          <a:p>
            <a:r>
              <a:t>Förklara kolumnerna: Name, Flags, Card. (kardinalitet), Type, Description &amp; Constraints.</a:t>
            </a:r>
          </a:p>
          <a:p>
            <a:r>
              <a:t>Flaggor: Σ = ingår i _summary, ?! = modifierande element (kan ändra betydelsen av resursen, t.ex. active,</a:t>
            </a:r>
          </a:p>
          <a:p>
            <a:r>
              <a:t>deceased), I = har invarianter, N = normativ.</a:t>
            </a:r>
          </a:p>
          <a:p/>
          <a:p>
            <a:r>
              <a:t>Kardinalitet: 0..1 valfri, 1..1 obligatorisk, 0..* lista, 1..* minst 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Reference är navet i FHIR: resurser pekar på varandra.</a:t>
            </a:r>
          </a:p>
          <a:p/>
          <a:p>
            <a:r>
              <a:t>- Bokstavlig referens: "Patient/123" (relativ) eller en absolut URL. Mottagaren kan hämta resursen.</a:t>
            </a:r>
          </a:p>
          <a:p>
            <a:r>
              <a:t>- Logisk referens: identifier, t.ex. HSA-id för en organisation, när man inte har (eller vill ha) en resurs att peka på.</a:t>
            </a:r>
          </a:p>
          <a:p>
            <a:r>
              <a:t>  Vanligt i Sverige.</a:t>
            </a:r>
          </a:p>
          <a:p>
            <a:r>
              <a:t>- display: bara text till människor. Den får aldrig användas för maskinell tolkning.</a:t>
            </a:r>
          </a:p>
          <a:p>
            <a:r>
              <a:t>- contained: resursen bäddas in i den refererande resursen. Använd sparsamt.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 centrala resurser: CodeSystem definierar koder (t.ex. SNOMED CT, ICD-10, eller ett lokalt kodverk).</a:t>
            </a:r>
          </a:p>
          <a:p>
            <a:r>
              <a:t>ValueSet väljer ut koder ur ett eller flera kodsystem för ett visst syfte.</a:t>
            </a:r>
          </a:p>
          <a:p>
            <a:r>
              <a:t>Bindningen kopplar ett element i en resurs till ett ValueSet.</a:t>
            </a:r>
          </a:p>
          <a:p/>
          <a:p>
            <a:r>
              <a:t>I instansen: code (bara koden, system underförstått), Coding (system + code + display),</a:t>
            </a:r>
          </a:p>
          <a:p>
            <a:r>
              <a:t>CodeableConcept (flera Coding för samma begrepp + fritext).</a:t>
            </a:r>
          </a:p>
          <a:p/>
          <a:p>
            <a:r>
              <a:t>Exempel: samma diagnos kan kodas både i ICD-10 och SNOMED CT i samma CodeableConcept.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Det här är en av de viktigaste sakerna vid kravställning.</a:t>
            </a:r>
          </a:p>
          <a:p/>
          <a:p>
            <a:r>
              <a:t>required: endast koder från värdemängden. Exempel: Patient.gender, Encounter.status.</a:t>
            </a:r>
          </a:p>
          <a:p>
            <a:r>
              <a:t>extensible: använd värdemängdens kod om den finns, annars får en annan kod användas. Exempel: maritalStatus.</a:t>
            </a:r>
          </a:p>
          <a:p>
            <a:r>
              <a:t>preferred: rekommendation.</a:t>
            </a:r>
          </a:p>
          <a:p>
            <a:r>
              <a:t>example: bara illustration. Exempel: Encounter.type i R4.</a:t>
            </a:r>
          </a:p>
          <a:p/>
          <a:p>
            <a:r>
              <a:t>I en profil får man skärpa (example till extensible till required) men aldrig lätta på en bindning.</a:t>
            </a:r>
          </a:p>
          <a:p/>
          <a:p>
            <a:r>
              <a:t>Diskutera: vad händer i Sverige när ett internationellt ValueSet är extensible men saknar svenska begrepp?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Extensions är FHIR:s inbyggda sätt att lägga till information som inte finns i basresursen. Alla får använda dem,</a:t>
            </a:r>
          </a:p>
          <a:p>
            <a:r>
              <a:t>men de måste definieras (StructureDefinition) och identifieras med en url.</a:t>
            </a:r>
          </a:p>
          <a:p/>
          <a:p>
            <a:r>
              <a:t>Enkel extension: url + ett value[x].</a:t>
            </a:r>
          </a:p>
          <a:p>
            <a:r>
              <a:t>Komplex extension: url + nästlade extensions (ingen egen value).</a:t>
            </a:r>
          </a:p>
          <a:p>
            <a:r>
              <a:t>Extension på primitivt värde: i JSON skrivs den i ett syskonelement med understreck, t.ex. _birthDate.</a:t>
            </a:r>
          </a:p>
          <a:p/>
          <a:p>
            <a:r>
              <a:t>modifierExtension: ändrar betydelsen av resursen, t.ex. "denna ordination gäller INTE". En mottagare som inte</a:t>
            </a:r>
          </a:p>
          <a:p>
            <a:r>
              <a:t>förstår en modifierExtension får inte bearbeta resursen. Används mycket sparsamt.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meta.profile är ett påstående: "jag gör anspråk på att följa den här profilen". Det är inte en garanti.</a:t>
            </a:r>
          </a:p>
          <a:p>
            <a:r>
              <a:t>Mottagaren måste validera. Och en resurs kan följa en profil utan att den står i meta.profile.</a:t>
            </a:r>
          </a:p>
          <a:p/>
          <a:p>
            <a:r>
              <a:t>meta.security används för säkerhetsmärkning, t.ex. konfidentialitet. Den kan styra behörighet.</a:t>
            </a:r>
          </a:p>
          <a:p>
            <a:r>
              <a:t>meta.tag är fria etiketter för arbetsflöden. De påverkar inte tolkningen.</a:t>
            </a:r>
          </a:p>
          <a:p/>
          <a:p>
            <a:r>
              <a:t>text: narrativen ska spegla den strukturerade datan. status=generated betyder att den är genererad från datan.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Låt deltagarna arbeta i par. Gå runt och lyssna.</a:t>
            </a:r>
          </a:p>
          <a:p/>
          <a:p>
            <a:r>
              <a:t>Vanliga frågor: skillnaden mellan Coding och CodeableConcept, vad _birthDate är, varför class är en Coding i R4.</a:t>
            </a:r>
          </a:p>
          <a:p/>
          <a:p>
            <a:r>
              <a:t>Felet i Encounter: status "avslutad" i stället för "finished" (required-bindning).</a:t>
            </a:r>
          </a:p>
          <a:p>
            <a:r>
              <a:t>Ta upp svaren gemensamt de sista 5 minuterna.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Summera och koppla vidare: i modul 2 tittar vi på hur man beskriver krav på resurser, alltså profiler,</a:t>
            </a:r>
          </a:p>
          <a:p>
            <a:r>
              <a:t>och hur de paketeras i en IG.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 2 handlar om att tolka krav. Det är här kravställare och utvecklare möts: profilen är kontraktet.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Basresurserna är medvetet generella för att fungera i hela världen. Nästan allt är valfritt (0..1, 0..*), och</a:t>
            </a:r>
          </a:p>
          <a:p>
            <a:r>
              <a:t>många bindningar är bara exempel.</a:t>
            </a:r>
          </a:p>
          <a:p/>
          <a:p>
            <a:r>
              <a:t>I ett konkret sammanhang (en region, en tjänst, ett land) behöver vi säga mer: vilka element som krävs, vilka</a:t>
            </a:r>
          </a:p>
          <a:p>
            <a:r>
              <a:t>kodverk som gäller, hur personnummer ska anges osv. Det gör vi med profiler.</a:t>
            </a:r>
          </a:p>
          <a:p/>
          <a:p>
            <a:r>
              <a:t>Profilen är kontraktet mellan parterna och kan valideras maskinellt.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 profil kan bara begränsa, inte utöka. Allt som är giltigt mot profilen måste också vara giltigt mot basen.</a:t>
            </a:r>
          </a:p>
          <a:p>
            <a:r>
              <a:t>Det är grunden för att system som inte känner till profilen ändå kan läsa datan.</a:t>
            </a:r>
          </a:p>
          <a:p/>
          <a:p>
            <a:r>
              <a:t>Det enda sättet att lägga till är extensions, och de är en del av basens regelverk.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 profil är en StructureDefinition med derivation = constraint och en baseDefinition.</a:t>
            </a:r>
          </a:p>
          <a:p/>
          <a:p>
            <a:r>
              <a:t>Differential: bara ändringarna. Det är det man skriver (i FSH eller Forge).</a:t>
            </a:r>
          </a:p>
          <a:p>
            <a:r>
              <a:t>Snapshot: hela den resulterande definitionen, beräknad från basen + differential. Det är vad validatorn använder.</a:t>
            </a:r>
          </a:p>
          <a:p/>
          <a:p>
            <a:r>
              <a:t>I IG:n finns flikar för båda, och dessutom Key Elements (de viktigaste) och Must Support-vyn.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Must Support (MS) är en flagga i profilen. FHIR-specifikationen definierar inte exakt vad den betyder.</a:t>
            </a:r>
          </a:p>
          <a:p>
            <a:r>
              <a:t>Det måste varje IG göra själv, och det är en vanlig källa till missförstånd.</a:t>
            </a:r>
          </a:p>
          <a:p/>
          <a:p>
            <a:r>
              <a:t>Typiska definitioner: avsändaren SKA skicka elementet om informationen finns. Mottagaren SKA kunna ta emot,</a:t>
            </a:r>
          </a:p>
          <a:p>
            <a:r>
              <a:t>lagra och/eller visa det, och får inte avvisa meddelandet för att elementet finns.</a:t>
            </a:r>
          </a:p>
          <a:p/>
          <a:p>
            <a:r>
              <a:t>MS är inte samma sak som obligatoriskt (min = 1). Ett element kan vara 0..1 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 bindning i profilen är bara halva jobbet. Vid validering används en terminologiserver för att räkna fram</a:t>
            </a:r>
          </a:p>
          <a:p>
            <a:r>
              <a:t>värdemängder ($expand) och kontrollera koder ($validate-code). IG Publisher och FHIR Validator använder</a:t>
            </a:r>
          </a:p>
          <a:p>
            <a:r>
              <a:t>tx.fhir.org som standard. Nationellt kan andra servrar gälla.</a:t>
            </a:r>
          </a:p>
          <a:p/>
          <a:p>
            <a:r>
              <a:t>Viktigt för kravställare:</a:t>
            </a:r>
          </a:p>
          <a:p>
            <a:r>
              <a:t>- required: kod utanför värdemängden ger fel.</a:t>
            </a:r>
          </a:p>
          <a:p>
            <a:r>
              <a:t>- extensible: kod utanför ger bara varning, eftersom validatorn inte kan avgöra om en passande kod fanns.</a:t>
            </a:r>
          </a:p>
          <a:p>
            <a:r>
              <a:t>  Det ser vi i övning 6.3.</a:t>
            </a:r>
          </a:p>
          <a:p>
            <a:r>
              <a:t>- Versioner: SNOMED CT har editioner (svensk edition) och versioner. Ange version när det spelar roll.</a:t>
            </a:r>
          </a:p>
          <a:p>
            <a:r>
              <a:t>- Display-texter kontrolleras. Vi råkade själva få fel när ICD-10-displayen var på svenska.</a:t>
            </a:r>
          </a:p>
          <a:p/>
          <a:p>
            <a:r>
              <a:t>Svenska kodverk: SNOMED CT svensk edition, ICD-10-SE, ATC, NPU, KVÅ och nationella kodverk från Socialstyrelsen</a:t>
            </a:r>
          </a:p>
          <a:p>
            <a:r>
              <a:t>och Inera. HL7 Sveriges basprofiler binder t.ex. civilstånd till ett svenskt ValueSet.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Två steg: 1) extensionen definieras som en egen StructureDefinition med url, context (var den får användas) och</a:t>
            </a:r>
          </a:p>
          <a:p>
            <a:r>
              <a:t>value[x]. 2) Profilen säger att extensionen får eller ska förekomma, genom att lägga till en slice på extension.</a:t>
            </a:r>
          </a:p>
          <a:p/>
          <a:p>
            <a:r>
              <a:t>Använd i första hand befintliga extensions: från FHIR-standarden (core/extensions-paketet), HL7 Sverige eller</a:t>
            </a:r>
          </a:p>
          <a:p>
            <a:r>
              <a:t>nationella IG:er. Skapa egna bara när inget passar.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Slicing används när ett upprepande element innehåller olika "sorters" saker som ska ha olika regler.</a:t>
            </a:r>
          </a:p>
          <a:p>
            <a:r>
              <a:t>Klassiskt exempel: identifier, där personnummer och samordningsnummer har olika system och regler.</a:t>
            </a:r>
          </a:p>
          <a:p/>
          <a:p>
            <a:r>
              <a:t>För varje slice anges namn, kardinalitet och egna regler. Slicingen har en diskriminator, alltså vad i datan som</a:t>
            </a:r>
          </a:p>
          <a:p>
            <a:r>
              <a:t>avgör vilken slice ett element tillhör, och regler (open/closed/openAtEnd) för element som inte matchar.</a:t>
            </a:r>
          </a:p>
          <a:p/>
          <a:p>
            <a:r>
              <a:t>Extensions är för övrigt alltid slicade på url. Det är så profilen säger vilka extensions som får förekomma.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Viktig poäng: slice-namnet finns bara i profilen. I instansen finns bara en lista.</a:t>
            </a:r>
          </a:p>
          <a:p>
            <a:r>
              <a:t>Mottagaren eller validatorn måste själv räkna ut vilken slice varje element tillhör med hjälp av diskriminatorn.</a:t>
            </a:r>
          </a:p>
          <a:p/>
          <a:p>
            <a:r>
              <a:t>Konsekvenser att diskutera:</a:t>
            </a:r>
          </a:p>
          <a:p>
            <a:r>
              <a:t>- Diskriminatorn måste ha ett fast värde i varje slice, annars går det inte att avgöra.</a:t>
            </a:r>
          </a:p>
          <a:p>
            <a:r>
              <a:t>- Ett stavfel i system gör att elementet inte matchar någon slice. Med open slicing räknas det som "övrigt",</a:t>
            </a:r>
          </a:p>
          <a:p>
            <a:r>
              <a:t>  och slicens regler (t.ex. format på personnumret) kontrolleras aldrig.</a:t>
            </a:r>
          </a:p>
          <a:p>
            <a:r>
              <a:t>- Ordningen i listan betyder inget om inte ordered = true.</a:t>
            </a:r>
          </a:p>
          <a:p>
            <a:r>
              <a:t>- Det är lätt att tro att instansen "har" en personnummer-slice. Det är tolkningen, inte datan.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 IG är en samling konformitetsresurser och dokumentation som tillsammans beskriver hur FHIR ska användas i ett</a:t>
            </a:r>
          </a:p>
          <a:p>
            <a:r>
              <a:t>visst sammanhang.</a:t>
            </a:r>
          </a:p>
          <a:p/>
          <a:p>
            <a:r>
              <a:t>Den publiceras som en webbplats (för människor) och som ett npm-paket package.tgz (för maskiner: validatorer,</a:t>
            </a:r>
          </a:p>
          <a:p>
            <a:r>
              <a:t>servrar och andra IG:er som bygger vidare).</a:t>
            </a:r>
          </a:p>
          <a:p/>
          <a:p>
            <a:r>
              <a:t>Varje resurs har en canonical URL. IG:n har ett paket-id och en version, och andra IG:er anger beroenden på</a:t>
            </a:r>
          </a:p>
          <a:p>
            <a:r>
              <a:t>paket-id#version.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Visa kursens egen IG (deltagarnas GitHub Pages) eller en publicerad IG, t.ex. HL7 Sveriges basprofiler.</a:t>
            </a:r>
          </a:p>
          <a:p/>
          <a:p>
            <a:r>
              <a:t>Gå igenom flikarna på en profilsida: Text summary, Differential table, Snapshot table, Key elements, Must support,</a:t>
            </a:r>
          </a:p>
          <a:p>
            <a:r>
              <a:t>Statistics, och XML/JSON/TTL.</a:t>
            </a:r>
          </a:p>
          <a:p/>
          <a:p>
            <a:r>
              <a:t>Visa också Artifacts-sidan och qa.html, där IG Publisher redovisar fel och varningar för hela IG:n.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 snabb översikt över verktyg vi använder i dag (fetstil) och andra som är bra att känna till.</a:t>
            </a:r>
          </a:p>
          <a:p/>
          <a:p>
            <a:r>
              <a:t>Forge och Simplifier (Firely) är vanliga i Sverige för grafisk profilering och publicering.</a:t>
            </a:r>
          </a:p>
          <a:p>
            <a:r>
              <a:t>FSH och SUSHI är HL7:s textbaserade alternativ och fungerar bra med git och CI. Det är vad vi använder i dag och</a:t>
            </a:r>
          </a:p>
          <a:p>
            <a:r>
              <a:t>vad Ineras mall-repo bygger på.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Profilen i övningen är den som deltagarna själva bygger i modul 3 och 4, så de får en förhandstitt.</a:t>
            </a:r>
          </a:p>
          <a:p>
            <a:r>
              <a:t>Den publiceras automatiskt som facit-IG under /facit/ på deltagarnas GitHub Pages. Saknas den: Actions → Bygg IG →</a:t>
            </a:r>
          </a:p>
          <a:p>
            <a:r>
              <a:t>Run workflow. Läs profilen i IG Publishers vyer, så som kravställare möter profiler i verkligheten.</a:t>
            </a:r>
          </a:p>
          <a:p>
            <a:r>
              <a:t>Den som vill kan jämföra med JSON-filen i kursmaterialet.</a:t>
            </a:r>
          </a:p>
          <a:p/>
          <a:p>
            <a:r>
              <a:t>Facit-IG:n innehåller också invarianter. Spara dem till modul 4 (övning 4.0).</a:t>
            </a:r>
          </a:p>
          <a:p/>
          <a:p>
            <a:r>
              <a:t>Poängen med 2.2 är den fjärde identifieraren, med felstavat system. Den hamnar utanför alla slices,</a:t>
            </a:r>
          </a:p>
          <a:p>
            <a:r>
              <a:t>och eftersom slicingen är öppen blir instansen ändå giltig. Det leder vidare till diskussionen om</a:t>
            </a:r>
          </a:p>
          <a:p>
            <a:r>
              <a:t>open/closed och om vad validering kan och inte kan fånga (modul 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Nästa modul: vi skriver profilen som vi just tolkade, i FSH, och bygger den i GitHub.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Det här är den mest praktiska modulen. Räkna med att de flesta hinner 3.1–3.3. Övning 3.4–3.5 är valfria,</a:t>
            </a:r>
          </a:p>
          <a:p>
            <a:r>
              <a:t>och Kom ikapp → modul 3 ger alla samma läge inför modul 4. Håll genomgången kort och låt deltagarna bygga.</a:t>
            </a:r>
          </a:p>
          <a:p>
            <a:r>
              <a:t>Ha lösningen redo att visa, och påminn om "Kom ikapp".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FHIR Shorthand är ett domänspecifikt språk för att skriva FHIR-artefakter. SUSHI kompilerar FSH till JSON.</a:t>
            </a:r>
          </a:p>
          <a:p/>
          <a:p>
            <a:r>
              <a:t>Fördelar: kort och läsbart, fungerar med git (diff, pull requests, code review), kan byggas automatiskt i CI.</a:t>
            </a:r>
          </a:p>
          <a:p>
            <a:r>
              <a:t>Det är HL7-standard och används av de flesta nya IG:er, bland annat Ineras mall.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Visa repot: test-ig/sushi-config.yaml (metadata för IG:n), input/fsh (FSH-filerna), input/pagecontent (sidor)</a:t>
            </a:r>
          </a:p>
          <a:p>
            <a:r>
              <a:t>och ig.ini (pekar ut IG-resursen och mallen).</a:t>
            </a:r>
          </a:p>
          <a:p/>
          <a:p>
            <a:r>
              <a:t>SUSHI läser FSH och skriver JSON till fsh-generated/. IG Publisher läser JSON och sidorna och skapar webbplatsen</a:t>
            </a:r>
          </a:p>
          <a:p>
            <a:r>
              <a:t>i output/. I GitHub Actions publiceras output till grenen gh-pages, som GitHub Pages visar.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Varje entitet börjar med ett nyckelord och ett namn, följt av metadata (Parent, Id, Title, Description) och</a:t>
            </a:r>
          </a:p>
          <a:p>
            <a:r>
              <a:t>regler som börjar med asterisk.</a:t>
            </a:r>
          </a:p>
          <a:p/>
          <a:p>
            <a:r>
              <a:t>Id blir en del av den canonical URL:en: [canonical]/StructureDefinition/[Id].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Gå igenom de vanligaste reglerna. Caret (^) sätter värden på själva StructureDefinition eller ElementDefinition</a:t>
            </a:r>
          </a:p>
          <a:p>
            <a:r>
              <a:t>i stället för på instansdata, t.ex. ^short, ^slicing och ^status.</a:t>
            </a:r>
          </a:p>
          <a:p/>
          <a:p>
            <a:r>
              <a:t>Regler för instanser (Instance) använder samma syntax: * name.family = "Tolvansson".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Öppna filerna tillsammans i GitHub. Visa sedan resultatet i den publicerade IG:n: profilsidan och exemplet.</a:t>
            </a:r>
          </a:p>
          <a:p/>
          <a:p>
            <a:r>
              <a:t>Påpeka att meta.profile inte står i exemplet: SUSHI lägger till det automatiskt utifrån InstanceOf.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Övning 3.2. Visa strukturen, låt deltagarna skriva själva. Notera:</a:t>
            </a:r>
          </a:p>
          <a:p>
            <a:r>
              <a:t>- subject only Reference(EducationPatient) begränsar målet för referensen till vår profil.</a:t>
            </a:r>
          </a:p>
          <a:p>
            <a:r>
              <a:t>- serviceProvider med logisk referens (HSA-id).</a:t>
            </a:r>
          </a:p>
          <a:p>
            <a:r>
              <a:t>- Exemplet refererar till patient-tolvan med Reference(patient-tolvan). SUSHI löser upp det till Patient/patient-tolvan.</a:t>
            </a:r>
          </a:p>
          <a:p>
            <a:r>
              <a:t>- Exemplet måste innehålla alla element som profilen kräver (1..1), annars fel i qa.html.</a:t>
            </a:r>
          </a:p>
          <a:p>
            <a:r>
              <a:t>- type anges som fritext (type.text) tills kodsystemet Kontakttyp finns. I övning 3.3 byts den mot en kod.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 sätt att få en bindning på plats:</a:t>
            </a:r>
          </a:p>
          <a:p>
            <a:r>
              <a:t>1. Eget kodsystem + ValueSet som inkluderar hela kodsystemet (include codes from system).</a:t>
            </a:r>
          </a:p>
          <a:p>
            <a:r>
              <a:t>2. ValueSet som räknar upp enskilda koder ur ett befintligt kodsystem (include $system#kod).</a:t>
            </a:r>
          </a:p>
          <a:p>
            <a:r>
              <a:t>3. Bindning genom referens till ett befintligt, publicerat ValueSet (canonical URL).</a:t>
            </a:r>
          </a:p>
          <a:p/>
          <a:p>
            <a:r>
              <a:t>Diskutera förvaltning: ett eget ValueSet måste ni förvalta själva. En referens till ett nationellt ValueSet ger</a:t>
            </a:r>
          </a:p>
          <a:p>
            <a:r>
              <a:t>automatiskt uppdateringar, men också beroenden. Man kan också inkludera ett annat ValueSet (include codes from</a:t>
            </a:r>
          </a:p>
          <a:p>
            <a:r>
              <a:t>valueset) eller filtrera, t.ex. SNOMED CT is-a.</a:t>
            </a:r>
          </a:p>
          <a:p/>
          <a:p>
            <a:r>
              <a:t>Kontakttyp är ett fiktivt kodverk för kursen. I verkligheten används nationella kodverk.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Övning 3.4 och 3.5. Visa att extension-slicing (contains) och identifier-slicing har samma syntax:</a:t>
            </a:r>
          </a:p>
          <a:p>
            <a:r>
              <a:t>contains + namn + kardinalitet. Skillnaden är att för extensions sköter FHIR själv diskriminatorn (url), medan vi</a:t>
            </a:r>
          </a:p>
          <a:p>
            <a:r>
              <a:t>för identifier måste ange diskriminatorn med ^slicing.</a:t>
            </a:r>
          </a:p>
          <a:p/>
          <a:p>
            <a:r>
              <a:t>I exemplet: identifier[personnummer].value = "...". Systemet fylls i automatiskt från profilens mönster.</a:t>
            </a:r>
          </a:p>
          <a:p>
            <a:r>
              <a:t>Titta sedan i JSON-fliken: slice-namnet syns inte.</a:t>
            </a:r>
          </a:p>
          <a:p/>
          <a:p>
            <a:r>
              <a:t>Diskussionsfråga om SkyddadIdentitet: HL7 Sveriges SEBasePatient uttrycker sekretessmarkering och skyddad</a:t>
            </a:r>
          </a:p>
          <a:p>
            <a:r>
              <a:t>folkbokföring med meta.security (kodsystemet http://hl7.se/fhir/ig/base/CodeSystem/SecurityLabel), inte med en</a:t>
            </a:r>
          </a:p>
          <a:p>
            <a:r>
              <a:t>extension. Vår extension är en övning i att skapa extensions, men i verkligheten återanvänder man den nationella lösningen.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Övning 3.6 (extra). I verkligheten profilerar man sällan direkt på basresursen. HL7 Sveriges SEBasePatient har</a:t>
            </a:r>
          </a:p>
          <a:p>
            <a:r>
              <a:t>redan slicing för personnummer, samordningsnummer och nationellt reservnummer, med samma diskriminator som vi</a:t>
            </a:r>
          </a:p>
          <a:p>
            <a:r>
              <a:t>byggde själva. Den har svenska namnregler (högst ett namn, mellannamn) och säkerhetsmärkning via meta.security.</a:t>
            </a:r>
          </a:p>
          <a:p/>
          <a:p>
            <a:r>
              <a:t>Beroendet anges i sushi-config.yaml med paket-id och version. Det är samma princip som vid kravställning:</a:t>
            </a:r>
          </a:p>
          <a:p>
            <a:r>
              <a:t>peka ut exakt vilken version man bygger på.</a:t>
            </a:r>
          </a:p>
          <a:p/>
          <a:p>
            <a:r>
              <a:t>Diskutera: vad ärver man "på köpet"? Varför kan EducationSEPatient inte ha name 1..* (basprofilen säger 0..1)?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Hela bygget tar cirka 2 minuter, men SUSHI-steget är klart efter ungefär 30 sekunder. Lär deltagarna att titta</a:t>
            </a:r>
          </a:p>
          <a:p>
            <a:r>
              <a:t>där först. Uppmuntra flera ändringar per incheckning, eller github.dev (tryck .) för att ändra flera filer samtidigt.</a:t>
            </a:r>
          </a:p>
          <a:p/>
          <a:p>
            <a:r>
              <a:t>3.4–3.5 är valfria under kurstiden. 3.6 är en extrauppgift (eller hemuppgift) för den som är klar.</a:t>
            </a:r>
          </a:p>
          <a:p/>
          <a:p>
            <a:r>
              <a:t>Vanliga fel:</a:t>
            </a:r>
          </a:p>
          <a:p>
            <a:r>
              <a:t>- Indrag och citattecken i FSH</a:t>
            </a:r>
          </a:p>
          <a:p>
            <a:r>
              <a:t>- Glömt alias ($personnummer) eller skrivit fel namn på ValueSet</a:t>
            </a:r>
          </a:p>
          <a:p>
            <a:r>
              <a:t>- Profilen refererar till ett ValueSet som inte finns ännu</a:t>
            </a:r>
          </a:p>
          <a:p/>
          <a:p>
            <a:r>
              <a:t>Visa en lösning på storskärm efter 20 minuter.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Påminn om Kom ikapp innan lunch, så att alla börjar modul 4 från samma läge.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Efter lunch: kom igång med något konkret. Visa FHIRPath Lab direkt och låt alla prova ett uttryck på Tolvan.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FHIRPath är ett uttrycksspråk för att navigera och välja ut data i FHIR-resurser, ungefär som XPath för XML.</a:t>
            </a:r>
          </a:p>
          <a:p/>
          <a:p>
            <a:r>
              <a:t>Det används på många ställen i FHIR: invarianter (constraints), sökparametrar (SearchParameter.expression),</a:t>
            </a:r>
          </a:p>
          <a:p>
            <a:r>
              <a:t>slicing-diskriminatorer (path), mappningar, CQL, SQL on FHIR (ViewDefinition) och i verktyg som validatorn.</a:t>
            </a:r>
          </a:p>
          <a:p/>
          <a:p>
            <a:r>
              <a:t>Grundprincipen: allt är samlingar (collections). Ett uttryck som inte hittar något ger en tom samling, inte ett fel.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Gå igenom tabellen. Viktigt att förstå:</a:t>
            </a:r>
          </a:p>
          <a:p>
            <a:r>
              <a:t>- where filtrerar, exists/empty testar, all testar alla element.</a:t>
            </a:r>
          </a:p>
          <a:p>
            <a:r>
              <a:t>- implies: "om A så B". Om A är falskt är hela uttrycket sant.</a:t>
            </a:r>
          </a:p>
          <a:p>
            <a:r>
              <a:t>- Strängar med enkla citattecken, datum med @.</a:t>
            </a:r>
          </a:p>
          <a:p>
            <a:r>
              <a:t>- extension('url') är en genväg för extension.where(url = '...').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Visa fliken Constraints på https://hl7.org/fhir/R4/patient.html.</a:t>
            </a:r>
          </a:p>
          <a:p/>
          <a:p>
            <a:r>
              <a:t>pat-1 gäller Patient.contact: en kontaktperson måste ha minst något av namn, telecom, adress eller organisation.</a:t>
            </a:r>
          </a:p>
          <a:p>
            <a:r>
              <a:t>ele-1 och ext-1 finns på alla element och extensions. dom-6 är en best practice-varning som ni kommer att se</a:t>
            </a:r>
          </a:p>
          <a:p>
            <a:r>
              <a:t>ofta i valideringen.</a:t>
            </a:r>
          </a:p>
          <a:p/>
          <a:p>
            <a:r>
              <a:t>Varje invariant har nyckel, allvarlighetsgrad (error/warning), en mänsklig beskrivning och ett FHIRPath-uttryck.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Det här är övning 4.2. Invarianten definieras en gång och kopplas sedan till profilen med obeys.</a:t>
            </a:r>
          </a:p>
          <a:p/>
          <a:p>
            <a:r>
              <a:t>Man kan koppla den till hela resursen (* obeys ...) eller till ett element (* identifier obeys ...). Kontexten avgör</a:t>
            </a:r>
          </a:p>
          <a:p>
            <a:r>
              <a:t>vad uttrycket utgår från.</a:t>
            </a:r>
          </a:p>
          <a:p/>
          <a:p>
            <a:r>
              <a:t>Lägg märke till att edu-pat-1 använder all(): finns det inget personnummer är resultatet sant. Det är kardinaliteten</a:t>
            </a:r>
          </a:p>
          <a:p>
            <a:r>
              <a:t>som avgör OM ett personnummer krävs, och invarianten som avgör HUR det ser 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 vanligaste missförstånden:</a:t>
            </a:r>
          </a:p>
          <a:p>
            <a:r>
              <a:t>- Tom samling: all() på en tom samling är sant, exists() är falskt. En jämförelse med en tom samling ger tomt</a:t>
            </a:r>
          </a:p>
          <a:p>
            <a:r>
              <a:t>  (inte false), och en invariant som ger tomt räknas normalt som uppfylld.</a:t>
            </a:r>
          </a:p>
          <a:p>
            <a:r>
              <a:t>- Strängar jämförs exakt (skiftlägeskänsligt). Koder jämförs som strängar.</a:t>
            </a:r>
          </a:p>
          <a:p>
            <a:r>
              <a:t>- matches: förankra alltid med ^ och $.</a:t>
            </a:r>
          </a:p>
          <a:p>
            <a:r>
              <a:t>- Datum med olika precision (1912 jämfört med 1912-12-12) kan ge tomt resultat.</a:t>
            </a:r>
          </a:p>
          <a:p>
            <a:r>
              <a:t>- Flera värden: name.family = 'X' när det finns två namn ger ett oväntat resultat. Använd where/exists.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4.1 kan göras utan att bygga något, så det är bra medan bygget från 4.2 kör.</a:t>
            </a:r>
          </a:p>
          <a:p/>
          <a:p>
            <a:r>
              <a:t>Diskutera efteråt: vad ska stå i en invariant, och vad passar bättre i bindning, kardinalitet eller mottagarens</a:t>
            </a:r>
          </a:p>
          <a:p>
            <a:r>
              <a:t>verksamhetslogik? Invarianter är bra för strukturella regler, men tunga affärsregler hör sällan hemma i profilen.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Nu lämnar vi IG:n en stund och tittar på hur man faktiskt erbjuder ett FHIR-API som följer profilerna.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Modulen har en blandad publik: utvecklare vill se kod, kravställare vill förstå arkitekturval och säkerhet.</a:t>
            </a:r>
          </a:p>
          <a:p>
            <a:r>
              <a:t>FML passar båda: mappningen är läsbar som en specifikation, inte bara som kod.</a:t>
            </a:r>
          </a:p>
          <a:p/>
          <a:p>
            <a:r>
              <a:t>Tidsplan: REST och sökning går fort (deltagarna provar själva i 5.1). Lägg tiden på fasaden, FML och</a:t>
            </a:r>
          </a:p>
          <a:p>
            <a:r>
              <a:t>mappningsutmaningarna, och ta säkerhet och IHE i högt tempo.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FHIR definierar ett REST-API med ett fåtal interaktioner på typ- och instansnivå.</a:t>
            </a:r>
          </a:p>
          <a:p/>
          <a:p>
            <a:r>
              <a:t>Alla servrar behöver inte stödja allt. Vad en server stöder beskrivs i dess CapabilityStatement (modul 6).</a:t>
            </a:r>
          </a:p>
          <a:p/>
          <a:p>
            <a:r>
              <a:t>Visa gärna live mot den publika HAPI-servern: https://hapi.fhir.org/baseR4/Patient?_count=1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Sökning är det som oftast skiljer en enkel från en användbar implementation.</a:t>
            </a:r>
          </a:p>
          <a:p/>
          <a:p>
            <a:r>
              <a:t>Sökparametrar är definierade per resurstyp (SearchParameter). Typerna avgör syntaxen: token (system|kod),</a:t>
            </a:r>
          </a:p>
          <a:p>
            <a:r>
              <a:t>reference, date (med prefix som ge/le), string, quantity.</a:t>
            </a:r>
          </a:p>
          <a:p/>
          <a:p>
            <a:r>
              <a:t>Resultatet är en Bundle av typen searchset med total, länkar för paginering och entry.search.mode (match/include).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FHIR-server med egen lagring: HAPI JPA Server (öppen källkod), Firely Server, Smile, molntjänster</a:t>
            </a:r>
          </a:p>
          <a:p>
            <a:r>
              <a:t>   (Azure Health Data Services, Google Healthcare API, AWS HealthLake). Data kopieras in som FHIR.</a:t>
            </a:r>
          </a:p>
          <a:p>
            <a:r>
              <a:t>2. FHIR-fasad: API:t översätter i realtid till ett befintligt system. Ingen dubbellagring, men allt måste</a:t>
            </a:r>
          </a:p>
          <a:p>
            <a:r>
              <a:t>   implementeras och mappas.</a:t>
            </a:r>
          </a:p>
          <a:p>
            <a:r>
              <a:t>3. Integrationsplattform: en integrationsmotor (t.ex. Mirth, Camel, Biztalk eller regionens tjänsteplattform)</a:t>
            </a:r>
          </a:p>
          <a:p>
            <a:r>
              <a:t>   transformerar meddelanden till och från FHIR.</a:t>
            </a:r>
          </a:p>
          <a:p/>
          <a:p>
            <a:r>
              <a:t>Valet beror på krav på aktualitet, prestanda, skrivning, sökning och var "sanningen" finns.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Flödet: klienten anropar GET /fhir/Patient/191212121212. HAPI:s RestfulServer anropar PatientProvider.read().</a:t>
            </a:r>
          </a:p>
          <a:p>
            <a:r>
              <a:t>Den hämtar JSON från journalsystemets eget REST-API (/journalsystem-api/patienter/191212121212), och FmlMotor</a:t>
            </a:r>
          </a:p>
          <a:p>
            <a:r>
              <a:t>kör mappningen fml/patient.map som gör om JSON till en FHIR Patient med meta.profile = EducationPatient.</a:t>
            </a:r>
          </a:p>
          <a:p/>
          <a:p>
            <a:r>
              <a:t>Visa gärna båda URL:erna sida vid sida i webbläsaren (eller sammanfattningen i arbetsflödet HAPI-fasad).</a:t>
            </a:r>
          </a:p>
          <a:p/>
          <a:p>
            <a:r>
              <a:t>Poängen: Java-koden är generell. Hur fälten översätts står i FML-filen, som kan läsas och ändras utan att</a:t>
            </a:r>
          </a:p>
          <a:p>
            <a:r>
              <a:t>röra koden. Resursens id sätts dock av fasaden, eftersom det är serverns ansvar.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FML är HL7:s standardspråk för att beskriva hur en struktur översätts till en annan. En mappning kompileras till</a:t>
            </a:r>
          </a:p>
          <a:p>
            <a:r>
              <a:t>resursen StructureMap och körs av en FML-motor: HL7:s referensbibliotek (som fasaden använder), HAPI eller Matchbox.</a:t>
            </a:r>
          </a:p>
          <a:p/>
          <a:p>
            <a:r>
              <a:t>Gå igenom delarna:</a:t>
            </a:r>
          </a:p>
          <a:p>
            <a:r>
              <a:t>- conceptmap: kodöversättning, här journalsystemets M/K till FHIR:s male/female.</a:t>
            </a:r>
          </a:p>
          <a:p>
            <a:r>
              <a:t>- uses: källans och målets struktur. Källan är inte FHIR, den beskrivs av en logisk modell (FSH: Logical:).</a:t>
            </a:r>
          </a:p>
          <a:p>
            <a:r>
              <a:t>- group och regler: källa -&gt; mål "namn". Finns inte källelementet körs regeln inte, så inga tomma element skapas.</a:t>
            </a:r>
          </a:p>
          <a:p>
            <a:r>
              <a:t>- then { }: inre regler som fyller ett element som skapats i yttre regeln.</a:t>
            </a:r>
          </a:p>
          <a:p/>
          <a:p>
            <a:r>
              <a:t>Varför FML i stället för Java? Mappningen blir en läsbar och granskningsbar specifikation som informatiker</a:t>
            </a:r>
          </a:p>
          <a:p>
            <a:r>
              <a:t>kan förstå, och den kan publiceras i en IG. Nackdel: ett eget språk, och stödet varierar mellan FHIR-versioner.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Det tekniska ramverket är den enkla delen. Det svåra är mappningen, oavsett om den skrivs i FML eller kod.</a:t>
            </a:r>
          </a:p>
          <a:p>
            <a:r>
              <a:t>Exempel från fasaden:</a:t>
            </a:r>
          </a:p>
          <a:p/>
          <a:p>
            <a:r>
              <a:t>- Kön lagras som M/K och översätts med en ConceptMap till male/female (required-bindning).</a:t>
            </a:r>
          </a:p>
          <a:p>
            <a:r>
              <a:t>- Nya koder i källan: journalsystemet har infört DIG. Den finns inte i ConceptMap:en, så type och class blir</a:t>
            </a:r>
          </a:p>
          <a:p>
            <a:r>
              <a:t>  tomma och resultatet bryter mot profilen. Det är övning 5.3, och ett skäl att validera i drift (modul 6).</a:t>
            </a:r>
          </a:p>
          <a:p>
            <a:r>
              <a:t>- Tidszoner: date ska inte ha tidszon, men dateTime med klockslag måste ha det. Här levererar API:t ISO 8601</a:t>
            </a:r>
          </a:p>
          <a:p>
            <a:r>
              <a:t>  med tidszon. Annars hade mappningen behövt lägga till den, med hänsyn till sommartid.</a:t>
            </a:r>
          </a:p>
          <a:p>
            <a:r>
              <a:t>- Logiska id: personnummer som resurs-id är enkelt men problematiskt. Personnummer kan bytas, och id:t läcker</a:t>
            </a:r>
          </a:p>
          <a:p>
            <a:r>
              <a:t>  personuppgifter i URL:er och loggar.</a:t>
            </a:r>
          </a:p>
          <a:p>
            <a:r>
              <a:t>- Saknade värden: en FML-regel körs inte om källan saknas, så inga tomma element skapas (ele-1).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Säkerhet är mer än en token. Gå igenom lagren:</a:t>
            </a:r>
          </a:p>
          <a:p>
            <a:r>
              <a:t>- Transport: TLS överallt. Ofta mTLS mellan system, i Sverige t.ex. med SITHS-certifikat.</a:t>
            </a:r>
          </a:p>
          <a:p>
            <a:r>
              <a:t>- Autentisering: vem är klienten, och vem är användaren? OpenID Connect för användare, signerad JWT eller mTLS</a:t>
            </a:r>
          </a:p>
          <a:p>
            <a:r>
              <a:t>  för system.</a:t>
            </a:r>
          </a:p>
          <a:p>
            <a:r>
              <a:t>- Auktorisation: vad får klienten göra? OAuth 2.0-scopes (SMART), men i vården också vårdrelation, samtycke,</a:t>
            </a:r>
          </a:p>
          <a:p>
            <a:r>
              <a:t>  spärrar och sammanhållen journalföring. Det kräver mer än scopes.</a:t>
            </a:r>
          </a:p>
          <a:p>
            <a:r>
              <a:t>- Loggning: vem läste vad och när? AuditEvent (IHE BALP). Krav enligt patientdatalagen.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SMART on FHIR är en HL7-standard som bygger på OAuth 2.0 och OpenID Connect.</a:t>
            </a:r>
          </a:p>
          <a:p/>
          <a:p>
            <a:r>
              <a:t>App Launch: en app startas från journalen (EHR launch) eller fristående, och får en token med kontext</a:t>
            </a:r>
          </a:p>
          <a:p>
            <a:r>
              <a:t>(patient, encounter, användare). Används för appar inbäddade i journalsystem.</a:t>
            </a:r>
          </a:p>
          <a:p/>
          <a:p>
            <a:r>
              <a:t>Backend Services: system-till-system utan användare. Klienten autentiserar sig med en signerad JWT och får en</a:t>
            </a:r>
          </a:p>
          <a:p>
            <a:r>
              <a:t>token med system-scopes.</a:t>
            </a:r>
          </a:p>
          <a:p/>
          <a:p>
            <a:r>
              <a:t>Scopes v2: resurs + behörighet (c=create, r=read, u=update, d=delete, s=search).</a:t>
            </a:r>
          </a:p>
          <a:p/>
          <a:p>
            <a:r>
              <a:t>Discovery: /.well-known/smart-configuration talar om var auktorisationsservern finns och vad den stöder.</a:t>
            </a:r>
          </a:p>
          <a:p/>
          <a:p>
            <a:r>
              <a:t>I fasaden finns ett förenklat exempel: DemoAuthorizationInterceptor.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IHE (Integrating the Healthcare Enterprise) definierar profiler för hur standarder används i vanliga</a:t>
            </a:r>
          </a:p>
          <a:p>
            <a:r>
              <a:t>integrationsscenarier. Flera finns som FHIR-varianter (det lilla m:et står för mobile, alltså FHIR/REST).</a:t>
            </a:r>
          </a:p>
          <a:p/>
          <a:p>
            <a:r>
              <a:t>I svensk kontext är identitet (personnummer, samordningsnummer, reservnummer), katalog (HSA) och loggning (PDL)</a:t>
            </a:r>
          </a:p>
          <a:p>
            <a:r>
              <a:t>centrala. Ofta är Inera och regionernas plattformar de som tillhandahåller tjänsterna.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5.2 fungerar helt i webbläsaren: arbetsflödet HAPI-fasad bygger med Maven, kör testerna, startar servern och visar</a:t>
            </a:r>
          </a:p>
          <a:p>
            <a:r>
              <a:t>journalsystemets JSON och FHIR-resultatet sida vid sida i sammanfattningen. Tar cirka 1–2 minuter.</a:t>
            </a:r>
          </a:p>
          <a:p>
            <a:r>
              <a:t>Lösningsregeln:</a:t>
            </a:r>
          </a:p>
          <a:p>
            <a:r>
              <a:t>  src.telefon as tel -&gt; tgt.telecom as telecom, telecom.system = 'phone', telecom.value = tel "telefon";</a:t>
            </a:r>
          </a:p>
          <a:p>
            <a:r>
              <a:t>Fel i FML-filen ger rött i steget "Bygg och kör tester", med Error @rad, kolumn i loggen.</a:t>
            </a:r>
          </a:p>
          <a:p/>
          <a:p>
            <a:r>
              <a:t>För den som vill köra lokalt: Codespaces eller Java 17 + Maven, mvn spring-boot:run i hapi-fasad.</a:t>
            </a:r>
          </a:p>
          <a:p/>
          <a:p>
            <a:r>
              <a:t>Varna för att lägga riktiga personuppgifter på den publika testservern.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Sista modulen knyter ihop dagen: hur vet vi att ett system och dess data följer IG:n?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Den här modulen är extra viktig för kravställare och testare: hur ställer man krav som går att verifiera?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Två nivåer:</a:t>
            </a:r>
          </a:p>
          <a:p>
            <a:r>
              <a:t>- Data: en instans är giltig mot en profil (strukturell validering). Det kan kontrolleras automatiskt.</a:t>
            </a:r>
          </a:p>
          <a:p>
            <a:r>
              <a:t>- System: ett system följer en IG om det beter sig som IG:n kräver. Det stöder rätt interaktioner och sökningar,</a:t>
            </a:r>
          </a:p>
          <a:p>
            <a:r>
              <a:t>  hanterar Must Support-element, och säkerhet och felhantering fungerar. Det kräver test av beteende.</a:t>
            </a:r>
          </a:p>
          <a:p/>
          <a:p>
            <a:r>
              <a:t>En IG bör innehålla tydliga konformitetskrav: SHALL/SHOULD/MAY, definition av Must Support,</a:t>
            </a:r>
          </a:p>
          <a:p>
            <a:r>
              <a:t>och CapabilityStatements för de olika aktörerna.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 IG blir ett krav först när kravställningen pekar ut den entydigt och säger hur följsamheten verifieras.</a:t>
            </a:r>
          </a:p>
          <a:p>
            <a:r>
              <a:t>Gå igenom tabellen och betona kolumnen "verifieras med": ett krav som inte går att verifiera blir en diskussion</a:t>
            </a:r>
          </a:p>
          <a:p>
            <a:r>
              <a:t>med leverantören i stället för en kontroll.</a:t>
            </a:r>
          </a:p>
          <a:p/>
          <a:p>
            <a:r>
              <a:t>Vanliga otydligheter: "stödja FHIR" (vilken version, resurser, IG?), "hantera Must Support" (visa, lagra eller</a:t>
            </a:r>
          </a:p>
          <a:p>
            <a:r>
              <a:t>bara inte krascha?), "följa HL7 Sverige" (vilken version av basprofilerna?).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CapabilityStatement finns i tre varianter (kind):</a:t>
            </a:r>
          </a:p>
          <a:p>
            <a:r>
              <a:t>- instance: beskriver en faktisk, driftsatt server. Det är vad /metadata returnerar.</a:t>
            </a:r>
          </a:p>
          <a:p>
            <a:r>
              <a:t>- capability: beskriver en mjukvaruprodukt.</a:t>
            </a:r>
          </a:p>
          <a:p>
            <a:r>
              <a:t>- requirements: beskriver krav, t.ex. i en IG. "En server som följer IG:n SKA ..."</a:t>
            </a:r>
          </a:p>
          <a:p/>
          <a:p>
            <a:r>
              <a:t>Viktiga element: fhirVersion, format, rest.mode (server/client), rest.security, rest.resource med type,</a:t>
            </a:r>
          </a:p>
          <a:p>
            <a:r>
              <a:t>supportedProfile, interaction, searchParam, operation. instantiates pekar från en instans till de krav den</a:t>
            </a:r>
          </a:p>
          <a:p>
            <a:r>
              <a:t>uppfyller, och implementationGuide anger vilka IG:er som följs.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Övning 6.2. Kraven från IG:n uttryckta maskinläsbart. IG Publisher gör en snygg sida av det.</a:t>
            </a:r>
          </a:p>
          <a:p/>
          <a:p>
            <a:r>
              <a:t>Expectation-extensionen anger SHALL/SHOULD/MAY per interaktion och sökparameter.</a:t>
            </a:r>
          </a:p>
          <a:p>
            <a:r>
              <a:t>Fasaden pekar på detta CapabilityStatement med instantiates.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 klient kan ta reda på vad en server stöder innan den börjar använda den:</a:t>
            </a:r>
          </a:p>
          <a:p>
            <a:r>
              <a:t>1. GET /metadata: CapabilityStatement med FHIR-version, resurser, interaktioner, sökparametrar och profiler.</a:t>
            </a:r>
          </a:p>
          <a:p>
            <a:r>
              <a:t>2. GET /.well-known/smart-configuration: var auktorisationsservern finns och vilka scopes och flöden som stöds.</a:t>
            </a:r>
          </a:p>
          <a:p>
            <a:r>
              <a:t>3. Kontrollera instantiates och implementationGuide: följer servern den IG klienten är byggd för?</a:t>
            </a:r>
          </a:p>
          <a:p/>
          <a:p>
            <a:r>
              <a:t>I R4 kan man också använda $versions för att se vilka FHIR-versioner servern stöder.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Validatorn kontrollerar flera nivåer: struktur och datatyper, kardinalitet, bindningar mot terminologi (kräver</a:t>
            </a:r>
          </a:p>
          <a:p>
            <a:r>
              <a:t>terminologiserver för externa kodsystem), invarianter, profiler (meta.profile eller angivna profiler) och i viss</a:t>
            </a:r>
          </a:p>
          <a:p>
            <a:r>
              <a:t>mån referenser.</a:t>
            </a:r>
          </a:p>
          <a:p/>
          <a:p>
            <a:r>
              <a:t>Resultatet är en OperationOutcome med issues: severity (fatal, error, warning, information), en kod, en text och</a:t>
            </a:r>
          </a:p>
          <a:p>
            <a:r>
              <a:t>var i resursen (expression och rad).</a:t>
            </a:r>
          </a:p>
          <a:p/>
          <a:p>
            <a:r>
              <a:t>Validering bör ske i utveckling, i CI, i test och vid behov i drift. Att validera allt i produktion kan vara dyrt.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FHIR Validator (validator_cli.jar) är referensvalidatorn från HL7. Den används också av IG Publisher och finns</a:t>
            </a:r>
          </a:p>
          <a:p>
            <a:r>
              <a:t>som webbtjänst på validator.fhir.org. HAPI har en egen validator som bygger på samma kärna.</a:t>
            </a:r>
          </a:p>
          <a:p/>
          <a:p>
            <a:r>
              <a:t>I kursens repo körs validatorn i GitHub Actions på allt i mappen validering/ – samma princip kan användas i</a:t>
            </a:r>
          </a:p>
          <a:p>
            <a:r>
              <a:t>verkliga projekt: validera exempel och testdata vid varje ändring.</a:t>
            </a:r>
          </a:p>
          <a:p/>
          <a:p>
            <a:r>
              <a:t>För API-beteende: Inferno (ONC, öppen källkod), Touchstone (AEGIS), och connectathons.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6.3 är dagens "aha"-övning: validatorn hittar det mesta, men inte stavfelet i identifierarens system.</a:t>
            </a:r>
          </a:p>
          <a:p>
            <a:r>
              <a:t>Med öppen slicing och en invariant som filtrerar på rätt system blir instansen giltig trots fel data.</a:t>
            </a:r>
          </a:p>
          <a:p/>
          <a:p>
            <a:r>
              <a:t>Diskutera: vilka fel kan en mottagare leva med? Vem ansvarar för valideringen? Hur skulle profilen kunna skärpas?</a:t>
            </a:r>
          </a:p>
          <a:p>
            <a:r>
              <a:t>(Se förslaget edu-pat-3 i facit.)</a:t>
            </a:r>
          </a:p>
          <a:p/>
          <a:p>
            <a:r>
              <a:t>6.4 knyter ihop dagen: kraven ska peka på IG, profil, CapabilityStatement och verifieringsmetod. Låt två par läsa</a:t>
            </a:r>
          </a:p>
          <a:p>
            <a:r>
              <a:t>upp ett krav var och låt gruppen hitta tolkningsutrymmet.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Gå tillbaka till den röda tråden: från att läsa en resurs till att validera mot egna profiler och beskriva krav</a:t>
            </a:r>
          </a:p>
          <a:p>
            <a:r>
              <a:t>på servrar.</a:t>
            </a:r>
          </a:p>
          <a:p/>
          <a:p>
            <a:r>
              <a:t>Uppmana deltagarna att behålla sina repon. De är en fungerande miljö för eget arbete: kopiera test-ig, byt</a:t>
            </a:r>
          </a:p>
          <a:p>
            <a:r>
              <a:t>id och canonical, och börja profilera.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Avslutningen (15 min): visa hur samma kedja körs utanför kursmiljön. Målet är att deltagarna ska kunna komma igång</a:t>
            </a:r>
          </a:p>
          <a:p>
            <a:r>
              <a:t>med eget arbete, med eller utan installationsrättigheter. Materialet finns i kursmaterial/avslutning/README.md.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 vägar beroende på vad man får installera:</a:t>
            </a:r>
          </a:p>
          <a:p>
            <a:r>
              <a:t>1. Allt lokalt: Node + SUSHI, Java, Ruby + Jekyll. Skripten hämtar IG Publisher och Validator automatiskt.</a:t>
            </a:r>
          </a:p>
          <a:p>
            <a:r>
              <a:t>2. Bara Docker: Docker-spåret i README (PowerShell-skript), som var det ursprungliga upplägget.</a:t>
            </a:r>
          </a:p>
          <a:p>
            <a:r>
              <a:t>3. Ingenting: GitHub Codespaces ger samma miljö i webbläsaren.</a:t>
            </a:r>
          </a:p>
          <a:p/>
          <a:p>
            <a:r>
              <a:t>VS Code med FSH-tillägget ger syntaxfärgning och felmarkering. Det fungerar inte fullt ut i github.dev.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Ditt kursrepo är en färdig startpunkt. För en IG som ska förvaltas på riktigt: utgå från Ineras mall-repo, som har</a:t>
            </a:r>
          </a:p>
          <a:p>
            <a:r>
              <a:t>versionshantering, releaser och publicering på samma sätt som kursens arbetsflöden.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Dela gärna länkarna i chatten. Uppmuntra deltagarna att gå med i chat.fhir.org (Zulip). Där svarar</a:t>
            </a:r>
          </a:p>
          <a:p>
            <a:r>
              <a:t>specifikationens författare på frågor.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Tack för i dag! Samla in utvärdering och frågor.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4754880"/>
            <a:ext cx="12191695" cy="109728"/>
          </a:xfrm>
          <a:prstGeom prst="rect">
            <a:avLst/>
          </a:prstGeom>
          <a:solidFill>
            <a:srgbClr val="E87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FHIR i praktiken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1089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D9EEEF"/>
                </a:solidFill>
                <a:latin typeface="Calibri"/>
              </a:rPr>
              <a:t>Profilering, Implementation Guides, terminologi och validering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1206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D5DAE1"/>
                </a:solidFill>
                <a:latin typeface="Calibri"/>
              </a:rPr>
              <a:t>Utbildningsdag · 6 moduler à 50 minuter
Övningarna görs i ett eget repo på GitHub – ingen installation krävs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Dagens upplägg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43584"/>
            <a:ext cx="11094415" cy="0"/>
          </a:xfrm>
          <a:prstGeom prst="line">
            <a:avLst/>
          </a:prstGeom>
          <a:ln w="12700">
            <a:solidFill>
              <a:srgbClr val="D5DA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B6577"/>
                </a:solidFill>
                <a:latin typeface="Calibri"/>
              </a:rPr>
              <a:t>FHIR i praktiken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B6577"/>
                </a:solidFill>
                <a:latin typeface="Calibri"/>
              </a:rPr>
              <a:t>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371600"/>
          <a:ext cx="11094414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7516"/>
                <a:gridCol w="3584349"/>
                <a:gridCol w="5632549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Tid</a:t>
                      </a:r>
                    </a:p>
                  </a:txBody>
                  <a:tcPr marL="73152" marR="73152" marT="36576" marB="36576" anchor="ctr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Modul</a:t>
                      </a:r>
                    </a:p>
                  </a:txBody>
                  <a:tcPr marL="73152" marR="73152" marT="36576" marB="36576" anchor="ctr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Innehåll</a:t>
                      </a:r>
                    </a:p>
                  </a:txBody>
                  <a:tcPr marL="73152" marR="73152" marT="36576" marB="36576" anchor="ctr">
                    <a:solidFill>
                      <a:srgbClr val="1B2A4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09.00 – 09.15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Inledning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Upplägg, röd tråd, kontroll av allas repon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09.15 – 10.05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1  Läsa en FHIR-resurs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Datatyper, terminologibindning, extensions, meta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10.15 – 11.05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2  Profiler och IG:er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StructureDefinition, terminologi i praktiken, slicing, verktyg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11.15 – 12.05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3  FHIR Shorthand (FSH)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Profil, terminologi, extension och slicing i FSH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12.05 – 13.00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Lunch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13.00 – 13.50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4  FHIRPath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Uttryck, invarianter och constraints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14.00 – 14.50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5  Utveckling med HAPI FHIR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FHIR-fasad med FML, REST, API-säkerhet, SMART, IHE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15.00 – 15.50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6  Följsamhet, krav och validering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Kravställning, CapabilityStatement, discovery, validering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15.50 – 16.05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Avslutning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Ta hem miljön: lokal installation och egen IG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Mål med dagen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43584"/>
            <a:ext cx="11094415" cy="0"/>
          </a:xfrm>
          <a:prstGeom prst="line">
            <a:avLst/>
          </a:prstGeom>
          <a:ln w="12700">
            <a:solidFill>
              <a:srgbClr val="D5DA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B6577"/>
                </a:solidFill>
                <a:latin typeface="Calibri"/>
              </a:rPr>
              <a:t>FHIR i praktiken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B6577"/>
                </a:solidFill>
                <a:latin typeface="Calibri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2000" b="1" i="0">
                <a:solidFill>
                  <a:srgbClr val="222831"/>
                </a:solidFill>
                <a:latin typeface="Calibri"/>
              </a:rPr>
              <a:t>Läsa</a:t>
            </a:r>
            <a:r>
              <a:rPr sz="2000" b="0" i="0">
                <a:solidFill>
                  <a:srgbClr val="222831"/>
                </a:solidFill>
                <a:latin typeface="Calibri"/>
              </a:rPr>
              <a:t> FHIR-resurser, profiler och Implementation Guides med säkerhet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2000" b="1" i="0">
                <a:solidFill>
                  <a:srgbClr val="222831"/>
                </a:solidFill>
                <a:latin typeface="Calibri"/>
              </a:rPr>
              <a:t>Förstå</a:t>
            </a:r>
            <a:r>
              <a:rPr sz="2000" b="0" i="0">
                <a:solidFill>
                  <a:srgbClr val="222831"/>
                </a:solidFill>
                <a:latin typeface="Calibri"/>
              </a:rPr>
              <a:t> terminologibindningar, extensions, slicing och invarianter, som är centrala begrepp vid kravställning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2000" b="1" i="0">
                <a:solidFill>
                  <a:srgbClr val="222831"/>
                </a:solidFill>
                <a:latin typeface="Calibri"/>
              </a:rPr>
              <a:t>Skriva</a:t>
            </a:r>
            <a:r>
              <a:rPr sz="2000" b="0" i="0">
                <a:solidFill>
                  <a:srgbClr val="222831"/>
                </a:solidFill>
                <a:latin typeface="Calibri"/>
              </a:rPr>
              <a:t> egna profiler i FSH och bygga en IG med SUSHI och IG Publisher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2000" b="1" i="0">
                <a:solidFill>
                  <a:srgbClr val="222831"/>
                </a:solidFill>
                <a:latin typeface="Calibri"/>
              </a:rPr>
              <a:t>Uttrycka</a:t>
            </a:r>
            <a:r>
              <a:rPr sz="2000" b="0" i="0">
                <a:solidFill>
                  <a:srgbClr val="222831"/>
                </a:solidFill>
                <a:latin typeface="Calibri"/>
              </a:rPr>
              <a:t> regler med FHIRPath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2000" b="1" i="0">
                <a:solidFill>
                  <a:srgbClr val="222831"/>
                </a:solidFill>
                <a:latin typeface="Calibri"/>
              </a:rPr>
              <a:t>Känna till</a:t>
            </a:r>
            <a:r>
              <a:rPr sz="2000" b="0" i="0">
                <a:solidFill>
                  <a:srgbClr val="222831"/>
                </a:solidFill>
                <a:latin typeface="Calibri"/>
              </a:rPr>
              <a:t> hur man bygger ett FHIR-API ovanpå ett befintligt system, och hur det säkras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2000" b="1" i="0">
                <a:solidFill>
                  <a:srgbClr val="222831"/>
                </a:solidFill>
                <a:latin typeface="Calibri"/>
              </a:rPr>
              <a:t>Kvalitetssäkra</a:t>
            </a:r>
            <a:r>
              <a:rPr sz="2000" b="0" i="0">
                <a:solidFill>
                  <a:srgbClr val="222831"/>
                </a:solidFill>
                <a:latin typeface="Calibri"/>
              </a:rPr>
              <a:t> med CapabilityStatement och validering mot profiler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2000" b="1" i="0">
                <a:solidFill>
                  <a:srgbClr val="222831"/>
                </a:solidFill>
                <a:latin typeface="Calibri"/>
              </a:rPr>
              <a:t>Ta med dig</a:t>
            </a:r>
            <a:r>
              <a:rPr sz="2000" b="0" i="0">
                <a:solidFill>
                  <a:srgbClr val="222831"/>
                </a:solidFill>
                <a:latin typeface="Calibri"/>
              </a:rPr>
              <a:t> en fungerande miljö för eget arbete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Den röda tråden: Tolvan och hans vårdkontakt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43584"/>
            <a:ext cx="11094415" cy="0"/>
          </a:xfrm>
          <a:prstGeom prst="line">
            <a:avLst/>
          </a:prstGeom>
          <a:ln w="12700">
            <a:solidFill>
              <a:srgbClr val="D5DA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B6577"/>
                </a:solidFill>
                <a:latin typeface="Calibri"/>
              </a:rPr>
              <a:t>FHIR i praktiken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B6577"/>
                </a:solidFill>
                <a:latin typeface="Calibri"/>
              </a:rPr>
              <a:t>4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1600200"/>
            <a:ext cx="548640" cy="548640"/>
          </a:xfrm>
          <a:prstGeom prst="ellipse">
            <a:avLst/>
          </a:prstGeom>
          <a:solidFill>
            <a:srgbClr val="E87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286000"/>
            <a:ext cx="1691640" cy="1554480"/>
          </a:xfrm>
          <a:prstGeom prst="roundRect">
            <a:avLst>
              <a:gd name="adj" fmla="val 12000"/>
            </a:avLst>
          </a:prstGeom>
          <a:solidFill>
            <a:srgbClr val="D9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i="0">
                <a:solidFill>
                  <a:srgbClr val="222831"/>
                </a:solidFill>
                <a:latin typeface="Calibri"/>
              </a:rPr>
              <a:t>Läsa</a:t>
            </a:r>
          </a:p>
          <a:p>
            <a:pPr algn="ctr"/>
            <a:r>
              <a:rPr sz="1500" b="0" i="0">
                <a:solidFill>
                  <a:srgbClr val="222831"/>
                </a:solidFill>
                <a:latin typeface="Calibri"/>
              </a:rPr>
              <a:t>Patient- och</a:t>
            </a:r>
          </a:p>
          <a:p>
            <a:pPr algn="ctr"/>
            <a:r>
              <a:rPr sz="1500" b="0" i="0">
                <a:solidFill>
                  <a:srgbClr val="222831"/>
                </a:solidFill>
                <a:latin typeface="Calibri"/>
              </a:rPr>
              <a:t>Encounter-resurs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249424" y="3063240"/>
            <a:ext cx="146304" cy="0"/>
          </a:xfrm>
          <a:prstGeom prst="line">
            <a:avLst/>
          </a:prstGeom>
          <a:ln w="25400">
            <a:solidFill>
              <a:srgbClr val="5B657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2404872" y="1600200"/>
            <a:ext cx="548640" cy="548640"/>
          </a:xfrm>
          <a:prstGeom prst="ellipse">
            <a:avLst/>
          </a:prstGeom>
          <a:solidFill>
            <a:srgbClr val="E87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04872" y="2286000"/>
            <a:ext cx="1691640" cy="1554480"/>
          </a:xfrm>
          <a:prstGeom prst="roundRect">
            <a:avLst>
              <a:gd name="adj" fmla="val 12000"/>
            </a:avLst>
          </a:prstGeom>
          <a:solidFill>
            <a:srgbClr val="D9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i="0">
                <a:solidFill>
                  <a:srgbClr val="222831"/>
                </a:solidFill>
                <a:latin typeface="Calibri"/>
              </a:rPr>
              <a:t>Tolka</a:t>
            </a:r>
          </a:p>
          <a:p>
            <a:pPr algn="ctr"/>
            <a:r>
              <a:rPr sz="1500" b="0" i="0">
                <a:solidFill>
                  <a:srgbClr val="222831"/>
                </a:solidFill>
                <a:latin typeface="Calibri"/>
              </a:rPr>
              <a:t>Profilen</a:t>
            </a:r>
          </a:p>
          <a:p>
            <a:pPr algn="ctr"/>
            <a:r>
              <a:rPr sz="1500" b="0" i="0">
                <a:solidFill>
                  <a:srgbClr val="222831"/>
                </a:solidFill>
                <a:latin typeface="Calibri"/>
              </a:rPr>
              <a:t>EducationPatient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105656" y="3063240"/>
            <a:ext cx="146304" cy="0"/>
          </a:xfrm>
          <a:prstGeom prst="line">
            <a:avLst/>
          </a:prstGeom>
          <a:ln w="25400">
            <a:solidFill>
              <a:srgbClr val="5B657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4261104" y="1600200"/>
            <a:ext cx="548640" cy="548640"/>
          </a:xfrm>
          <a:prstGeom prst="ellipse">
            <a:avLst/>
          </a:prstGeom>
          <a:solidFill>
            <a:srgbClr val="E87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61104" y="2286000"/>
            <a:ext cx="1691640" cy="1554480"/>
          </a:xfrm>
          <a:prstGeom prst="roundRect">
            <a:avLst>
              <a:gd name="adj" fmla="val 12000"/>
            </a:avLst>
          </a:prstGeom>
          <a:solidFill>
            <a:srgbClr val="D9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i="0">
                <a:solidFill>
                  <a:srgbClr val="222831"/>
                </a:solidFill>
                <a:latin typeface="Calibri"/>
              </a:rPr>
              <a:t>Skriva</a:t>
            </a:r>
          </a:p>
          <a:p>
            <a:pPr algn="ctr"/>
            <a:r>
              <a:rPr sz="1500" b="0" i="0">
                <a:solidFill>
                  <a:srgbClr val="222831"/>
                </a:solidFill>
                <a:latin typeface="Calibri"/>
              </a:rPr>
              <a:t>Profiler, terminologi,</a:t>
            </a:r>
          </a:p>
          <a:p>
            <a:pPr algn="ctr"/>
            <a:r>
              <a:rPr sz="1500" b="0" i="0">
                <a:solidFill>
                  <a:srgbClr val="222831"/>
                </a:solidFill>
                <a:latin typeface="Calibri"/>
              </a:rPr>
              <a:t>extension, slicing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961888" y="3063240"/>
            <a:ext cx="146304" cy="0"/>
          </a:xfrm>
          <a:prstGeom prst="line">
            <a:avLst/>
          </a:prstGeom>
          <a:ln w="25400">
            <a:solidFill>
              <a:srgbClr val="5B657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6117336" y="1600200"/>
            <a:ext cx="548640" cy="548640"/>
          </a:xfrm>
          <a:prstGeom prst="ellipse">
            <a:avLst/>
          </a:prstGeom>
          <a:solidFill>
            <a:srgbClr val="E87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17336" y="2286000"/>
            <a:ext cx="1691640" cy="1554480"/>
          </a:xfrm>
          <a:prstGeom prst="roundRect">
            <a:avLst>
              <a:gd name="adj" fmla="val 12000"/>
            </a:avLst>
          </a:prstGeom>
          <a:solidFill>
            <a:srgbClr val="D9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i="0">
                <a:solidFill>
                  <a:srgbClr val="222831"/>
                </a:solidFill>
                <a:latin typeface="Calibri"/>
              </a:rPr>
              <a:t>Regler</a:t>
            </a:r>
          </a:p>
          <a:p>
            <a:pPr algn="ctr"/>
            <a:r>
              <a:rPr sz="1500" b="0" i="0">
                <a:solidFill>
                  <a:srgbClr val="222831"/>
                </a:solidFill>
                <a:latin typeface="Calibri"/>
              </a:rPr>
              <a:t>Invarianter</a:t>
            </a:r>
          </a:p>
          <a:p>
            <a:pPr algn="ctr"/>
            <a:r>
              <a:rPr sz="1500" b="0" i="0">
                <a:solidFill>
                  <a:srgbClr val="222831"/>
                </a:solidFill>
                <a:latin typeface="Calibri"/>
              </a:rPr>
              <a:t>i FHIRPath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818120" y="3063240"/>
            <a:ext cx="146304" cy="0"/>
          </a:xfrm>
          <a:prstGeom prst="line">
            <a:avLst/>
          </a:prstGeom>
          <a:ln w="25400">
            <a:solidFill>
              <a:srgbClr val="5B657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7973568" y="1600200"/>
            <a:ext cx="548640" cy="548640"/>
          </a:xfrm>
          <a:prstGeom prst="ellipse">
            <a:avLst/>
          </a:prstGeom>
          <a:solidFill>
            <a:srgbClr val="E87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73568" y="2286000"/>
            <a:ext cx="1691640" cy="1554480"/>
          </a:xfrm>
          <a:prstGeom prst="roundRect">
            <a:avLst>
              <a:gd name="adj" fmla="val 12000"/>
            </a:avLst>
          </a:prstGeom>
          <a:solidFill>
            <a:srgbClr val="D9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i="0">
                <a:solidFill>
                  <a:srgbClr val="222831"/>
                </a:solidFill>
                <a:latin typeface="Calibri"/>
              </a:rPr>
              <a:t>Exponera</a:t>
            </a:r>
          </a:p>
          <a:p>
            <a:pPr algn="ctr"/>
            <a:r>
              <a:rPr sz="1500" b="0" i="0">
                <a:solidFill>
                  <a:srgbClr val="222831"/>
                </a:solidFill>
                <a:latin typeface="Calibri"/>
              </a:rPr>
              <a:t>FHIR-fasad</a:t>
            </a:r>
          </a:p>
          <a:p>
            <a:pPr algn="ctr"/>
            <a:r>
              <a:rPr sz="1500" b="0" i="0">
                <a:solidFill>
                  <a:srgbClr val="222831"/>
                </a:solidFill>
                <a:latin typeface="Calibri"/>
              </a:rPr>
              <a:t>med FML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674352" y="3063240"/>
            <a:ext cx="146304" cy="0"/>
          </a:xfrm>
          <a:prstGeom prst="line">
            <a:avLst/>
          </a:prstGeom>
          <a:ln w="25400">
            <a:solidFill>
              <a:srgbClr val="5B657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9829800" y="1600200"/>
            <a:ext cx="548640" cy="548640"/>
          </a:xfrm>
          <a:prstGeom prst="ellipse">
            <a:avLst/>
          </a:prstGeom>
          <a:solidFill>
            <a:srgbClr val="E87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829800" y="2286000"/>
            <a:ext cx="1691640" cy="1554480"/>
          </a:xfrm>
          <a:prstGeom prst="roundRect">
            <a:avLst>
              <a:gd name="adj" fmla="val 12000"/>
            </a:avLst>
          </a:prstGeom>
          <a:solidFill>
            <a:srgbClr val="D9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i="0">
                <a:solidFill>
                  <a:srgbClr val="222831"/>
                </a:solidFill>
                <a:latin typeface="Calibri"/>
              </a:rPr>
              <a:t>Kvalitetssäkra</a:t>
            </a:r>
          </a:p>
          <a:p>
            <a:pPr algn="ctr"/>
            <a:r>
              <a:rPr sz="1500" b="0" i="0">
                <a:solidFill>
                  <a:srgbClr val="222831"/>
                </a:solidFill>
                <a:latin typeface="Calibri"/>
              </a:rPr>
              <a:t>Capability-</a:t>
            </a:r>
          </a:p>
          <a:p>
            <a:pPr algn="ctr"/>
            <a:r>
              <a:rPr sz="1500" b="0" i="0">
                <a:solidFill>
                  <a:srgbClr val="222831"/>
                </a:solidFill>
                <a:latin typeface="Calibri"/>
              </a:rPr>
              <a:t>Statement och</a:t>
            </a:r>
          </a:p>
          <a:p>
            <a:pPr algn="ctr"/>
            <a:r>
              <a:rPr sz="1500" b="0" i="0">
                <a:solidFill>
                  <a:srgbClr val="222831"/>
                </a:solidFill>
                <a:latin typeface="Calibri"/>
              </a:rPr>
              <a:t>validering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206240"/>
            <a:ext cx="11094415" cy="548640"/>
          </a:xfrm>
          <a:prstGeom prst="roundRect">
            <a:avLst>
              <a:gd name="adj" fmla="val 12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0" i="0">
                <a:solidFill>
                  <a:srgbClr val="222831"/>
                </a:solidFill>
                <a:latin typeface="Calibri"/>
              </a:rPr>
              <a:t>👤  </a:t>
            </a:r>
            <a:r>
              <a:rPr sz="1700" b="1" i="0">
                <a:solidFill>
                  <a:srgbClr val="222831"/>
                </a:solidFill>
                <a:latin typeface="Calibri"/>
              </a:rPr>
              <a:t>Tolvan Tolvansson</a:t>
            </a:r>
            <a:r>
              <a:rPr sz="1700" b="0" i="0">
                <a:solidFill>
                  <a:srgbClr val="222831"/>
                </a:solidFill>
                <a:latin typeface="Calibri"/>
              </a:rPr>
              <a:t>  ·  personnummer 191212121212  ·  född 1912-12-12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4892040"/>
            <a:ext cx="11094415" cy="548640"/>
          </a:xfrm>
          <a:prstGeom prst="roundRect">
            <a:avLst>
              <a:gd name="adj" fmla="val 12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0" i="0">
                <a:solidFill>
                  <a:srgbClr val="222831"/>
                </a:solidFill>
                <a:latin typeface="Calibri"/>
              </a:rPr>
              <a:t>🏥  </a:t>
            </a:r>
            <a:r>
              <a:rPr sz="1700" b="1" i="0">
                <a:solidFill>
                  <a:srgbClr val="222831"/>
                </a:solidFill>
                <a:latin typeface="Calibri"/>
              </a:rPr>
              <a:t>Besök på Vårdcentralen Kursköping</a:t>
            </a:r>
            <a:r>
              <a:rPr sz="1700" b="0" i="0">
                <a:solidFill>
                  <a:srgbClr val="222831"/>
                </a:solidFill>
                <a:latin typeface="Calibri"/>
              </a:rPr>
              <a:t>  ·  2026-10-01 09.00–09.30  ·  astma (J45.9)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Utbildningsmiljön: allt sker i GitHub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43584"/>
            <a:ext cx="11094415" cy="0"/>
          </a:xfrm>
          <a:prstGeom prst="line">
            <a:avLst/>
          </a:prstGeom>
          <a:ln w="12700">
            <a:solidFill>
              <a:srgbClr val="D5DA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B6577"/>
                </a:solidFill>
                <a:latin typeface="Calibri"/>
              </a:rPr>
              <a:t>FHIR i praktiken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B6577"/>
                </a:solidFill>
                <a:latin typeface="Calibri"/>
              </a:rPr>
              <a:t>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00200"/>
            <a:ext cx="1920240" cy="1828800"/>
          </a:xfrm>
          <a:prstGeom prst="roundRect">
            <a:avLst>
              <a:gd name="adj" fmla="val 12000"/>
            </a:avLst>
          </a:prstGeom>
          <a:solidFill>
            <a:srgbClr val="D9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0" i="0">
                <a:solidFill>
                  <a:srgbClr val="222831"/>
                </a:solidFill>
                <a:latin typeface="Calibri"/>
              </a:rPr>
              <a:t>✏️</a:t>
            </a:r>
          </a:p>
          <a:p>
            <a:pPr algn="ctr"/>
            <a:r>
              <a:rPr sz="1600" b="1" i="0">
                <a:solidFill>
                  <a:srgbClr val="222831"/>
                </a:solidFill>
                <a:latin typeface="Calibri"/>
              </a:rPr>
              <a:t>Ändra fil</a:t>
            </a:r>
          </a:p>
          <a:p>
            <a:pPr algn="ctr"/>
            <a:r>
              <a:rPr sz="1600" b="0" i="0">
                <a:solidFill>
                  <a:srgbClr val="222831"/>
                </a:solidFill>
                <a:latin typeface="Calibri"/>
              </a:rPr>
              <a:t>i webbläsaren</a:t>
            </a:r>
          </a:p>
          <a:p>
            <a:pPr algn="ctr"/>
            <a:r>
              <a:rPr sz="1600" b="0" i="0">
                <a:solidFill>
                  <a:srgbClr val="222831"/>
                </a:solidFill>
                <a:latin typeface="Calibri"/>
              </a:rPr>
              <a:t>(pennan eller  .)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87168" y="2514600"/>
            <a:ext cx="310896" cy="0"/>
          </a:xfrm>
          <a:prstGeom prst="line">
            <a:avLst/>
          </a:prstGeom>
          <a:ln w="25400">
            <a:solidFill>
              <a:srgbClr val="5B657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816352" y="1600200"/>
            <a:ext cx="1920240" cy="1828800"/>
          </a:xfrm>
          <a:prstGeom prst="roundRect">
            <a:avLst>
              <a:gd name="adj" fmla="val 12000"/>
            </a:avLst>
          </a:prstGeom>
          <a:solidFill>
            <a:srgbClr val="D9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0" i="0">
                <a:solidFill>
                  <a:srgbClr val="222831"/>
                </a:solidFill>
                <a:latin typeface="Calibri"/>
              </a:rPr>
              <a:t>✅</a:t>
            </a:r>
          </a:p>
          <a:p>
            <a:pPr algn="ctr"/>
            <a:r>
              <a:rPr sz="1600" b="1" i="0">
                <a:solidFill>
                  <a:srgbClr val="222831"/>
                </a:solidFill>
                <a:latin typeface="Calibri"/>
              </a:rPr>
              <a:t>Commit</a:t>
            </a:r>
          </a:p>
          <a:p>
            <a:pPr algn="ctr"/>
            <a:r>
              <a:rPr sz="1600" b="0" i="0">
                <a:solidFill>
                  <a:srgbClr val="222831"/>
                </a:solidFill>
                <a:latin typeface="Calibri"/>
              </a:rPr>
              <a:t>checka in</a:t>
            </a:r>
          </a:p>
          <a:p>
            <a:pPr algn="ctr"/>
            <a:r>
              <a:rPr sz="1600" b="0" i="0">
                <a:solidFill>
                  <a:srgbClr val="222831"/>
                </a:solidFill>
                <a:latin typeface="Calibri"/>
              </a:rPr>
              <a:t>ändringen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754880" y="2514600"/>
            <a:ext cx="310896" cy="0"/>
          </a:xfrm>
          <a:prstGeom prst="line">
            <a:avLst/>
          </a:prstGeom>
          <a:ln w="25400">
            <a:solidFill>
              <a:srgbClr val="5B657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084064" y="1600200"/>
            <a:ext cx="1920240" cy="1828800"/>
          </a:xfrm>
          <a:prstGeom prst="roundRect">
            <a:avLst>
              <a:gd name="adj" fmla="val 12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0" i="0">
                <a:solidFill>
                  <a:srgbClr val="FFFFFF"/>
                </a:solidFill>
                <a:latin typeface="Calibri"/>
              </a:rPr>
              <a:t>⚙️</a:t>
            </a:r>
          </a:p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GitHub Actions</a:t>
            </a:r>
          </a:p>
          <a:p>
            <a:pPr algn="ctr"/>
            <a:r>
              <a:rPr sz="1600" b="0" i="0">
                <a:solidFill>
                  <a:srgbClr val="FFFFFF"/>
                </a:solidFill>
                <a:latin typeface="Calibri"/>
              </a:rPr>
              <a:t>SUSHI +</a:t>
            </a:r>
          </a:p>
          <a:p>
            <a:pPr algn="ctr"/>
            <a:r>
              <a:rPr sz="1600" b="0" i="0">
                <a:solidFill>
                  <a:srgbClr val="FFFFFF"/>
                </a:solidFill>
                <a:latin typeface="Calibri"/>
              </a:rPr>
              <a:t>IG Publisher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022592" y="2514600"/>
            <a:ext cx="310896" cy="0"/>
          </a:xfrm>
          <a:prstGeom prst="line">
            <a:avLst/>
          </a:prstGeom>
          <a:ln w="25400">
            <a:solidFill>
              <a:srgbClr val="5B657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351776" y="1600200"/>
            <a:ext cx="1920240" cy="1828800"/>
          </a:xfrm>
          <a:prstGeom prst="roundRect">
            <a:avLst>
              <a:gd name="adj" fmla="val 12000"/>
            </a:avLst>
          </a:prstGeom>
          <a:solidFill>
            <a:srgbClr val="D9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0" i="0">
                <a:solidFill>
                  <a:srgbClr val="222831"/>
                </a:solidFill>
                <a:latin typeface="Calibri"/>
              </a:rPr>
              <a:t>🌐</a:t>
            </a:r>
          </a:p>
          <a:p>
            <a:pPr algn="ctr"/>
            <a:r>
              <a:rPr sz="1600" b="1" i="0">
                <a:solidFill>
                  <a:srgbClr val="222831"/>
                </a:solidFill>
                <a:latin typeface="Calibri"/>
              </a:rPr>
              <a:t>GitHub Pages</a:t>
            </a:r>
          </a:p>
          <a:p>
            <a:pPr algn="ctr"/>
            <a:r>
              <a:rPr sz="1600" b="0" i="0">
                <a:solidFill>
                  <a:srgbClr val="222831"/>
                </a:solidFill>
                <a:latin typeface="Calibri"/>
              </a:rPr>
              <a:t>din IG</a:t>
            </a:r>
          </a:p>
          <a:p>
            <a:pPr algn="ctr"/>
            <a:r>
              <a:rPr sz="1600" b="0" i="0">
                <a:solidFill>
                  <a:srgbClr val="222831"/>
                </a:solidFill>
                <a:latin typeface="Calibri"/>
              </a:rPr>
              <a:t>publiceras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290304" y="2514600"/>
            <a:ext cx="310896" cy="0"/>
          </a:xfrm>
          <a:prstGeom prst="line">
            <a:avLst/>
          </a:prstGeom>
          <a:ln w="25400">
            <a:solidFill>
              <a:srgbClr val="5B657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9619488" y="1600200"/>
            <a:ext cx="1920240" cy="1828800"/>
          </a:xfrm>
          <a:prstGeom prst="roundRect">
            <a:avLst>
              <a:gd name="adj" fmla="val 12000"/>
            </a:avLst>
          </a:prstGeom>
          <a:solidFill>
            <a:srgbClr val="D9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0" i="0">
                <a:solidFill>
                  <a:srgbClr val="222831"/>
                </a:solidFill>
                <a:latin typeface="Calibri"/>
              </a:rPr>
              <a:t>🔎</a:t>
            </a:r>
          </a:p>
          <a:p>
            <a:pPr algn="ctr"/>
            <a:r>
              <a:rPr sz="1600" b="1" i="0">
                <a:solidFill>
                  <a:srgbClr val="222831"/>
                </a:solidFill>
                <a:latin typeface="Calibri"/>
              </a:rPr>
              <a:t>qa.html</a:t>
            </a:r>
          </a:p>
          <a:p>
            <a:pPr algn="ctr"/>
            <a:r>
              <a:rPr sz="1600" b="0" i="0">
                <a:solidFill>
                  <a:srgbClr val="222831"/>
                </a:solidFill>
                <a:latin typeface="Calibri"/>
              </a:rPr>
              <a:t>läs fel och</a:t>
            </a:r>
          </a:p>
          <a:p>
            <a:pPr algn="ctr"/>
            <a:r>
              <a:rPr sz="1600" b="0" i="0">
                <a:solidFill>
                  <a:srgbClr val="222831"/>
                </a:solidFill>
                <a:latin typeface="Calibri"/>
              </a:rPr>
              <a:t>varningar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548640" y="3749040"/>
          <a:ext cx="11094413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3789"/>
                <a:gridCol w="3513231"/>
                <a:gridCol w="5177393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Arbetsflöde (Actions)</a:t>
                      </a:r>
                    </a:p>
                  </a:txBody>
                  <a:tcPr marL="73152" marR="73152" marT="36576" marB="36576" anchor="ctr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Startar när …</a:t>
                      </a:r>
                    </a:p>
                  </a:txBody>
                  <a:tcPr marL="73152" marR="73152" marT="36576" marB="36576" anchor="ctr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Gör</a:t>
                      </a:r>
                    </a:p>
                  </a:txBody>
                  <a:tcPr marL="73152" marR="73152" marT="36576" marB="36576" anchor="ctr">
                    <a:solidFill>
                      <a:srgbClr val="1B2A4A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831"/>
                          </a:solidFill>
                          <a:latin typeface="Calibri"/>
                        </a:rPr>
                        <a:t>Bygg IG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831"/>
                          </a:solidFill>
                          <a:latin typeface="Calibri"/>
                        </a:rPr>
                        <a:t>något ändras i test-ig/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831"/>
                          </a:solidFill>
                          <a:latin typeface="Calibri"/>
                        </a:rPr>
                        <a:t>SUSHI + IG Publisher, publicerar på GitHub Pages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831"/>
                          </a:solidFill>
                          <a:latin typeface="Calibri"/>
                        </a:rPr>
                        <a:t>Validera instanser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831"/>
                          </a:solidFill>
                          <a:latin typeface="Calibri"/>
                        </a:rPr>
                        <a:t>något ändras i validering/ eller FSH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831"/>
                          </a:solidFill>
                          <a:latin typeface="Calibri"/>
                        </a:rPr>
                        <a:t>FHIR Validator mot dina profiler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831"/>
                          </a:solidFill>
                          <a:latin typeface="Calibri"/>
                        </a:rPr>
                        <a:t>HAPI-fasad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831"/>
                          </a:solidFill>
                          <a:latin typeface="Calibri"/>
                        </a:rPr>
                        <a:t>något ändras i hapi-fasad/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831"/>
                          </a:solidFill>
                          <a:latin typeface="Calibri"/>
                        </a:rPr>
                        <a:t>Bygger, testar och provkör FHIR-API:t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831"/>
                          </a:solidFill>
                          <a:latin typeface="Calibri"/>
                        </a:rPr>
                        <a:t>Kom ikapp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831"/>
                          </a:solidFill>
                          <a:latin typeface="Calibri"/>
                        </a:rPr>
                        <a:t>du startar det manuellt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831"/>
                          </a:solidFill>
                          <a:latin typeface="Calibri"/>
                        </a:rPr>
                        <a:t>Hämtar lösningen efter vald modul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Kom igång (förberedelse)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43584"/>
            <a:ext cx="11094415" cy="0"/>
          </a:xfrm>
          <a:prstGeom prst="line">
            <a:avLst/>
          </a:prstGeom>
          <a:ln w="12700">
            <a:solidFill>
              <a:srgbClr val="D5DA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B6577"/>
                </a:solidFill>
                <a:latin typeface="Calibri"/>
              </a:rPr>
              <a:t>FHIR i praktiken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B6577"/>
                </a:solidFill>
                <a:latin typeface="Calibri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76809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800" b="1" i="0">
                <a:solidFill>
                  <a:srgbClr val="222831"/>
                </a:solidFill>
                <a:latin typeface="Calibri"/>
              </a:rPr>
              <a:t>1.</a:t>
            </a:r>
            <a:r>
              <a:rPr sz="1800" b="0" i="0">
                <a:solidFill>
                  <a:srgbClr val="222831"/>
                </a:solidFill>
                <a:latin typeface="Calibri"/>
              </a:rPr>
              <a:t> Öppna kursens mall-repo och klicka </a:t>
            </a:r>
            <a:r>
              <a:rPr sz="1800" b="1" i="0">
                <a:solidFill>
                  <a:srgbClr val="222831"/>
                </a:solidFill>
                <a:latin typeface="Calibri"/>
              </a:rPr>
              <a:t>Use this template → Create a new repository</a:t>
            </a:r>
          </a:p>
          <a:p>
            <a:pPr marL="612647" indent="-256032">
              <a:spcBef>
                <a:spcPts val="300"/>
              </a:spcBef>
              <a:buClr>
                <a:srgbClr val="5B6577"/>
              </a:buClr>
              <a:buChar char="–"/>
            </a:pPr>
            <a:r>
              <a:rPr sz="1600" b="0" i="0">
                <a:solidFill>
                  <a:srgbClr val="5B6577"/>
                </a:solidFill>
                <a:latin typeface="Calibri"/>
              </a:rPr>
              <a:t>Välj ditt personliga konto och </a:t>
            </a:r>
            <a:r>
              <a:rPr sz="1600" b="1" i="0">
                <a:solidFill>
                  <a:srgbClr val="5B6577"/>
                </a:solidFill>
                <a:latin typeface="Calibri"/>
              </a:rPr>
              <a:t>Public</a:t>
            </a:r>
            <a:r>
              <a:rPr sz="1600" b="0" i="0">
                <a:solidFill>
                  <a:srgbClr val="5B6577"/>
                </a:solidFill>
                <a:latin typeface="Calibri"/>
              </a:rPr>
              <a:t> (krävs för GitHub Pages på gratiskonton)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800" b="1" i="0">
                <a:solidFill>
                  <a:srgbClr val="222831"/>
                </a:solidFill>
                <a:latin typeface="Calibri"/>
              </a:rPr>
              <a:t>2.</a:t>
            </a:r>
            <a:r>
              <a:rPr sz="1800" b="0" i="0">
                <a:solidFill>
                  <a:srgbClr val="222831"/>
                </a:solidFill>
                <a:latin typeface="Calibri"/>
              </a:rPr>
              <a:t> Vänta tills arbetsflödet </a:t>
            </a:r>
            <a:r>
              <a:rPr sz="1800" b="1" i="0">
                <a:solidFill>
                  <a:srgbClr val="222831"/>
                </a:solidFill>
                <a:latin typeface="Calibri"/>
              </a:rPr>
              <a:t>Bygg IG</a:t>
            </a:r>
            <a:r>
              <a:rPr sz="1800" b="0" i="0">
                <a:solidFill>
                  <a:srgbClr val="222831"/>
                </a:solidFill>
                <a:latin typeface="Calibri"/>
              </a:rPr>
              <a:t> blivit grönt under fliken </a:t>
            </a:r>
            <a:r>
              <a:rPr sz="1800" b="1" i="0">
                <a:solidFill>
                  <a:srgbClr val="222831"/>
                </a:solidFill>
                <a:latin typeface="Calibri"/>
              </a:rPr>
              <a:t>Actions</a:t>
            </a:r>
            <a:r>
              <a:rPr sz="1800" b="0" i="0">
                <a:solidFill>
                  <a:srgbClr val="222831"/>
                </a:solidFill>
                <a:latin typeface="Calibri"/>
              </a:rPr>
              <a:t> (2–4 min)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800" b="1" i="0">
                <a:solidFill>
                  <a:srgbClr val="222831"/>
                </a:solidFill>
                <a:latin typeface="Calibri"/>
              </a:rPr>
              <a:t>3.</a:t>
            </a:r>
            <a:r>
              <a:rPr sz="1800" b="0" i="0">
                <a:solidFill>
                  <a:srgbClr val="222831"/>
                </a:solidFill>
                <a:latin typeface="Calibri"/>
              </a:rPr>
              <a:t> Aktivera GitHub Pages: </a:t>
            </a:r>
            <a:r>
              <a:rPr sz="1800" b="1" i="0">
                <a:solidFill>
                  <a:srgbClr val="222831"/>
                </a:solidFill>
                <a:latin typeface="Calibri"/>
              </a:rPr>
              <a:t>Settings → Pages → Deploy from a branch → gh-pages / (root)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800" b="1" i="0">
                <a:solidFill>
                  <a:srgbClr val="222831"/>
                </a:solidFill>
                <a:latin typeface="Calibri"/>
              </a:rPr>
              <a:t>4.</a:t>
            </a:r>
            <a:r>
              <a:rPr sz="1800" b="0" i="0">
                <a:solidFill>
                  <a:srgbClr val="222831"/>
                </a:solidFill>
                <a:latin typeface="Calibri"/>
              </a:rPr>
              <a:t> Öppna </a:t>
            </a:r>
            <a:r>
              <a:rPr sz="1700" b="0" i="0">
                <a:solidFill>
                  <a:srgbClr val="0E6B74"/>
                </a:solidFill>
                <a:latin typeface="Consolas"/>
              </a:rPr>
              <a:t>https://&lt;ditt-konto&gt;.github.io/&lt;repo&gt;/</a:t>
            </a:r>
            <a:r>
              <a:rPr sz="1800" b="0" i="0">
                <a:solidFill>
                  <a:srgbClr val="222831"/>
                </a:solidFill>
                <a:latin typeface="Calibri"/>
              </a:rPr>
              <a:t> – där finns din IG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800" b="1" i="0">
                <a:solidFill>
                  <a:srgbClr val="222831"/>
                </a:solidFill>
                <a:latin typeface="Calibri"/>
              </a:rPr>
              <a:t>5.</a:t>
            </a:r>
            <a:r>
              <a:rPr sz="1800" b="0" i="0">
                <a:solidFill>
                  <a:srgbClr val="222831"/>
                </a:solidFill>
                <a:latin typeface="Calibri"/>
              </a:rPr>
              <a:t> Testa: ändra titeln i </a:t>
            </a:r>
            <a:r>
              <a:rPr sz="1700" b="0" i="0">
                <a:solidFill>
                  <a:srgbClr val="0E6B74"/>
                </a:solidFill>
                <a:latin typeface="Consolas"/>
              </a:rPr>
              <a:t>test-ig/sushi-config.yaml</a:t>
            </a:r>
            <a:r>
              <a:rPr sz="1800" b="0" i="0">
                <a:solidFill>
                  <a:srgbClr val="222831"/>
                </a:solidFill>
                <a:latin typeface="Calibri"/>
              </a:rPr>
              <a:t>, checka in och se den nya titeln efter bygget</a:t>
            </a:r>
          </a:p>
        </p:txBody>
      </p:sp>
      <p:sp>
        <p:nvSpPr>
          <p:cNvPr id="8" name="Rectangle 7"/>
          <p:cNvSpPr/>
          <p:nvPr/>
        </p:nvSpPr>
        <p:spPr>
          <a:xfrm>
            <a:off x="8595360" y="1417320"/>
            <a:ext cx="3017520" cy="2194560"/>
          </a:xfrm>
          <a:prstGeom prst="rect">
            <a:avLst/>
          </a:prstGeom>
          <a:solidFill>
            <a:srgbClr val="D9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/>
          <a:lstStyle/>
          <a:p>
            <a:pPr algn="l"/>
            <a:r>
              <a:rPr sz="1500" b="1" i="0">
                <a:solidFill>
                  <a:srgbClr val="222831"/>
                </a:solidFill>
                <a:latin typeface="Calibri"/>
              </a:rPr>
              <a:t>Alternativ</a:t>
            </a:r>
          </a:p>
          <a:p>
            <a:pPr algn="l"/>
          </a:p>
          <a:p>
            <a:pPr algn="l"/>
            <a:r>
              <a:rPr sz="1500" b="0" i="0">
                <a:solidFill>
                  <a:srgbClr val="222831"/>
                </a:solidFill>
                <a:latin typeface="Calibri"/>
              </a:rPr>
              <a:t>• Lokalt med Docker (README)</a:t>
            </a:r>
          </a:p>
          <a:p>
            <a:pPr algn="l"/>
            <a:r>
              <a:rPr sz="1500" b="0" i="0">
                <a:solidFill>
                  <a:srgbClr val="222831"/>
                </a:solidFill>
                <a:latin typeface="Calibri"/>
              </a:rPr>
              <a:t>• GitHub Codespaces: Code → Codespaces → Create</a:t>
            </a:r>
          </a:p>
          <a:p>
            <a:pPr algn="l"/>
            <a:r>
              <a:rPr sz="1500" b="0" i="0">
                <a:solidFill>
                  <a:srgbClr val="222831"/>
                </a:solidFill>
                <a:latin typeface="Calibri"/>
              </a:rPr>
              <a:t>• Lokalt utan Docker: scripts/build-ig.sh</a:t>
            </a:r>
          </a:p>
        </p:txBody>
      </p:sp>
      <p:sp>
        <p:nvSpPr>
          <p:cNvPr id="9" name="Rectangle 8"/>
          <p:cNvSpPr/>
          <p:nvPr/>
        </p:nvSpPr>
        <p:spPr>
          <a:xfrm>
            <a:off x="8595360" y="1417320"/>
            <a:ext cx="64008" cy="219456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595360" y="3840480"/>
            <a:ext cx="3017520" cy="1554480"/>
          </a:xfrm>
          <a:prstGeom prst="rect">
            <a:avLst/>
          </a:prstGeom>
          <a:solidFill>
            <a:srgbClr val="FC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/>
          <a:lstStyle/>
          <a:p>
            <a:pPr algn="l"/>
            <a:r>
              <a:rPr sz="1500" b="1" i="0">
                <a:solidFill>
                  <a:srgbClr val="222831"/>
                </a:solidFill>
                <a:latin typeface="Calibri"/>
              </a:rPr>
              <a:t>Hamnat efter?</a:t>
            </a:r>
          </a:p>
          <a:p>
            <a:pPr algn="l"/>
          </a:p>
          <a:p>
            <a:pPr algn="l"/>
            <a:r>
              <a:rPr sz="1500" b="0" i="0">
                <a:solidFill>
                  <a:srgbClr val="222831"/>
                </a:solidFill>
                <a:latin typeface="Calibri"/>
              </a:rPr>
              <a:t>Actions → </a:t>
            </a:r>
            <a:r>
              <a:rPr sz="1500" b="1" i="0">
                <a:solidFill>
                  <a:srgbClr val="222831"/>
                </a:solidFill>
                <a:latin typeface="Calibri"/>
              </a:rPr>
              <a:t>Kom ikapp</a:t>
            </a:r>
            <a:r>
              <a:rPr sz="1500" b="0" i="0">
                <a:solidFill>
                  <a:srgbClr val="222831"/>
                </a:solidFill>
                <a:latin typeface="Calibri"/>
              </a:rPr>
              <a:t> → Run workflow → välj modul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595360" y="3840480"/>
            <a:ext cx="64008" cy="1554480"/>
          </a:xfrm>
          <a:prstGeom prst="rect">
            <a:avLst/>
          </a:prstGeom>
          <a:solidFill>
            <a:srgbClr val="E87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600" b="1" i="0">
                <a:solidFill>
                  <a:srgbClr val="E8772E"/>
                </a:solidFill>
                <a:latin typeface="Calibri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574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Läsa en FHIR-resurs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154680"/>
            <a:ext cx="67665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D9EEEF"/>
                </a:solidFill>
                <a:latin typeface="Calibri"/>
              </a:rPr>
              <a:t>Efter modulen kan du …</a:t>
            </a:r>
          </a:p>
          <a:p>
            <a:pPr>
              <a:spcBef>
                <a:spcPts val="600"/>
              </a:spcBef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›  känna igen strukturen i en resurs: id, meta, text, extensions och data</a:t>
            </a:r>
          </a:p>
          <a:p>
            <a:pPr>
              <a:spcBef>
                <a:spcPts val="600"/>
              </a:spcBef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›  skilja på primitiva och komplexa datatyper</a:t>
            </a:r>
          </a:p>
          <a:p>
            <a:pPr>
              <a:spcBef>
                <a:spcPts val="600"/>
              </a:spcBef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›  förklara terminologibindning och bindningsstyrkor</a:t>
            </a:r>
          </a:p>
          <a:p>
            <a:pPr>
              <a:spcBef>
                <a:spcPts val="600"/>
              </a:spcBef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›  hitta och tolka extensions, även på primitiva värden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46720" y="3154680"/>
            <a:ext cx="3566160" cy="2651760"/>
          </a:xfrm>
          <a:prstGeom prst="roundRect">
            <a:avLst>
              <a:gd name="adj" fmla="val 6000"/>
            </a:avLst>
          </a:prstGeom>
          <a:solidFill>
            <a:srgbClr val="263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28600" rIns="228600" tIns="182880" wrap="square"/>
          <a:lstStyle/>
          <a:p>
            <a:pPr algn="l"/>
            <a:r>
              <a:rPr sz="1600" b="1" i="0">
                <a:solidFill>
                  <a:srgbClr val="E8772E"/>
                </a:solidFill>
                <a:latin typeface="Calibri"/>
              </a:rPr>
              <a:t>50 minuter</a:t>
            </a:r>
          </a:p>
          <a:p>
            <a:pPr>
              <a:spcBef>
                <a:spcPts val="800"/>
              </a:spcBef>
            </a:pPr>
            <a:r>
              <a:rPr sz="1500" b="1" i="0">
                <a:solidFill>
                  <a:srgbClr val="FFFFFF"/>
                </a:solidFill>
                <a:latin typeface="Calibri"/>
              </a:rPr>
              <a:t>25 min  </a:t>
            </a:r>
            <a:r>
              <a:rPr sz="1500" b="0" i="0">
                <a:solidFill>
                  <a:srgbClr val="D5DAE1"/>
                </a:solidFill>
                <a:latin typeface="Calibri"/>
              </a:rPr>
              <a:t>Genomgång</a:t>
            </a:r>
          </a:p>
          <a:p>
            <a:pPr>
              <a:spcBef>
                <a:spcPts val="800"/>
              </a:spcBef>
            </a:pPr>
            <a:r>
              <a:rPr sz="1500" b="1" i="0">
                <a:solidFill>
                  <a:srgbClr val="FFFFFF"/>
                </a:solidFill>
                <a:latin typeface="Calibri"/>
              </a:rPr>
              <a:t>20 min  </a:t>
            </a:r>
            <a:r>
              <a:rPr sz="1500" b="0" i="0">
                <a:solidFill>
                  <a:srgbClr val="D5DAE1"/>
                </a:solidFill>
                <a:latin typeface="Calibri"/>
              </a:rPr>
              <a:t>Övning 1.1 och 1.2</a:t>
            </a:r>
          </a:p>
          <a:p>
            <a:pPr>
              <a:spcBef>
                <a:spcPts val="800"/>
              </a:spcBef>
            </a:pPr>
            <a:r>
              <a:rPr sz="1500" b="1" i="0">
                <a:solidFill>
                  <a:srgbClr val="FFFFFF"/>
                </a:solidFill>
                <a:latin typeface="Calibri"/>
              </a:rPr>
              <a:t> 5 min  </a:t>
            </a:r>
            <a:r>
              <a:rPr sz="1500" b="0" i="0">
                <a:solidFill>
                  <a:srgbClr val="D5DAE1"/>
                </a:solidFill>
                <a:latin typeface="Calibri"/>
              </a:rPr>
              <a:t>Summering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5DAE1"/>
                </a:solidFill>
                <a:latin typeface="Calibri"/>
              </a:rPr>
              <a:t>FHIR i praktiken  ·  Modul 1 – Läsa en FHIR-resurs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41908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D5DAE1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FHIR på en minut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43584"/>
            <a:ext cx="11094415" cy="0"/>
          </a:xfrm>
          <a:prstGeom prst="line">
            <a:avLst/>
          </a:prstGeom>
          <a:ln w="12700">
            <a:solidFill>
              <a:srgbClr val="D5DA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B6577"/>
                </a:solidFill>
                <a:latin typeface="Calibri"/>
              </a:rPr>
              <a:t>FHIR i praktiken  ·  Modul 1 – Läsa en FHIR-resurs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B6577"/>
                </a:solidFill>
                <a:latin typeface="Calibri"/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67665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800" b="1" i="0">
                <a:solidFill>
                  <a:srgbClr val="222831"/>
                </a:solidFill>
                <a:latin typeface="Calibri"/>
              </a:rPr>
              <a:t>Resurser</a:t>
            </a:r>
            <a:r>
              <a:rPr sz="1800" b="0" i="0">
                <a:solidFill>
                  <a:srgbClr val="222831"/>
                </a:solidFill>
                <a:latin typeface="Calibri"/>
              </a:rPr>
              <a:t>: ~150 byggstenar som </a:t>
            </a:r>
            <a:r>
              <a:rPr sz="1700" b="0" i="0">
                <a:solidFill>
                  <a:srgbClr val="0E6B74"/>
                </a:solidFill>
                <a:latin typeface="Consolas"/>
              </a:rPr>
              <a:t>Patient</a:t>
            </a:r>
            <a:r>
              <a:rPr sz="1800" b="0" i="0">
                <a:solidFill>
                  <a:srgbClr val="222831"/>
                </a:solidFill>
                <a:latin typeface="Calibri"/>
              </a:rPr>
              <a:t>, </a:t>
            </a:r>
            <a:r>
              <a:rPr sz="1700" b="0" i="0">
                <a:solidFill>
                  <a:srgbClr val="0E6B74"/>
                </a:solidFill>
                <a:latin typeface="Consolas"/>
              </a:rPr>
              <a:t>Encounter</a:t>
            </a:r>
            <a:r>
              <a:rPr sz="1800" b="0" i="0">
                <a:solidFill>
                  <a:srgbClr val="222831"/>
                </a:solidFill>
                <a:latin typeface="Calibri"/>
              </a:rPr>
              <a:t>, </a:t>
            </a:r>
            <a:r>
              <a:rPr sz="1700" b="0" i="0">
                <a:solidFill>
                  <a:srgbClr val="0E6B74"/>
                </a:solidFill>
                <a:latin typeface="Consolas"/>
              </a:rPr>
              <a:t>Observation</a:t>
            </a:r>
            <a:r>
              <a:rPr sz="1800" b="0" i="0">
                <a:solidFill>
                  <a:srgbClr val="222831"/>
                </a:solidFill>
                <a:latin typeface="Calibri"/>
              </a:rPr>
              <a:t>, </a:t>
            </a:r>
            <a:r>
              <a:rPr sz="1700" b="0" i="0">
                <a:solidFill>
                  <a:srgbClr val="0E6B74"/>
                </a:solidFill>
                <a:latin typeface="Consolas"/>
              </a:rPr>
              <a:t>Condition</a:t>
            </a:r>
            <a:r>
              <a:rPr sz="1800" b="0" i="0">
                <a:solidFill>
                  <a:srgbClr val="222831"/>
                </a:solidFill>
                <a:latin typeface="Calibri"/>
              </a:rPr>
              <a:t>, </a:t>
            </a:r>
            <a:r>
              <a:rPr sz="1700" b="0" i="0">
                <a:solidFill>
                  <a:srgbClr val="0E6B74"/>
                </a:solidFill>
                <a:latin typeface="Consolas"/>
              </a:rPr>
              <a:t>MedicationRequest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800" b="1" i="0">
                <a:solidFill>
                  <a:srgbClr val="222831"/>
                </a:solidFill>
                <a:latin typeface="Calibri"/>
              </a:rPr>
              <a:t>Format</a:t>
            </a:r>
            <a:r>
              <a:rPr sz="1800" b="0" i="0">
                <a:solidFill>
                  <a:srgbClr val="222831"/>
                </a:solidFill>
                <a:latin typeface="Calibri"/>
              </a:rPr>
              <a:t>: JSON, XML (och RDF): samma innehåll, olika syntax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800" b="1" i="0">
                <a:solidFill>
                  <a:srgbClr val="222831"/>
                </a:solidFill>
                <a:latin typeface="Calibri"/>
              </a:rPr>
              <a:t>API</a:t>
            </a:r>
            <a:r>
              <a:rPr sz="1800" b="0" i="0">
                <a:solidFill>
                  <a:srgbClr val="222831"/>
                </a:solidFill>
                <a:latin typeface="Calibri"/>
              </a:rPr>
              <a:t>: RESTful – </a:t>
            </a:r>
            <a:r>
              <a:rPr sz="1700" b="0" i="0">
                <a:solidFill>
                  <a:srgbClr val="0E6B74"/>
                </a:solidFill>
                <a:latin typeface="Consolas"/>
              </a:rPr>
              <a:t>GET [bas]/Patient/123</a:t>
            </a:r>
            <a:r>
              <a:rPr sz="1800" b="0" i="0">
                <a:solidFill>
                  <a:srgbClr val="222831"/>
                </a:solidFill>
                <a:latin typeface="Calibri"/>
              </a:rPr>
              <a:t>, sökning, transaktioner, operationer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800" b="1" i="0">
                <a:solidFill>
                  <a:srgbClr val="222831"/>
                </a:solidFill>
                <a:latin typeface="Calibri"/>
              </a:rPr>
              <a:t>80/20</a:t>
            </a:r>
            <a:r>
              <a:rPr sz="1800" b="0" i="0">
                <a:solidFill>
                  <a:srgbClr val="222831"/>
                </a:solidFill>
                <a:latin typeface="Calibri"/>
              </a:rPr>
              <a:t>: basresurserna täcker det gemensamma, och </a:t>
            </a:r>
            <a:r>
              <a:rPr sz="1800" b="1" i="0">
                <a:solidFill>
                  <a:srgbClr val="222831"/>
                </a:solidFill>
                <a:latin typeface="Calibri"/>
              </a:rPr>
              <a:t>profiler</a:t>
            </a:r>
            <a:r>
              <a:rPr sz="1800" b="0" i="0">
                <a:solidFill>
                  <a:srgbClr val="222831"/>
                </a:solidFill>
                <a:latin typeface="Calibri"/>
              </a:rPr>
              <a:t> och </a:t>
            </a:r>
            <a:r>
              <a:rPr sz="1800" b="1" i="0">
                <a:solidFill>
                  <a:srgbClr val="222831"/>
                </a:solidFill>
                <a:latin typeface="Calibri"/>
              </a:rPr>
              <a:t>extensions</a:t>
            </a:r>
            <a:r>
              <a:rPr sz="1800" b="0" i="0">
                <a:solidFill>
                  <a:srgbClr val="222831"/>
                </a:solidFill>
                <a:latin typeface="Calibri"/>
              </a:rPr>
              <a:t> anpassar dem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800" b="1" i="0">
                <a:solidFill>
                  <a:srgbClr val="222831"/>
                </a:solidFill>
                <a:latin typeface="Calibri"/>
              </a:rPr>
              <a:t>Versioner</a:t>
            </a:r>
            <a:r>
              <a:rPr sz="1800" b="0" i="0">
                <a:solidFill>
                  <a:srgbClr val="222831"/>
                </a:solidFill>
                <a:latin typeface="Calibri"/>
              </a:rPr>
              <a:t>: R4 (4.0.1) är vanligast i Sverige idag. R5 och R6 finns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800" b="1" i="0">
                <a:solidFill>
                  <a:srgbClr val="222831"/>
                </a:solidFill>
                <a:latin typeface="Calibri"/>
              </a:rPr>
              <a:t>Specifikationen</a:t>
            </a:r>
            <a:r>
              <a:rPr sz="1800" b="0" i="0">
                <a:solidFill>
                  <a:srgbClr val="222831"/>
                </a:solidFill>
                <a:latin typeface="Calibri"/>
              </a:rPr>
              <a:t> är det viktigaste verktyget: https://hl7.org/fhir/R4/</a:t>
            </a:r>
          </a:p>
        </p:txBody>
      </p:sp>
      <p:sp>
        <p:nvSpPr>
          <p:cNvPr id="8" name="Rectangle 7"/>
          <p:cNvSpPr/>
          <p:nvPr/>
        </p:nvSpPr>
        <p:spPr>
          <a:xfrm>
            <a:off x="7589520" y="1463040"/>
            <a:ext cx="4023360" cy="2926080"/>
          </a:xfrm>
          <a:prstGeom prst="rect">
            <a:avLst/>
          </a:prstGeom>
          <a:solidFill>
            <a:srgbClr val="F4F6F8"/>
          </a:solidFill>
          <a:ln w="9525">
            <a:solidFill>
              <a:srgbClr val="D5D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01168" tIns="91440"/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E6B74"/>
                </a:solidFill>
                <a:latin typeface="Consolas"/>
              </a:rPr>
              <a:t>GET</a:t>
            </a:r>
            <a:r>
              <a:rPr sz="1300" b="0" i="0">
                <a:solidFill>
                  <a:srgbClr val="222831"/>
                </a:solidFill>
                <a:latin typeface="Consolas"/>
              </a:rPr>
              <a:t> [bas]/Patient/patient-tolvan</a:t>
            </a:r>
          </a:p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222831"/>
                </a:solidFill>
                <a:latin typeface="Consolas"/>
              </a:rPr>
              <a:t>Accept: application/fhir+json</a:t>
            </a:r>
          </a:p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222831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222831"/>
                </a:solidFill>
                <a:latin typeface="Consolas"/>
              </a:rPr>
              <a:t>200 OK</a:t>
            </a:r>
          </a:p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222831"/>
                </a:solidFill>
                <a:latin typeface="Consolas"/>
              </a:rPr>
              <a:t>{</a:t>
            </a:r>
          </a:p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222831"/>
                </a:solidFill>
                <a:latin typeface="Consolas"/>
              </a:rPr>
              <a:t>  </a:t>
            </a:r>
            <a:r>
              <a:rPr sz="1300" b="0" i="0">
                <a:solidFill>
                  <a:srgbClr val="A64B00"/>
                </a:solidFill>
                <a:latin typeface="Consolas"/>
              </a:rPr>
              <a:t>"resourceType"</a:t>
            </a:r>
            <a:r>
              <a:rPr sz="1300" b="0" i="0">
                <a:solidFill>
                  <a:srgbClr val="222831"/>
                </a:solidFill>
                <a:latin typeface="Consolas"/>
              </a:rPr>
              <a:t>: </a:t>
            </a:r>
            <a:r>
              <a:rPr sz="1300" b="0" i="0">
                <a:solidFill>
                  <a:srgbClr val="A64B00"/>
                </a:solidFill>
                <a:latin typeface="Consolas"/>
              </a:rPr>
              <a:t>"Patient"</a:t>
            </a:r>
            <a:r>
              <a:rPr sz="1300" b="0" i="0">
                <a:solidFill>
                  <a:srgbClr val="222831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222831"/>
                </a:solidFill>
                <a:latin typeface="Consolas"/>
              </a:rPr>
              <a:t>  </a:t>
            </a:r>
            <a:r>
              <a:rPr sz="1300" b="0" i="0">
                <a:solidFill>
                  <a:srgbClr val="A64B00"/>
                </a:solidFill>
                <a:latin typeface="Consolas"/>
              </a:rPr>
              <a:t>"id"</a:t>
            </a:r>
            <a:r>
              <a:rPr sz="1300" b="0" i="0">
                <a:solidFill>
                  <a:srgbClr val="222831"/>
                </a:solidFill>
                <a:latin typeface="Consolas"/>
              </a:rPr>
              <a:t>: </a:t>
            </a:r>
            <a:r>
              <a:rPr sz="1300" b="0" i="0">
                <a:solidFill>
                  <a:srgbClr val="A64B00"/>
                </a:solidFill>
                <a:latin typeface="Consolas"/>
              </a:rPr>
              <a:t>"patient-tolvan"</a:t>
            </a:r>
            <a:r>
              <a:rPr sz="1300" b="0" i="0">
                <a:solidFill>
                  <a:srgbClr val="222831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222831"/>
                </a:solidFill>
                <a:latin typeface="Consolas"/>
              </a:rPr>
              <a:t>  ...</a:t>
            </a:r>
          </a:p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222831"/>
                </a:solidFill>
                <a:latin typeface="Consolas"/>
              </a:rPr>
              <a:t>}</a:t>
            </a:r>
          </a:p>
        </p:txBody>
      </p:sp>
      <p:sp>
        <p:nvSpPr>
          <p:cNvPr id="9" name="Rectangle 8"/>
          <p:cNvSpPr/>
          <p:nvPr/>
        </p:nvSpPr>
        <p:spPr>
          <a:xfrm>
            <a:off x="7589520" y="1463040"/>
            <a:ext cx="54864" cy="292608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Anatomin hos en resurs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43584"/>
            <a:ext cx="11094415" cy="0"/>
          </a:xfrm>
          <a:prstGeom prst="line">
            <a:avLst/>
          </a:prstGeom>
          <a:ln w="12700">
            <a:solidFill>
              <a:srgbClr val="D5DA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B6577"/>
                </a:solidFill>
                <a:latin typeface="Calibri"/>
              </a:rPr>
              <a:t>FHIR i praktiken  ·  Modul 1 – Läsa en FHIR-resurs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B6577"/>
                </a:solidFill>
                <a:latin typeface="Calibri"/>
              </a:rPr>
              <a:t>9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25880"/>
            <a:ext cx="7406640" cy="4937760"/>
          </a:xfrm>
          <a:prstGeom prst="rect">
            <a:avLst/>
          </a:prstGeom>
          <a:solidFill>
            <a:srgbClr val="F4F6F8"/>
          </a:solidFill>
          <a:ln w="9525">
            <a:solidFill>
              <a:srgbClr val="D5D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01168" tIns="91440"/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22831"/>
                </a:solidFill>
                <a:latin typeface="Consolas"/>
              </a:rPr>
              <a:t>{</a:t>
            </a:r>
          </a:p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22831"/>
                </a:solidFill>
                <a:latin typeface="Consolas"/>
              </a:rPr>
              <a:t>  </a:t>
            </a:r>
            <a:r>
              <a:rPr sz="1200" b="0" i="0">
                <a:solidFill>
                  <a:srgbClr val="0E6B74"/>
                </a:solidFill>
                <a:latin typeface="Consolas"/>
              </a:rPr>
              <a:t>"resourceType"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: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 </a:t>
            </a:r>
            <a:r>
              <a:rPr sz="1200" b="0" i="0">
                <a:solidFill>
                  <a:srgbClr val="A64B00"/>
                </a:solidFill>
                <a:latin typeface="Consolas"/>
              </a:rPr>
              <a:t>"Patient"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22831"/>
                </a:solidFill>
                <a:latin typeface="Consolas"/>
              </a:rPr>
              <a:t>  </a:t>
            </a:r>
            <a:r>
              <a:rPr sz="1200" b="0" i="0">
                <a:solidFill>
                  <a:srgbClr val="0E6B74"/>
                </a:solidFill>
                <a:latin typeface="Consolas"/>
              </a:rPr>
              <a:t>"id"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: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 </a:t>
            </a:r>
            <a:r>
              <a:rPr sz="1200" b="0" i="0">
                <a:solidFill>
                  <a:srgbClr val="A64B00"/>
                </a:solidFill>
                <a:latin typeface="Consolas"/>
              </a:rPr>
              <a:t>"patient-tolvan"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22831"/>
                </a:solidFill>
                <a:latin typeface="Consolas"/>
              </a:rPr>
              <a:t>  </a:t>
            </a:r>
            <a:r>
              <a:rPr sz="1200" b="0" i="0">
                <a:solidFill>
                  <a:srgbClr val="0E6B74"/>
                </a:solidFill>
                <a:latin typeface="Consolas"/>
              </a:rPr>
              <a:t>"meta"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: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 {</a:t>
            </a:r>
          </a:p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22831"/>
                </a:solidFill>
                <a:latin typeface="Consolas"/>
              </a:rPr>
              <a:t>    </a:t>
            </a:r>
            <a:r>
              <a:rPr sz="1200" b="0" i="0">
                <a:solidFill>
                  <a:srgbClr val="0E6B74"/>
                </a:solidFill>
                <a:latin typeface="Consolas"/>
              </a:rPr>
              <a:t>"versionId"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: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 </a:t>
            </a:r>
            <a:r>
              <a:rPr sz="1200" b="0" i="0">
                <a:solidFill>
                  <a:srgbClr val="A64B00"/>
                </a:solidFill>
                <a:latin typeface="Consolas"/>
              </a:rPr>
              <a:t>"3"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22831"/>
                </a:solidFill>
                <a:latin typeface="Consolas"/>
              </a:rPr>
              <a:t>    </a:t>
            </a:r>
            <a:r>
              <a:rPr sz="1200" b="0" i="0">
                <a:solidFill>
                  <a:srgbClr val="0E6B74"/>
                </a:solidFill>
                <a:latin typeface="Consolas"/>
              </a:rPr>
              <a:t>"lastUpdated"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: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 </a:t>
            </a:r>
            <a:r>
              <a:rPr sz="1200" b="0" i="0">
                <a:solidFill>
                  <a:srgbClr val="A64B00"/>
                </a:solidFill>
                <a:latin typeface="Consolas"/>
              </a:rPr>
              <a:t>"2026-10-01T08:15:00+02:00"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22831"/>
                </a:solidFill>
                <a:latin typeface="Consolas"/>
              </a:rPr>
              <a:t>    </a:t>
            </a:r>
            <a:r>
              <a:rPr sz="1200" b="0" i="0">
                <a:solidFill>
                  <a:srgbClr val="0E6B74"/>
                </a:solidFill>
                <a:latin typeface="Consolas"/>
              </a:rPr>
              <a:t>"profile"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: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 [ </a:t>
            </a:r>
            <a:r>
              <a:rPr sz="1200" b="0" i="0">
                <a:solidFill>
                  <a:srgbClr val="A64B00"/>
                </a:solidFill>
                <a:latin typeface="Consolas"/>
              </a:rPr>
              <a:t>"http://example.org/.../EducationPatient"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 ]</a:t>
            </a:r>
          </a:p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22831"/>
                </a:solidFill>
                <a:latin typeface="Consolas"/>
              </a:rPr>
              <a:t>  },</a:t>
            </a:r>
          </a:p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22831"/>
                </a:solidFill>
                <a:latin typeface="Consolas"/>
              </a:rPr>
              <a:t>  </a:t>
            </a:r>
            <a:r>
              <a:rPr sz="1200" b="0" i="0">
                <a:solidFill>
                  <a:srgbClr val="0E6B74"/>
                </a:solidFill>
                <a:latin typeface="Consolas"/>
              </a:rPr>
              <a:t>"text"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: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 { </a:t>
            </a:r>
            <a:r>
              <a:rPr sz="1200" b="0" i="0">
                <a:solidFill>
                  <a:srgbClr val="A64B00"/>
                </a:solidFill>
                <a:latin typeface="Consolas"/>
              </a:rPr>
              <a:t>"status"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: </a:t>
            </a:r>
            <a:r>
              <a:rPr sz="1200" b="0" i="0">
                <a:solidFill>
                  <a:srgbClr val="A64B00"/>
                </a:solidFill>
                <a:latin typeface="Consolas"/>
              </a:rPr>
              <a:t>"generated"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, </a:t>
            </a:r>
            <a:r>
              <a:rPr sz="1200" b="0" i="0">
                <a:solidFill>
                  <a:srgbClr val="A64B00"/>
                </a:solidFill>
                <a:latin typeface="Consolas"/>
              </a:rPr>
              <a:t>"div"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: </a:t>
            </a:r>
            <a:r>
              <a:rPr sz="1200" b="0" i="0">
                <a:solidFill>
                  <a:srgbClr val="A64B00"/>
                </a:solidFill>
                <a:latin typeface="Consolas"/>
              </a:rPr>
              <a:t>"&lt;div ...&gt;...&lt;/div&gt;"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 },</a:t>
            </a:r>
          </a:p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22831"/>
                </a:solidFill>
                <a:latin typeface="Consolas"/>
              </a:rPr>
              <a:t>  </a:t>
            </a:r>
            <a:r>
              <a:rPr sz="1200" b="0" i="0">
                <a:solidFill>
                  <a:srgbClr val="0E6B74"/>
                </a:solidFill>
                <a:latin typeface="Consolas"/>
              </a:rPr>
              <a:t>"extension"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: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 [ { </a:t>
            </a:r>
            <a:r>
              <a:rPr sz="1200" b="0" i="0">
                <a:solidFill>
                  <a:srgbClr val="A64B00"/>
                </a:solidFill>
                <a:latin typeface="Consolas"/>
              </a:rPr>
              <a:t>"url"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: </a:t>
            </a:r>
            <a:r>
              <a:rPr sz="1200" b="0" i="0">
                <a:solidFill>
                  <a:srgbClr val="A64B00"/>
                </a:solidFill>
                <a:latin typeface="Consolas"/>
              </a:rPr>
              <a:t>"http://hl7.org/.../patient-interpreterRequired"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22831"/>
                </a:solidFill>
                <a:latin typeface="Consolas"/>
              </a:rPr>
              <a:t>                   </a:t>
            </a:r>
            <a:r>
              <a:rPr sz="1200" b="0" i="0">
                <a:solidFill>
                  <a:srgbClr val="0E6B74"/>
                </a:solidFill>
                <a:latin typeface="Consolas"/>
              </a:rPr>
              <a:t>"valueBoolean"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: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 true } ],</a:t>
            </a:r>
          </a:p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22831"/>
                </a:solidFill>
                <a:latin typeface="Consolas"/>
              </a:rPr>
              <a:t>  </a:t>
            </a:r>
            <a:r>
              <a:rPr sz="1200" b="0" i="0">
                <a:solidFill>
                  <a:srgbClr val="0E6B74"/>
                </a:solidFill>
                <a:latin typeface="Consolas"/>
              </a:rPr>
              <a:t>"identifier"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: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 [ { </a:t>
            </a:r>
            <a:r>
              <a:rPr sz="1200" b="0" i="0">
                <a:solidFill>
                  <a:srgbClr val="A64B00"/>
                </a:solidFill>
                <a:latin typeface="Consolas"/>
              </a:rPr>
              <a:t>"system"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: </a:t>
            </a:r>
            <a:r>
              <a:rPr sz="1200" b="0" i="0">
                <a:solidFill>
                  <a:srgbClr val="A64B00"/>
                </a:solidFill>
                <a:latin typeface="Consolas"/>
              </a:rPr>
              <a:t>"http://electronichealth.se/.../personnummer"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22831"/>
                </a:solidFill>
                <a:latin typeface="Consolas"/>
              </a:rPr>
              <a:t>                    </a:t>
            </a:r>
            <a:r>
              <a:rPr sz="1200" b="0" i="0">
                <a:solidFill>
                  <a:srgbClr val="0E6B74"/>
                </a:solidFill>
                <a:latin typeface="Consolas"/>
              </a:rPr>
              <a:t>"value"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: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 </a:t>
            </a:r>
            <a:r>
              <a:rPr sz="1200" b="0" i="0">
                <a:solidFill>
                  <a:srgbClr val="A64B00"/>
                </a:solidFill>
                <a:latin typeface="Consolas"/>
              </a:rPr>
              <a:t>"191212121212"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 } ],</a:t>
            </a:r>
          </a:p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22831"/>
                </a:solidFill>
                <a:latin typeface="Consolas"/>
              </a:rPr>
              <a:t>  </a:t>
            </a:r>
            <a:r>
              <a:rPr sz="1200" b="0" i="0">
                <a:solidFill>
                  <a:srgbClr val="0E6B74"/>
                </a:solidFill>
                <a:latin typeface="Consolas"/>
              </a:rPr>
              <a:t>"name"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: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 [ { </a:t>
            </a:r>
            <a:r>
              <a:rPr sz="1200" b="0" i="0">
                <a:solidFill>
                  <a:srgbClr val="A64B00"/>
                </a:solidFill>
                <a:latin typeface="Consolas"/>
              </a:rPr>
              <a:t>"use"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: </a:t>
            </a:r>
            <a:r>
              <a:rPr sz="1200" b="0" i="0">
                <a:solidFill>
                  <a:srgbClr val="A64B00"/>
                </a:solidFill>
                <a:latin typeface="Consolas"/>
              </a:rPr>
              <a:t>"official"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, </a:t>
            </a:r>
            <a:r>
              <a:rPr sz="1200" b="0" i="0">
                <a:solidFill>
                  <a:srgbClr val="A64B00"/>
                </a:solidFill>
                <a:latin typeface="Consolas"/>
              </a:rPr>
              <a:t>"family"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: </a:t>
            </a:r>
            <a:r>
              <a:rPr sz="1200" b="0" i="0">
                <a:solidFill>
                  <a:srgbClr val="A64B00"/>
                </a:solidFill>
                <a:latin typeface="Consolas"/>
              </a:rPr>
              <a:t>"Tolvansson"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22831"/>
                </a:solidFill>
                <a:latin typeface="Consolas"/>
              </a:rPr>
              <a:t>              </a:t>
            </a:r>
            <a:r>
              <a:rPr sz="1200" b="0" i="0">
                <a:solidFill>
                  <a:srgbClr val="0E6B74"/>
                </a:solidFill>
                <a:latin typeface="Consolas"/>
              </a:rPr>
              <a:t>"given"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: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 [ </a:t>
            </a:r>
            <a:r>
              <a:rPr sz="1200" b="0" i="0">
                <a:solidFill>
                  <a:srgbClr val="A64B00"/>
                </a:solidFill>
                <a:latin typeface="Consolas"/>
              </a:rPr>
              <a:t>"Tolvan"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 ] } ],</a:t>
            </a:r>
          </a:p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22831"/>
                </a:solidFill>
                <a:latin typeface="Consolas"/>
              </a:rPr>
              <a:t>  </a:t>
            </a:r>
            <a:r>
              <a:rPr sz="1200" b="0" i="0">
                <a:solidFill>
                  <a:srgbClr val="0E6B74"/>
                </a:solidFill>
                <a:latin typeface="Consolas"/>
              </a:rPr>
              <a:t>"gender"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: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 </a:t>
            </a:r>
            <a:r>
              <a:rPr sz="1200" b="0" i="0">
                <a:solidFill>
                  <a:srgbClr val="A64B00"/>
                </a:solidFill>
                <a:latin typeface="Consolas"/>
              </a:rPr>
              <a:t>"male"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22831"/>
                </a:solidFill>
                <a:latin typeface="Consolas"/>
              </a:rPr>
              <a:t>  </a:t>
            </a:r>
            <a:r>
              <a:rPr sz="1200" b="0" i="0">
                <a:solidFill>
                  <a:srgbClr val="0E6B74"/>
                </a:solidFill>
                <a:latin typeface="Consolas"/>
              </a:rPr>
              <a:t>"birthDate"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: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 </a:t>
            </a:r>
            <a:r>
              <a:rPr sz="1200" b="0" i="0">
                <a:solidFill>
                  <a:srgbClr val="A64B00"/>
                </a:solidFill>
                <a:latin typeface="Consolas"/>
              </a:rPr>
              <a:t>"1912-12-12"</a:t>
            </a:r>
          </a:p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22831"/>
                </a:solidFill>
                <a:latin typeface="Consolas"/>
              </a:rPr>
              <a:t>}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325880"/>
            <a:ext cx="54864" cy="493776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183879" y="1417320"/>
            <a:ext cx="3429000" cy="777240"/>
          </a:xfrm>
          <a:prstGeom prst="roundRect">
            <a:avLst>
              <a:gd name="adj" fmla="val 12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resourceType + id</a:t>
            </a:r>
          </a:p>
          <a:p>
            <a:pPr algn="ctr"/>
            <a:r>
              <a:rPr sz="1500" b="0" i="0">
                <a:solidFill>
                  <a:srgbClr val="FFFFFF"/>
                </a:solidFill>
                <a:latin typeface="Calibri"/>
              </a:rPr>
              <a:t>Typ och logiskt id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83879" y="2331720"/>
            <a:ext cx="3429000" cy="777240"/>
          </a:xfrm>
          <a:prstGeom prst="roundRect">
            <a:avLst>
              <a:gd name="adj" fmla="val 12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meta</a:t>
            </a:r>
          </a:p>
          <a:p>
            <a:pPr algn="ctr"/>
            <a:r>
              <a:rPr sz="1500" b="0" i="0">
                <a:solidFill>
                  <a:srgbClr val="FFFFFF"/>
                </a:solidFill>
                <a:latin typeface="Calibri"/>
              </a:rPr>
              <a:t>Version, profiler, taggar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83879" y="3246120"/>
            <a:ext cx="3429000" cy="777240"/>
          </a:xfrm>
          <a:prstGeom prst="roundRect">
            <a:avLst>
              <a:gd name="adj" fmla="val 12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text</a:t>
            </a:r>
          </a:p>
          <a:p>
            <a:pPr algn="ctr"/>
            <a:r>
              <a:rPr sz="1500" b="0" i="0">
                <a:solidFill>
                  <a:srgbClr val="FFFFFF"/>
                </a:solidFill>
                <a:latin typeface="Calibri"/>
              </a:rPr>
              <a:t>Narrativ i XHTML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83879" y="4160520"/>
            <a:ext cx="3429000" cy="777240"/>
          </a:xfrm>
          <a:prstGeom prst="roundRect">
            <a:avLst>
              <a:gd name="adj" fmla="val 12000"/>
            </a:avLst>
          </a:prstGeom>
          <a:solidFill>
            <a:srgbClr val="E87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extension</a:t>
            </a:r>
          </a:p>
          <a:p>
            <a:pPr algn="ctr"/>
            <a:r>
              <a:rPr sz="1500" b="0" i="0">
                <a:solidFill>
                  <a:srgbClr val="FFFFFF"/>
                </a:solidFill>
                <a:latin typeface="Calibri"/>
              </a:rPr>
              <a:t>Tillägg utöver basresursen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83879" y="5074920"/>
            <a:ext cx="3429000" cy="77724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identifier, name …</a:t>
            </a:r>
          </a:p>
          <a:p>
            <a:pPr algn="ctr"/>
            <a:r>
              <a:rPr sz="1500" b="0" i="0">
                <a:solidFill>
                  <a:srgbClr val="FFFFFF"/>
                </a:solidFill>
                <a:latin typeface="Calibri"/>
              </a:rPr>
              <a:t>Resursens egna element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Datatyper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43584"/>
            <a:ext cx="11094415" cy="0"/>
          </a:xfrm>
          <a:prstGeom prst="line">
            <a:avLst/>
          </a:prstGeom>
          <a:ln w="12700">
            <a:solidFill>
              <a:srgbClr val="D5DA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B6577"/>
                </a:solidFill>
                <a:latin typeface="Calibri"/>
              </a:rPr>
              <a:t>FHIR i praktiken  ·  Modul 1 – Läsa en FHIR-resurs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B6577"/>
                </a:solidFill>
                <a:latin typeface="Calibri"/>
              </a:rPr>
              <a:t>10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325880"/>
          <a:ext cx="5120639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9476"/>
                <a:gridCol w="3151163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Primitiv</a:t>
                      </a:r>
                    </a:p>
                  </a:txBody>
                  <a:tcPr marL="73152" marR="73152" marT="36576" marB="36576" anchor="ctr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Exempel</a:t>
                      </a:r>
                    </a:p>
                  </a:txBody>
                  <a:tcPr marL="73152" marR="73152" marT="36576" marB="36576" anchor="ctr">
                    <a:solidFill>
                      <a:srgbClr val="1B2A4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string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"Tolvansson"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boolean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true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date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"1912-12-12", "1912-12", "1912"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dateTime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"2026-10-01T09:00:00+02:00"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code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"male" (från en värdemängd)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uri</a:t>
                      </a:r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 / </a:t>
                      </a:r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canonical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"http://electronichealth.se/..."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decimal</a:t>
                      </a:r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 / </a:t>
                      </a:r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integer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72.5 / 3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943600" y="1325880"/>
          <a:ext cx="566928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65760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Komplex</a:t>
                      </a:r>
                    </a:p>
                  </a:txBody>
                  <a:tcPr marL="73152" marR="73152" marT="36576" marB="36576" anchor="ctr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Innehåller</a:t>
                      </a:r>
                    </a:p>
                  </a:txBody>
                  <a:tcPr marL="73152" marR="73152" marT="36576" marB="36576" anchor="ctr">
                    <a:solidFill>
                      <a:srgbClr val="1B2A4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Identifier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system + value (+ use, type, period)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HumanName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family, given, use, prefix …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Coding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system + code + display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CodeableConcept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en eller flera Coding + text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Reference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reference, identifier, display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Period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start + end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Quantity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value + unit + system + code (UCUM)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Läsa specifikationen: elementtabellen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43584"/>
            <a:ext cx="11094415" cy="0"/>
          </a:xfrm>
          <a:prstGeom prst="line">
            <a:avLst/>
          </a:prstGeom>
          <a:ln w="12700">
            <a:solidFill>
              <a:srgbClr val="D5DA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B6577"/>
                </a:solidFill>
                <a:latin typeface="Calibri"/>
              </a:rPr>
              <a:t>FHIR i praktiken  ·  Modul 1 – Läsa en FHIR-resurs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B6577"/>
                </a:solidFill>
                <a:latin typeface="Calibri"/>
              </a:rPr>
              <a:t>11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325880"/>
          <a:ext cx="11094413" cy="39502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83923"/>
                <a:gridCol w="825204"/>
                <a:gridCol w="733515"/>
                <a:gridCol w="2750681"/>
                <a:gridCol w="4401090"/>
              </a:tblGrid>
              <a:tr h="438912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Name</a:t>
                      </a:r>
                    </a:p>
                  </a:txBody>
                  <a:tcPr marL="73152" marR="73152" marT="36576" marB="36576" anchor="ctr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Flags</a:t>
                      </a:r>
                    </a:p>
                  </a:txBody>
                  <a:tcPr marL="73152" marR="73152" marT="36576" marB="36576" anchor="ctr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Card.</a:t>
                      </a:r>
                    </a:p>
                  </a:txBody>
                  <a:tcPr marL="73152" marR="73152" marT="36576" marB="36576" anchor="ctr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Type</a:t>
                      </a:r>
                    </a:p>
                  </a:txBody>
                  <a:tcPr marL="73152" marR="73152" marT="36576" marB="36576" anchor="ctr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Description &amp; Constraints</a:t>
                      </a:r>
                    </a:p>
                  </a:txBody>
                  <a:tcPr marL="73152" marR="73152" marT="36576" marB="36576" anchor="ctr">
                    <a:solidFill>
                      <a:srgbClr val="1B2A4A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831"/>
                          </a:solidFill>
                          <a:latin typeface="Calibri"/>
                        </a:rPr>
                        <a:t>Patient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831"/>
                          </a:solidFill>
                          <a:latin typeface="Calibri"/>
                        </a:rPr>
                        <a:t>I 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831"/>
                          </a:solidFill>
                          <a:latin typeface="Calibri"/>
                        </a:rPr>
                        <a:t>DomainResource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831"/>
                          </a:solidFill>
                          <a:latin typeface="Calibri"/>
                        </a:rPr>
                        <a:t>Information about an individual …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831"/>
                          </a:solidFill>
                          <a:latin typeface="Calibri"/>
                        </a:rPr>
                        <a:t>  identifier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831"/>
                          </a:solidFill>
                          <a:latin typeface="Calibri"/>
                        </a:rPr>
                        <a:t>Σ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831"/>
                          </a:solidFill>
                          <a:latin typeface="Calibri"/>
                        </a:rPr>
                        <a:t>0..*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831"/>
                          </a:solidFill>
                          <a:latin typeface="Calibri"/>
                        </a:rPr>
                        <a:t>Identifier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831"/>
                          </a:solidFill>
                          <a:latin typeface="Calibri"/>
                        </a:rPr>
                        <a:t>An identifier for this patient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831"/>
                          </a:solidFill>
                          <a:latin typeface="Calibri"/>
                        </a:rPr>
                        <a:t>  active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831"/>
                          </a:solidFill>
                          <a:latin typeface="Calibri"/>
                        </a:rPr>
                        <a:t>?! Σ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831"/>
                          </a:solidFill>
                          <a:latin typeface="Calibri"/>
                        </a:rPr>
                        <a:t>0..1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831"/>
                          </a:solidFill>
                          <a:latin typeface="Calibri"/>
                        </a:rPr>
                        <a:t>boolean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831"/>
                          </a:solidFill>
                          <a:latin typeface="Calibri"/>
                        </a:rPr>
                        <a:t>Whether this patient's record is in active use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831"/>
                          </a:solidFill>
                          <a:latin typeface="Calibri"/>
                        </a:rPr>
                        <a:t>  name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831"/>
                          </a:solidFill>
                          <a:latin typeface="Calibri"/>
                        </a:rPr>
                        <a:t>Σ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831"/>
                          </a:solidFill>
                          <a:latin typeface="Calibri"/>
                        </a:rPr>
                        <a:t>0..*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831"/>
                          </a:solidFill>
                          <a:latin typeface="Calibri"/>
                        </a:rPr>
                        <a:t>HumanName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831"/>
                          </a:solidFill>
                          <a:latin typeface="Calibri"/>
                        </a:rPr>
                        <a:t>A name associated with the patient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831"/>
                          </a:solidFill>
                          <a:latin typeface="Calibri"/>
                        </a:rPr>
                        <a:t>  gender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831"/>
                          </a:solidFill>
                          <a:latin typeface="Calibri"/>
                        </a:rPr>
                        <a:t>Σ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831"/>
                          </a:solidFill>
                          <a:latin typeface="Calibri"/>
                        </a:rPr>
                        <a:t>0..1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831"/>
                          </a:solidFill>
                          <a:latin typeface="Calibri"/>
                        </a:rPr>
                        <a:t>code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831"/>
                          </a:solidFill>
                          <a:latin typeface="Calibri"/>
                        </a:rPr>
                        <a:t>male | female | other | unknown
AdministrativeGender (Required)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831"/>
                          </a:solidFill>
                          <a:latin typeface="Calibri"/>
                        </a:rPr>
                        <a:t>  birthDate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831"/>
                          </a:solidFill>
                          <a:latin typeface="Calibri"/>
                        </a:rPr>
                        <a:t>Σ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831"/>
                          </a:solidFill>
                          <a:latin typeface="Calibri"/>
                        </a:rPr>
                        <a:t>0..1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831"/>
                          </a:solidFill>
                          <a:latin typeface="Calibri"/>
                        </a:rPr>
                        <a:t>date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831"/>
                          </a:solidFill>
                          <a:latin typeface="Calibri"/>
                        </a:rPr>
                        <a:t>The date of birth for the individual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831"/>
                          </a:solidFill>
                          <a:latin typeface="Calibri"/>
                        </a:rPr>
                        <a:t>  maritalStatus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831"/>
                          </a:solidFill>
                          <a:latin typeface="Calibri"/>
                        </a:rPr>
                        <a:t>0..1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831"/>
                          </a:solidFill>
                          <a:latin typeface="Calibri"/>
                        </a:rPr>
                        <a:t>CodeableConcept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831"/>
                          </a:solidFill>
                          <a:latin typeface="Calibri"/>
                        </a:rPr>
                        <a:t>Marital (civil) status
Marital Status Codes (Extensible)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831"/>
                          </a:solidFill>
                          <a:latin typeface="Calibri"/>
                        </a:rPr>
                        <a:t>  generalPractitioner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831"/>
                          </a:solidFill>
                          <a:latin typeface="Calibri"/>
                        </a:rPr>
                        <a:t>0..*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831"/>
                          </a:solidFill>
                          <a:latin typeface="Calibri"/>
                        </a:rPr>
                        <a:t>Reference(Organization |
Practitioner | PractitionerRole)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831"/>
                          </a:solidFill>
                          <a:latin typeface="Calibri"/>
                        </a:rPr>
                        <a:t>Patient's nominated primary care provider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589788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5B6577"/>
                </a:solidFill>
                <a:latin typeface="Calibri"/>
              </a:rPr>
              <a:t>Σ</a:t>
            </a:r>
            <a:r>
              <a:rPr sz="1400" b="0" i="0">
                <a:solidFill>
                  <a:srgbClr val="5B6577"/>
                </a:solidFill>
                <a:latin typeface="Calibri"/>
              </a:rPr>
              <a:t> ingår i sammanfattning   </a:t>
            </a:r>
            <a:r>
              <a:rPr sz="1400" b="1" i="0">
                <a:solidFill>
                  <a:srgbClr val="5B6577"/>
                </a:solidFill>
                <a:latin typeface="Calibri"/>
              </a:rPr>
              <a:t>?!</a:t>
            </a:r>
            <a:r>
              <a:rPr sz="1400" b="0" i="0">
                <a:solidFill>
                  <a:srgbClr val="5B6577"/>
                </a:solidFill>
                <a:latin typeface="Calibri"/>
              </a:rPr>
              <a:t> modifierande element   </a:t>
            </a:r>
            <a:r>
              <a:rPr sz="1400" b="1" i="0">
                <a:solidFill>
                  <a:srgbClr val="5B6577"/>
                </a:solidFill>
                <a:latin typeface="Calibri"/>
              </a:rPr>
              <a:t>I</a:t>
            </a:r>
            <a:r>
              <a:rPr sz="1400" b="0" i="0">
                <a:solidFill>
                  <a:srgbClr val="5B6577"/>
                </a:solidFill>
                <a:latin typeface="Calibri"/>
              </a:rPr>
              <a:t> har invarianter   </a:t>
            </a:r>
            <a:r>
              <a:rPr sz="1400" b="1" i="0">
                <a:solidFill>
                  <a:srgbClr val="5B6577"/>
                </a:solidFill>
                <a:latin typeface="Calibri"/>
              </a:rPr>
              <a:t>Card.</a:t>
            </a:r>
            <a:r>
              <a:rPr sz="1400" b="0" i="0">
                <a:solidFill>
                  <a:srgbClr val="5B6577"/>
                </a:solidFill>
                <a:latin typeface="Calibri"/>
              </a:rPr>
              <a:t> kardinalitet (min..max)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Referenser mellan resurser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43584"/>
            <a:ext cx="11094415" cy="0"/>
          </a:xfrm>
          <a:prstGeom prst="line">
            <a:avLst/>
          </a:prstGeom>
          <a:ln w="12700">
            <a:solidFill>
              <a:srgbClr val="D5DA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B6577"/>
                </a:solidFill>
                <a:latin typeface="Calibri"/>
              </a:rPr>
              <a:t>FHIR i praktiken  ·  Modul 1 – Läsa en FHIR-resurs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B6577"/>
                </a:solidFill>
                <a:latin typeface="Calibri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5B6577"/>
                </a:solidFill>
                <a:latin typeface="Calibri"/>
              </a:rPr>
              <a:t>Bokstavlig (literal) referens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709928"/>
            <a:ext cx="5303520" cy="1170432"/>
          </a:xfrm>
          <a:prstGeom prst="rect">
            <a:avLst/>
          </a:prstGeom>
          <a:solidFill>
            <a:srgbClr val="F4F6F8"/>
          </a:solidFill>
          <a:ln w="9525">
            <a:solidFill>
              <a:srgbClr val="D5D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01168" tIns="91440"/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22831"/>
                </a:solidFill>
                <a:latin typeface="Consolas"/>
              </a:rPr>
              <a:t/>
            </a:r>
            <a:r>
              <a:rPr sz="1400" b="0" i="0">
                <a:solidFill>
                  <a:srgbClr val="0E6B74"/>
                </a:solidFill>
                <a:latin typeface="Consolas"/>
              </a:rPr>
              <a:t>"subject"</a:t>
            </a:r>
            <a:r>
              <a:rPr sz="1400" b="0" i="0">
                <a:solidFill>
                  <a:srgbClr val="222831"/>
                </a:solidFill>
                <a:latin typeface="Consolas"/>
              </a:rPr>
              <a:t>:</a:t>
            </a:r>
            <a:r>
              <a:rPr sz="1400" b="0" i="0">
                <a:solidFill>
                  <a:srgbClr val="222831"/>
                </a:solidFill>
                <a:latin typeface="Consolas"/>
              </a:rPr>
              <a:t> {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22831"/>
                </a:solidFill>
                <a:latin typeface="Consolas"/>
              </a:rPr>
              <a:t>  </a:t>
            </a:r>
            <a:r>
              <a:rPr sz="1400" b="0" i="0">
                <a:solidFill>
                  <a:srgbClr val="0E6B74"/>
                </a:solidFill>
                <a:latin typeface="Consolas"/>
              </a:rPr>
              <a:t>"reference"</a:t>
            </a:r>
            <a:r>
              <a:rPr sz="1400" b="0" i="0">
                <a:solidFill>
                  <a:srgbClr val="222831"/>
                </a:solidFill>
                <a:latin typeface="Consolas"/>
              </a:rPr>
              <a:t>:</a:t>
            </a:r>
            <a:r>
              <a:rPr sz="1400" b="0" i="0">
                <a:solidFill>
                  <a:srgbClr val="222831"/>
                </a:solidFill>
                <a:latin typeface="Consolas"/>
              </a:rPr>
              <a:t> </a:t>
            </a:r>
            <a:r>
              <a:rPr sz="1400" b="0" i="0">
                <a:solidFill>
                  <a:srgbClr val="A64B00"/>
                </a:solidFill>
                <a:latin typeface="Consolas"/>
              </a:rPr>
              <a:t>"Patient/patient-tolvan"</a:t>
            </a:r>
            <a:r>
              <a:rPr sz="1400" b="0" i="0">
                <a:solidFill>
                  <a:srgbClr val="222831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22831"/>
                </a:solidFill>
                <a:latin typeface="Consolas"/>
              </a:rPr>
              <a:t>  </a:t>
            </a:r>
            <a:r>
              <a:rPr sz="1400" b="0" i="0">
                <a:solidFill>
                  <a:srgbClr val="0E6B74"/>
                </a:solidFill>
                <a:latin typeface="Consolas"/>
              </a:rPr>
              <a:t>"display"</a:t>
            </a:r>
            <a:r>
              <a:rPr sz="1400" b="0" i="0">
                <a:solidFill>
                  <a:srgbClr val="222831"/>
                </a:solidFill>
                <a:latin typeface="Consolas"/>
              </a:rPr>
              <a:t>:</a:t>
            </a:r>
            <a:r>
              <a:rPr sz="1400" b="0" i="0">
                <a:solidFill>
                  <a:srgbClr val="222831"/>
                </a:solidFill>
                <a:latin typeface="Consolas"/>
              </a:rPr>
              <a:t> </a:t>
            </a:r>
            <a:r>
              <a:rPr sz="1400" b="0" i="0">
                <a:solidFill>
                  <a:srgbClr val="A64B00"/>
                </a:solidFill>
                <a:latin typeface="Consolas"/>
              </a:rPr>
              <a:t>"Tolvan Tolvansson"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22831"/>
                </a:solidFill>
                <a:latin typeface="Consolas"/>
              </a:rPr>
              <a:t>}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709928"/>
            <a:ext cx="54864" cy="1170432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3200399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5B6577"/>
                </a:solidFill>
                <a:latin typeface="Calibri"/>
              </a:rPr>
              <a:t>Logisk referens (identifier)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493007"/>
            <a:ext cx="5303520" cy="2084832"/>
          </a:xfrm>
          <a:prstGeom prst="rect">
            <a:avLst/>
          </a:prstGeom>
          <a:solidFill>
            <a:srgbClr val="F4F6F8"/>
          </a:solidFill>
          <a:ln w="9525">
            <a:solidFill>
              <a:srgbClr val="D5D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01168" tIns="91440"/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22831"/>
                </a:solidFill>
                <a:latin typeface="Consolas"/>
              </a:rPr>
              <a:t/>
            </a:r>
            <a:r>
              <a:rPr sz="1400" b="0" i="0">
                <a:solidFill>
                  <a:srgbClr val="0E6B74"/>
                </a:solidFill>
                <a:latin typeface="Consolas"/>
              </a:rPr>
              <a:t>"serviceProvider"</a:t>
            </a:r>
            <a:r>
              <a:rPr sz="1400" b="0" i="0">
                <a:solidFill>
                  <a:srgbClr val="222831"/>
                </a:solidFill>
                <a:latin typeface="Consolas"/>
              </a:rPr>
              <a:t>:</a:t>
            </a:r>
            <a:r>
              <a:rPr sz="1400" b="0" i="0">
                <a:solidFill>
                  <a:srgbClr val="222831"/>
                </a:solidFill>
                <a:latin typeface="Consolas"/>
              </a:rPr>
              <a:t> {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22831"/>
                </a:solidFill>
                <a:latin typeface="Consolas"/>
              </a:rPr>
              <a:t>  </a:t>
            </a:r>
            <a:r>
              <a:rPr sz="1400" b="0" i="0">
                <a:solidFill>
                  <a:srgbClr val="0E6B74"/>
                </a:solidFill>
                <a:latin typeface="Consolas"/>
              </a:rPr>
              <a:t>"identifier"</a:t>
            </a:r>
            <a:r>
              <a:rPr sz="1400" b="0" i="0">
                <a:solidFill>
                  <a:srgbClr val="222831"/>
                </a:solidFill>
                <a:latin typeface="Consolas"/>
              </a:rPr>
              <a:t>:</a:t>
            </a:r>
            <a:r>
              <a:rPr sz="1400" b="0" i="0">
                <a:solidFill>
                  <a:srgbClr val="222831"/>
                </a:solidFill>
                <a:latin typeface="Consolas"/>
              </a:rPr>
              <a:t> {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22831"/>
                </a:solidFill>
                <a:latin typeface="Consolas"/>
              </a:rPr>
              <a:t>    </a:t>
            </a:r>
            <a:r>
              <a:rPr sz="1400" b="0" i="0">
                <a:solidFill>
                  <a:srgbClr val="0E6B74"/>
                </a:solidFill>
                <a:latin typeface="Consolas"/>
              </a:rPr>
              <a:t>"system"</a:t>
            </a:r>
            <a:r>
              <a:rPr sz="1400" b="0" i="0">
                <a:solidFill>
                  <a:srgbClr val="222831"/>
                </a:solidFill>
                <a:latin typeface="Consolas"/>
              </a:rPr>
              <a:t>:</a:t>
            </a:r>
            <a:r>
              <a:rPr sz="1400" b="0" i="0">
                <a:solidFill>
                  <a:srgbClr val="222831"/>
                </a:solidFill>
                <a:latin typeface="Consolas"/>
              </a:rPr>
              <a:t> </a:t>
            </a:r>
            <a:r>
              <a:rPr sz="1400" b="0" i="0">
                <a:solidFill>
                  <a:srgbClr val="A64B00"/>
                </a:solidFill>
                <a:latin typeface="Consolas"/>
              </a:rPr>
              <a:t>"urn:oid:1.2.752.29.4.19"</a:t>
            </a:r>
            <a:r>
              <a:rPr sz="1400" b="0" i="0">
                <a:solidFill>
                  <a:srgbClr val="222831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22831"/>
                </a:solidFill>
                <a:latin typeface="Consolas"/>
              </a:rPr>
              <a:t>    </a:t>
            </a:r>
            <a:r>
              <a:rPr sz="1400" b="0" i="0">
                <a:solidFill>
                  <a:srgbClr val="0E6B74"/>
                </a:solidFill>
                <a:latin typeface="Consolas"/>
              </a:rPr>
              <a:t>"value"</a:t>
            </a:r>
            <a:r>
              <a:rPr sz="1400" b="0" i="0">
                <a:solidFill>
                  <a:srgbClr val="222831"/>
                </a:solidFill>
                <a:latin typeface="Consolas"/>
              </a:rPr>
              <a:t>:</a:t>
            </a:r>
            <a:r>
              <a:rPr sz="1400" b="0" i="0">
                <a:solidFill>
                  <a:srgbClr val="222831"/>
                </a:solidFill>
                <a:latin typeface="Consolas"/>
              </a:rPr>
              <a:t> </a:t>
            </a:r>
            <a:r>
              <a:rPr sz="1400" b="0" i="0">
                <a:solidFill>
                  <a:srgbClr val="A64B00"/>
                </a:solidFill>
                <a:latin typeface="Consolas"/>
              </a:rPr>
              <a:t>"SE2321000016-KURS"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22831"/>
                </a:solidFill>
                <a:latin typeface="Consolas"/>
              </a:rPr>
              <a:t>  },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22831"/>
                </a:solidFill>
                <a:latin typeface="Consolas"/>
              </a:rPr>
              <a:t>  </a:t>
            </a:r>
            <a:r>
              <a:rPr sz="1400" b="0" i="0">
                <a:solidFill>
                  <a:srgbClr val="0E6B74"/>
                </a:solidFill>
                <a:latin typeface="Consolas"/>
              </a:rPr>
              <a:t>"display"</a:t>
            </a:r>
            <a:r>
              <a:rPr sz="1400" b="0" i="0">
                <a:solidFill>
                  <a:srgbClr val="222831"/>
                </a:solidFill>
                <a:latin typeface="Consolas"/>
              </a:rPr>
              <a:t>:</a:t>
            </a:r>
            <a:r>
              <a:rPr sz="1400" b="0" i="0">
                <a:solidFill>
                  <a:srgbClr val="222831"/>
                </a:solidFill>
                <a:latin typeface="Consolas"/>
              </a:rPr>
              <a:t> </a:t>
            </a:r>
            <a:r>
              <a:rPr sz="1400" b="0" i="0">
                <a:solidFill>
                  <a:srgbClr val="A64B00"/>
                </a:solidFill>
                <a:latin typeface="Consolas"/>
              </a:rPr>
              <a:t>"Vårdcentralen Kursköping"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22831"/>
                </a:solidFill>
                <a:latin typeface="Consolas"/>
              </a:rPr>
              <a:t>}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493007"/>
            <a:ext cx="54864" cy="2084832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0" y="141732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700" b="1" i="0">
                <a:solidFill>
                  <a:srgbClr val="222831"/>
                </a:solidFill>
                <a:latin typeface="Calibri"/>
              </a:rPr>
              <a:t>reference</a:t>
            </a:r>
            <a:r>
              <a:rPr sz="1700" b="0" i="0">
                <a:solidFill>
                  <a:srgbClr val="222831"/>
                </a:solidFill>
                <a:latin typeface="Calibri"/>
              </a:rPr>
              <a:t>: relativ (</a:t>
            </a:r>
            <a:r>
              <a:rPr sz="1600" b="0" i="0">
                <a:solidFill>
                  <a:srgbClr val="0E6B74"/>
                </a:solidFill>
                <a:latin typeface="Consolas"/>
              </a:rPr>
              <a:t>Patient/123</a:t>
            </a:r>
            <a:r>
              <a:rPr sz="1700" b="0" i="0">
                <a:solidFill>
                  <a:srgbClr val="222831"/>
                </a:solidFill>
                <a:latin typeface="Calibri"/>
              </a:rPr>
              <a:t>) eller absolut URL. Kan hämtas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700" b="1" i="0">
                <a:solidFill>
                  <a:srgbClr val="222831"/>
                </a:solidFill>
                <a:latin typeface="Calibri"/>
              </a:rPr>
              <a:t>identifier</a:t>
            </a:r>
            <a:r>
              <a:rPr sz="1700" b="0" i="0">
                <a:solidFill>
                  <a:srgbClr val="222831"/>
                </a:solidFill>
                <a:latin typeface="Calibri"/>
              </a:rPr>
              <a:t>: pekar ut vad som avses utan att peka på en resurs, t.ex. HSA-id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700" b="1" i="0">
                <a:solidFill>
                  <a:srgbClr val="222831"/>
                </a:solidFill>
                <a:latin typeface="Calibri"/>
              </a:rPr>
              <a:t>display</a:t>
            </a:r>
            <a:r>
              <a:rPr sz="1700" b="0" i="0">
                <a:solidFill>
                  <a:srgbClr val="222831"/>
                </a:solidFill>
                <a:latin typeface="Calibri"/>
              </a:rPr>
              <a:t>: endast för människor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700" b="1" i="0">
                <a:solidFill>
                  <a:srgbClr val="222831"/>
                </a:solidFill>
                <a:latin typeface="Calibri"/>
              </a:rPr>
              <a:t>contained</a:t>
            </a:r>
            <a:r>
              <a:rPr sz="1700" b="0" i="0">
                <a:solidFill>
                  <a:srgbClr val="222831"/>
                </a:solidFill>
                <a:latin typeface="Calibri"/>
              </a:rPr>
              <a:t>: inbäddad resurs (</a:t>
            </a:r>
            <a:r>
              <a:rPr sz="1600" b="0" i="0">
                <a:solidFill>
                  <a:srgbClr val="0E6B74"/>
                </a:solidFill>
                <a:latin typeface="Consolas"/>
              </a:rPr>
              <a:t>#id</a:t>
            </a:r>
            <a:r>
              <a:rPr sz="1700" b="0" i="0">
                <a:solidFill>
                  <a:srgbClr val="222831"/>
                </a:solidFill>
                <a:latin typeface="Calibri"/>
              </a:rPr>
              <a:t>). Används när resursen inte kan stå för sig själv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700" b="0" i="0">
                <a:solidFill>
                  <a:srgbClr val="222831"/>
                </a:solidFill>
                <a:latin typeface="Calibri"/>
              </a:rPr>
              <a:t>Profilen avgör vilka </a:t>
            </a:r>
            <a:r>
              <a:rPr sz="1700" b="1" i="0">
                <a:solidFill>
                  <a:srgbClr val="222831"/>
                </a:solidFill>
                <a:latin typeface="Calibri"/>
              </a:rPr>
              <a:t>måltyper</a:t>
            </a:r>
            <a:r>
              <a:rPr sz="1700" b="0" i="0">
                <a:solidFill>
                  <a:srgbClr val="222831"/>
                </a:solidFill>
                <a:latin typeface="Calibri"/>
              </a:rPr>
              <a:t> som är tillåtna: </a:t>
            </a:r>
            <a:r>
              <a:rPr sz="1600" b="0" i="0">
                <a:solidFill>
                  <a:srgbClr val="0E6B74"/>
                </a:solidFill>
                <a:latin typeface="Consolas"/>
              </a:rPr>
              <a:t>Reference(EducationPatient)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Kodade värden och terminologi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43584"/>
            <a:ext cx="11094415" cy="0"/>
          </a:xfrm>
          <a:prstGeom prst="line">
            <a:avLst/>
          </a:prstGeom>
          <a:ln w="12700">
            <a:solidFill>
              <a:srgbClr val="D5DA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B6577"/>
                </a:solidFill>
                <a:latin typeface="Calibri"/>
              </a:rPr>
              <a:t>FHIR i praktiken  ·  Modul 1 – Läsa en FHIR-resurs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B6577"/>
                </a:solidFill>
                <a:latin typeface="Calibri"/>
              </a:rPr>
              <a:t>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08760"/>
            <a:ext cx="3017520" cy="1463040"/>
          </a:xfrm>
          <a:prstGeom prst="roundRect">
            <a:avLst>
              <a:gd name="adj" fmla="val 12000"/>
            </a:avLst>
          </a:prstGeom>
          <a:solidFill>
            <a:srgbClr val="D9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i="0">
                <a:solidFill>
                  <a:srgbClr val="222831"/>
                </a:solidFill>
                <a:latin typeface="Calibri"/>
              </a:rPr>
              <a:t>CodeSystem</a:t>
            </a:r>
          </a:p>
          <a:p>
            <a:pPr algn="ctr"/>
            <a:r>
              <a:rPr sz="1500" b="0" i="0">
                <a:solidFill>
                  <a:srgbClr val="222831"/>
                </a:solidFill>
                <a:latin typeface="Calibri"/>
              </a:rPr>
              <a:t>Definierar koder</a:t>
            </a:r>
          </a:p>
          <a:p>
            <a:pPr algn="ctr"/>
            <a:r>
              <a:rPr sz="1500" b="0" i="0">
                <a:solidFill>
                  <a:srgbClr val="222831"/>
                </a:solidFill>
                <a:latin typeface="Calibri"/>
              </a:rPr>
              <a:t>SNOMED CT, ICD-10, LOINC,</a:t>
            </a:r>
          </a:p>
          <a:p>
            <a:pPr algn="ctr"/>
            <a:r>
              <a:rPr sz="1500" b="0" i="0">
                <a:solidFill>
                  <a:srgbClr val="222831"/>
                </a:solidFill>
                <a:latin typeface="Calibri"/>
              </a:rPr>
              <a:t>lokala kodverk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0" y="1508760"/>
            <a:ext cx="3017520" cy="1463040"/>
          </a:xfrm>
          <a:prstGeom prst="roundRect">
            <a:avLst>
              <a:gd name="adj" fmla="val 12000"/>
            </a:avLst>
          </a:prstGeom>
          <a:solidFill>
            <a:srgbClr val="D9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i="0">
                <a:solidFill>
                  <a:srgbClr val="222831"/>
                </a:solidFill>
                <a:latin typeface="Calibri"/>
              </a:rPr>
              <a:t>ValueSet</a:t>
            </a:r>
          </a:p>
          <a:p>
            <a:pPr algn="ctr"/>
            <a:r>
              <a:rPr sz="1500" b="0" i="0">
                <a:solidFill>
                  <a:srgbClr val="222831"/>
                </a:solidFill>
                <a:latin typeface="Calibri"/>
              </a:rPr>
              <a:t>Väljer ut koder för</a:t>
            </a:r>
          </a:p>
          <a:p>
            <a:pPr algn="ctr"/>
            <a:r>
              <a:rPr sz="1500" b="0" i="0">
                <a:solidFill>
                  <a:srgbClr val="222831"/>
                </a:solidFill>
                <a:latin typeface="Calibri"/>
              </a:rPr>
              <a:t>ett syfte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80960" y="1508760"/>
            <a:ext cx="3931920" cy="1463040"/>
          </a:xfrm>
          <a:prstGeom prst="roundRect">
            <a:avLst>
              <a:gd name="adj" fmla="val 12000"/>
            </a:avLst>
          </a:prstGeom>
          <a:solidFill>
            <a:srgbClr val="FC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i="0">
                <a:solidFill>
                  <a:srgbClr val="222831"/>
                </a:solidFill>
                <a:latin typeface="Calibri"/>
              </a:rPr>
              <a:t>Element i resurs</a:t>
            </a:r>
          </a:p>
          <a:p>
            <a:pPr algn="ctr"/>
            <a:r>
              <a:rPr sz="1400" b="0" i="0">
                <a:solidFill>
                  <a:srgbClr val="0E6B74"/>
                </a:solidFill>
                <a:latin typeface="Consolas"/>
              </a:rPr>
              <a:t>Encounter.type</a:t>
            </a:r>
          </a:p>
          <a:p>
            <a:pPr algn="ctr"/>
            <a:r>
              <a:rPr sz="1500" b="0" i="0">
                <a:solidFill>
                  <a:srgbClr val="222831"/>
                </a:solidFill>
                <a:latin typeface="Calibri"/>
              </a:rPr>
              <a:t>binds till ett ValueSet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611880" y="2240280"/>
            <a:ext cx="457200" cy="0"/>
          </a:xfrm>
          <a:prstGeom prst="line">
            <a:avLst/>
          </a:prstGeom>
          <a:ln w="25400">
            <a:solidFill>
              <a:srgbClr val="5B657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178040" y="2240280"/>
            <a:ext cx="457200" cy="0"/>
          </a:xfrm>
          <a:prstGeom prst="line">
            <a:avLst/>
          </a:prstGeom>
          <a:ln w="25400">
            <a:solidFill>
              <a:srgbClr val="5B657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3429000" y="1874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>
                <a:solidFill>
                  <a:srgbClr val="5B6577"/>
                </a:solidFill>
                <a:latin typeface="Calibri"/>
              </a:rPr>
              <a:t>include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874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>
                <a:solidFill>
                  <a:srgbClr val="5B6577"/>
                </a:solidFill>
                <a:latin typeface="Calibri"/>
              </a:rPr>
              <a:t>binding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337560"/>
            <a:ext cx="11094415" cy="2834640"/>
          </a:xfrm>
          <a:prstGeom prst="rect">
            <a:avLst/>
          </a:prstGeom>
          <a:solidFill>
            <a:srgbClr val="F4F6F8"/>
          </a:solidFill>
          <a:ln w="9525">
            <a:solidFill>
              <a:srgbClr val="D5D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01168" tIns="91440"/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A64B00"/>
                </a:solidFill>
                <a:latin typeface="Consolas"/>
              </a:rPr>
              <a:t>"gender"</a:t>
            </a:r>
            <a:r>
              <a:rPr sz="1400" b="0" i="0">
                <a:solidFill>
                  <a:srgbClr val="222831"/>
                </a:solidFill>
                <a:latin typeface="Consolas"/>
              </a:rPr>
              <a:t>: </a:t>
            </a:r>
            <a:r>
              <a:rPr sz="1400" b="0" i="0">
                <a:solidFill>
                  <a:srgbClr val="A64B00"/>
                </a:solidFill>
                <a:latin typeface="Consolas"/>
              </a:rPr>
              <a:t>"male"</a:t>
            </a:r>
            <a:r>
              <a:rPr sz="1400" b="0" i="0">
                <a:solidFill>
                  <a:srgbClr val="222831"/>
                </a:solidFill>
                <a:latin typeface="Consolas"/>
              </a:rPr>
              <a:t>,                          </a:t>
            </a:r>
            <a:r>
              <a:rPr sz="1400" b="0" i="0">
                <a:solidFill>
                  <a:srgbClr val="6A737D"/>
                </a:solidFill>
                <a:latin typeface="Consolas"/>
              </a:rPr>
              <a:t>// code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22831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A64B00"/>
                </a:solidFill>
                <a:latin typeface="Consolas"/>
              </a:rPr>
              <a:t>"class"</a:t>
            </a:r>
            <a:r>
              <a:rPr sz="1400" b="0" i="0">
                <a:solidFill>
                  <a:srgbClr val="222831"/>
                </a:solidFill>
                <a:latin typeface="Consolas"/>
              </a:rPr>
              <a:t>: {                                 </a:t>
            </a:r>
            <a:r>
              <a:rPr sz="1400" b="0" i="0">
                <a:solidFill>
                  <a:srgbClr val="6A737D"/>
                </a:solidFill>
                <a:latin typeface="Consolas"/>
              </a:rPr>
              <a:t>// Coding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22831"/>
                </a:solidFill>
                <a:latin typeface="Consolas"/>
              </a:rPr>
              <a:t>  </a:t>
            </a:r>
            <a:r>
              <a:rPr sz="1400" b="0" i="0">
                <a:solidFill>
                  <a:srgbClr val="A64B00"/>
                </a:solidFill>
                <a:latin typeface="Consolas"/>
              </a:rPr>
              <a:t>"system"</a:t>
            </a:r>
            <a:r>
              <a:rPr sz="1400" b="0" i="0">
                <a:solidFill>
                  <a:srgbClr val="222831"/>
                </a:solidFill>
                <a:latin typeface="Consolas"/>
              </a:rPr>
              <a:t>: </a:t>
            </a:r>
            <a:r>
              <a:rPr sz="1400" b="0" i="0">
                <a:solidFill>
                  <a:srgbClr val="A64B00"/>
                </a:solidFill>
                <a:latin typeface="Consolas"/>
              </a:rPr>
              <a:t>"http://terminology.hl7.org/CodeSystem/v3-ActCode"</a:t>
            </a:r>
            <a:r>
              <a:rPr sz="1400" b="0" i="0">
                <a:solidFill>
                  <a:srgbClr val="222831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22831"/>
                </a:solidFill>
                <a:latin typeface="Consolas"/>
              </a:rPr>
              <a:t>  </a:t>
            </a:r>
            <a:r>
              <a:rPr sz="1400" b="0" i="0">
                <a:solidFill>
                  <a:srgbClr val="A64B00"/>
                </a:solidFill>
                <a:latin typeface="Consolas"/>
              </a:rPr>
              <a:t>"code"</a:t>
            </a:r>
            <a:r>
              <a:rPr sz="1400" b="0" i="0">
                <a:solidFill>
                  <a:srgbClr val="222831"/>
                </a:solidFill>
                <a:latin typeface="Consolas"/>
              </a:rPr>
              <a:t>: </a:t>
            </a:r>
            <a:r>
              <a:rPr sz="1400" b="0" i="0">
                <a:solidFill>
                  <a:srgbClr val="A64B00"/>
                </a:solidFill>
                <a:latin typeface="Consolas"/>
              </a:rPr>
              <a:t>"AMB"</a:t>
            </a:r>
            <a:r>
              <a:rPr sz="1400" b="0" i="0">
                <a:solidFill>
                  <a:srgbClr val="222831"/>
                </a:solidFill>
                <a:latin typeface="Consolas"/>
              </a:rPr>
              <a:t>, </a:t>
            </a:r>
            <a:r>
              <a:rPr sz="1400" b="0" i="0">
                <a:solidFill>
                  <a:srgbClr val="A64B00"/>
                </a:solidFill>
                <a:latin typeface="Consolas"/>
              </a:rPr>
              <a:t>"display"</a:t>
            </a:r>
            <a:r>
              <a:rPr sz="1400" b="0" i="0">
                <a:solidFill>
                  <a:srgbClr val="222831"/>
                </a:solidFill>
                <a:latin typeface="Consolas"/>
              </a:rPr>
              <a:t>: </a:t>
            </a:r>
            <a:r>
              <a:rPr sz="1400" b="0" i="0">
                <a:solidFill>
                  <a:srgbClr val="A64B00"/>
                </a:solidFill>
                <a:latin typeface="Consolas"/>
              </a:rPr>
              <a:t>"ambulatory"</a:t>
            </a:r>
            <a:r>
              <a:rPr sz="1400" b="0" i="0">
                <a:solidFill>
                  <a:srgbClr val="222831"/>
                </a:solidFill>
                <a:latin typeface="Consolas"/>
              </a:rPr>
              <a:t> },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22831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A64B00"/>
                </a:solidFill>
                <a:latin typeface="Consolas"/>
              </a:rPr>
              <a:t>"maritalStatus"</a:t>
            </a:r>
            <a:r>
              <a:rPr sz="1400" b="0" i="0">
                <a:solidFill>
                  <a:srgbClr val="222831"/>
                </a:solidFill>
                <a:latin typeface="Consolas"/>
              </a:rPr>
              <a:t>: {                          </a:t>
            </a:r>
            <a:r>
              <a:rPr sz="1400" b="0" i="0">
                <a:solidFill>
                  <a:srgbClr val="6A737D"/>
                </a:solidFill>
                <a:latin typeface="Consolas"/>
              </a:rPr>
              <a:t>// CodeableConcept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22831"/>
                </a:solidFill>
                <a:latin typeface="Consolas"/>
              </a:rPr>
              <a:t>  </a:t>
            </a:r>
            <a:r>
              <a:rPr sz="1400" b="0" i="0">
                <a:solidFill>
                  <a:srgbClr val="A64B00"/>
                </a:solidFill>
                <a:latin typeface="Consolas"/>
              </a:rPr>
              <a:t>"coding"</a:t>
            </a:r>
            <a:r>
              <a:rPr sz="1400" b="0" i="0">
                <a:solidFill>
                  <a:srgbClr val="222831"/>
                </a:solidFill>
                <a:latin typeface="Consolas"/>
              </a:rPr>
              <a:t>: [ { </a:t>
            </a:r>
            <a:r>
              <a:rPr sz="1400" b="0" i="0">
                <a:solidFill>
                  <a:srgbClr val="A64B00"/>
                </a:solidFill>
                <a:latin typeface="Consolas"/>
              </a:rPr>
              <a:t>"system"</a:t>
            </a:r>
            <a:r>
              <a:rPr sz="1400" b="0" i="0">
                <a:solidFill>
                  <a:srgbClr val="222831"/>
                </a:solidFill>
                <a:latin typeface="Consolas"/>
              </a:rPr>
              <a:t>: </a:t>
            </a:r>
            <a:r>
              <a:rPr sz="1400" b="0" i="0">
                <a:solidFill>
                  <a:srgbClr val="A64B00"/>
                </a:solidFill>
                <a:latin typeface="Consolas"/>
              </a:rPr>
              <a:t>"http://terminology.hl7.org/CodeSystem/v3-MaritalStatus"</a:t>
            </a:r>
            <a:r>
              <a:rPr sz="1400" b="0" i="0">
                <a:solidFill>
                  <a:srgbClr val="222831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22831"/>
                </a:solidFill>
                <a:latin typeface="Consolas"/>
              </a:rPr>
              <a:t>                </a:t>
            </a:r>
            <a:r>
              <a:rPr sz="1400" b="0" i="0">
                <a:solidFill>
                  <a:srgbClr val="A64B00"/>
                </a:solidFill>
                <a:latin typeface="Consolas"/>
              </a:rPr>
              <a:t>"code"</a:t>
            </a:r>
            <a:r>
              <a:rPr sz="1400" b="0" i="0">
                <a:solidFill>
                  <a:srgbClr val="222831"/>
                </a:solidFill>
                <a:latin typeface="Consolas"/>
              </a:rPr>
              <a:t>: </a:t>
            </a:r>
            <a:r>
              <a:rPr sz="1400" b="0" i="0">
                <a:solidFill>
                  <a:srgbClr val="A64B00"/>
                </a:solidFill>
                <a:latin typeface="Consolas"/>
              </a:rPr>
              <a:t>"W"</a:t>
            </a:r>
            <a:r>
              <a:rPr sz="1400" b="0" i="0">
                <a:solidFill>
                  <a:srgbClr val="222831"/>
                </a:solidFill>
                <a:latin typeface="Consolas"/>
              </a:rPr>
              <a:t>, </a:t>
            </a:r>
            <a:r>
              <a:rPr sz="1400" b="0" i="0">
                <a:solidFill>
                  <a:srgbClr val="A64B00"/>
                </a:solidFill>
                <a:latin typeface="Consolas"/>
              </a:rPr>
              <a:t>"display"</a:t>
            </a:r>
            <a:r>
              <a:rPr sz="1400" b="0" i="0">
                <a:solidFill>
                  <a:srgbClr val="222831"/>
                </a:solidFill>
                <a:latin typeface="Consolas"/>
              </a:rPr>
              <a:t>: </a:t>
            </a:r>
            <a:r>
              <a:rPr sz="1400" b="0" i="0">
                <a:solidFill>
                  <a:srgbClr val="A64B00"/>
                </a:solidFill>
                <a:latin typeface="Consolas"/>
              </a:rPr>
              <a:t>"Widowed"</a:t>
            </a:r>
            <a:r>
              <a:rPr sz="1400" b="0" i="0">
                <a:solidFill>
                  <a:srgbClr val="222831"/>
                </a:solidFill>
                <a:latin typeface="Consolas"/>
              </a:rPr>
              <a:t> } ],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22831"/>
                </a:solidFill>
                <a:latin typeface="Consolas"/>
              </a:rPr>
              <a:t>  </a:t>
            </a:r>
            <a:r>
              <a:rPr sz="1400" b="0" i="0">
                <a:solidFill>
                  <a:srgbClr val="A64B00"/>
                </a:solidFill>
                <a:latin typeface="Consolas"/>
              </a:rPr>
              <a:t>"text"</a:t>
            </a:r>
            <a:r>
              <a:rPr sz="1400" b="0" i="0">
                <a:solidFill>
                  <a:srgbClr val="222831"/>
                </a:solidFill>
                <a:latin typeface="Consolas"/>
              </a:rPr>
              <a:t>: </a:t>
            </a:r>
            <a:r>
              <a:rPr sz="1400" b="0" i="0">
                <a:solidFill>
                  <a:srgbClr val="A64B00"/>
                </a:solidFill>
                <a:latin typeface="Consolas"/>
              </a:rPr>
              <a:t>"Änkling"</a:t>
            </a:r>
            <a:r>
              <a:rPr sz="1400" b="0" i="0">
                <a:solidFill>
                  <a:srgbClr val="222831"/>
                </a:solidFill>
                <a:latin typeface="Consolas"/>
              </a:rPr>
              <a:t> 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337560"/>
            <a:ext cx="54864" cy="283464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Bindningsstyrkor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43584"/>
            <a:ext cx="11094415" cy="0"/>
          </a:xfrm>
          <a:prstGeom prst="line">
            <a:avLst/>
          </a:prstGeom>
          <a:ln w="12700">
            <a:solidFill>
              <a:srgbClr val="D5DA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B6577"/>
                </a:solidFill>
                <a:latin typeface="Calibri"/>
              </a:rPr>
              <a:t>FHIR i praktiken  ·  Modul 1 – Läsa en FHIR-resurs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B6577"/>
                </a:solidFill>
                <a:latin typeface="Calibri"/>
              </a:rPr>
              <a:t>14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17320"/>
          <a:ext cx="11094414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64162"/>
                <a:gridCol w="5732114"/>
                <a:gridCol w="3698138"/>
              </a:tblGrid>
              <a:tr h="640080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Styrka</a:t>
                      </a:r>
                    </a:p>
                  </a:txBody>
                  <a:tcPr marL="73152" marR="73152" marT="36576" marB="36576" anchor="ctr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Betydelse</a:t>
                      </a:r>
                    </a:p>
                  </a:txBody>
                  <a:tcPr marL="73152" marR="73152" marT="36576" marB="36576" anchor="ctr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Exempel i R4</a:t>
                      </a:r>
                    </a:p>
                  </a:txBody>
                  <a:tcPr marL="73152" marR="73152" marT="36576" marB="36576" anchor="ctr">
                    <a:solidFill>
                      <a:srgbClr val="1B2A4A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222831"/>
                          </a:solidFill>
                          <a:latin typeface="Calibri"/>
                        </a:rPr>
                        <a:t>required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22831"/>
                          </a:solidFill>
                          <a:latin typeface="Calibri"/>
                        </a:rPr>
                        <a:t>Koden MÅSTE komma från värdemängden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0E6B74"/>
                          </a:solidFill>
                          <a:latin typeface="Consolas"/>
                        </a:rPr>
                        <a:t>Patient.gender</a:t>
                      </a:r>
                      <a:r>
                        <a:rPr sz="1600" b="0" i="0">
                          <a:solidFill>
                            <a:srgbClr val="222831"/>
                          </a:solidFill>
                          <a:latin typeface="Calibri"/>
                        </a:rPr>
                        <a:t>, </a:t>
                      </a:r>
                      <a:r>
                        <a:rPr sz="1500" b="0" i="0">
                          <a:solidFill>
                            <a:srgbClr val="0E6B74"/>
                          </a:solidFill>
                          <a:latin typeface="Consolas"/>
                        </a:rPr>
                        <a:t>Encounter.status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222831"/>
                          </a:solidFill>
                          <a:latin typeface="Calibri"/>
                        </a:rPr>
                        <a:t>extensible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22831"/>
                          </a:solidFill>
                          <a:latin typeface="Calibri"/>
                        </a:rPr>
                        <a:t>Använd en kod härifrån om det finns en som passar, annars får annan kod användas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0E6B74"/>
                          </a:solidFill>
                          <a:latin typeface="Consolas"/>
                        </a:rPr>
                        <a:t>Patient.maritalStatus</a:t>
                      </a:r>
                      <a:r>
                        <a:rPr sz="1600" b="0" i="0">
                          <a:solidFill>
                            <a:srgbClr val="222831"/>
                          </a:solidFill>
                          <a:latin typeface="Calibri"/>
                        </a:rPr>
                        <a:t>, </a:t>
                      </a:r>
                      <a:r>
                        <a:rPr sz="1500" b="0" i="0">
                          <a:solidFill>
                            <a:srgbClr val="0E6B74"/>
                          </a:solidFill>
                          <a:latin typeface="Consolas"/>
                        </a:rPr>
                        <a:t>Encounter.class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222831"/>
                          </a:solidFill>
                          <a:latin typeface="Calibri"/>
                        </a:rPr>
                        <a:t>preferred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22831"/>
                          </a:solidFill>
                          <a:latin typeface="Calibri"/>
                        </a:rPr>
                        <a:t>Rekommenderad värdemängd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0E6B74"/>
                          </a:solidFill>
                          <a:latin typeface="Consolas"/>
                        </a:rPr>
                        <a:t>Patient.communication.language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222831"/>
                          </a:solidFill>
                          <a:latin typeface="Calibri"/>
                        </a:rPr>
                        <a:t>example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22831"/>
                          </a:solidFill>
                          <a:latin typeface="Calibri"/>
                        </a:rPr>
                        <a:t>Bara ett exempel på möjliga koder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0E6B74"/>
                          </a:solidFill>
                          <a:latin typeface="Consolas"/>
                        </a:rPr>
                        <a:t>Encounter.type</a:t>
                      </a:r>
                      <a:r>
                        <a:rPr sz="1600" b="0" i="0">
                          <a:solidFill>
                            <a:srgbClr val="222831"/>
                          </a:solidFill>
                          <a:latin typeface="Calibri"/>
                        </a:rPr>
                        <a:t>, </a:t>
                      </a:r>
                      <a:r>
                        <a:rPr sz="1500" b="0" i="0">
                          <a:solidFill>
                            <a:srgbClr val="0E6B74"/>
                          </a:solidFill>
                          <a:latin typeface="Consolas"/>
                        </a:rPr>
                        <a:t>Encounter.reasonCode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48640" y="4892040"/>
            <a:ext cx="11094415" cy="640080"/>
          </a:xfrm>
          <a:prstGeom prst="rect">
            <a:avLst/>
          </a:prstGeom>
          <a:solidFill>
            <a:srgbClr val="D9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/>
          <a:lstStyle/>
          <a:p>
            <a:pPr algn="l"/>
            <a:r>
              <a:rPr sz="1700" b="0" i="0">
                <a:solidFill>
                  <a:srgbClr val="222831"/>
                </a:solidFill>
                <a:latin typeface="Calibri"/>
              </a:rPr>
              <a:t>I en profil får en bindning </a:t>
            </a:r>
            <a:r>
              <a:rPr sz="1700" b="1" i="0">
                <a:solidFill>
                  <a:srgbClr val="222831"/>
                </a:solidFill>
                <a:latin typeface="Calibri"/>
              </a:rPr>
              <a:t>skärpas</a:t>
            </a:r>
            <a:r>
              <a:rPr sz="1700" b="0" i="0">
                <a:solidFill>
                  <a:srgbClr val="222831"/>
                </a:solidFill>
                <a:latin typeface="Calibri"/>
              </a:rPr>
              <a:t> (example → extensible → required) men </a:t>
            </a:r>
            <a:r>
              <a:rPr sz="1700" b="1" i="0">
                <a:solidFill>
                  <a:srgbClr val="222831"/>
                </a:solidFill>
                <a:latin typeface="Calibri"/>
              </a:rPr>
              <a:t>aldrig</a:t>
            </a:r>
            <a:r>
              <a:rPr sz="1700" b="0" i="0">
                <a:solidFill>
                  <a:srgbClr val="222831"/>
                </a:solidFill>
                <a:latin typeface="Calibri"/>
              </a:rPr>
              <a:t> lättas upp.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4892040"/>
            <a:ext cx="64008" cy="64008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Extensions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43584"/>
            <a:ext cx="11094415" cy="0"/>
          </a:xfrm>
          <a:prstGeom prst="line">
            <a:avLst/>
          </a:prstGeom>
          <a:ln w="12700">
            <a:solidFill>
              <a:srgbClr val="D5DA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B6577"/>
                </a:solidFill>
                <a:latin typeface="Calibri"/>
              </a:rPr>
              <a:t>FHIR i praktiken  ·  Modul 1 – Läsa en FHIR-resurs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B6577"/>
                </a:solidFill>
                <a:latin typeface="Calibri"/>
              </a:rPr>
              <a:t>15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25880"/>
            <a:ext cx="7315200" cy="4069080"/>
          </a:xfrm>
          <a:prstGeom prst="rect">
            <a:avLst/>
          </a:prstGeom>
          <a:solidFill>
            <a:srgbClr val="F4F6F8"/>
          </a:solidFill>
          <a:ln w="9525">
            <a:solidFill>
              <a:srgbClr val="D5D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01168" tIns="91440"/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222831"/>
                </a:solidFill>
                <a:latin typeface="Consolas"/>
              </a:rPr>
              <a:t/>
            </a:r>
            <a:r>
              <a:rPr sz="1150" b="0" i="0">
                <a:solidFill>
                  <a:srgbClr val="0E6B74"/>
                </a:solidFill>
                <a:latin typeface="Consolas"/>
              </a:rPr>
              <a:t>"extension"</a:t>
            </a:r>
            <a:r>
              <a:rPr sz="1150" b="0" i="0">
                <a:solidFill>
                  <a:srgbClr val="222831"/>
                </a:solidFill>
                <a:latin typeface="Consolas"/>
              </a:rPr>
              <a:t>:</a:t>
            </a:r>
            <a:r>
              <a:rPr sz="1150" b="0" i="0">
                <a:solidFill>
                  <a:srgbClr val="222831"/>
                </a:solidFill>
                <a:latin typeface="Consolas"/>
              </a:rPr>
              <a:t> [</a:t>
            </a:r>
          </a:p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222831"/>
                </a:solidFill>
                <a:latin typeface="Consolas"/>
              </a:rPr>
              <a:t>  {</a:t>
            </a:r>
          </a:p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222831"/>
                </a:solidFill>
                <a:latin typeface="Consolas"/>
              </a:rPr>
              <a:t>    </a:t>
            </a:r>
            <a:r>
              <a:rPr sz="1150" b="0" i="0">
                <a:solidFill>
                  <a:srgbClr val="0E6B74"/>
                </a:solidFill>
                <a:latin typeface="Consolas"/>
              </a:rPr>
              <a:t>"url"</a:t>
            </a:r>
            <a:r>
              <a:rPr sz="1150" b="0" i="0">
                <a:solidFill>
                  <a:srgbClr val="222831"/>
                </a:solidFill>
                <a:latin typeface="Consolas"/>
              </a:rPr>
              <a:t>:</a:t>
            </a:r>
            <a:r>
              <a:rPr sz="1150" b="0" i="0">
                <a:solidFill>
                  <a:srgbClr val="222831"/>
                </a:solidFill>
                <a:latin typeface="Consolas"/>
              </a:rPr>
              <a:t> </a:t>
            </a:r>
            <a:r>
              <a:rPr sz="1150" b="0" i="0">
                <a:solidFill>
                  <a:srgbClr val="A64B00"/>
                </a:solidFill>
                <a:latin typeface="Consolas"/>
              </a:rPr>
              <a:t>"http://hl7.org/fhir/StructureDefinition/patient-interpreterRequired"</a:t>
            </a:r>
            <a:r>
              <a:rPr sz="1150" b="0" i="0">
                <a:solidFill>
                  <a:srgbClr val="222831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222831"/>
                </a:solidFill>
                <a:latin typeface="Consolas"/>
              </a:rPr>
              <a:t>    </a:t>
            </a:r>
            <a:r>
              <a:rPr sz="1150" b="0" i="0">
                <a:solidFill>
                  <a:srgbClr val="0E6B74"/>
                </a:solidFill>
                <a:latin typeface="Consolas"/>
              </a:rPr>
              <a:t>"valueBoolean"</a:t>
            </a:r>
            <a:r>
              <a:rPr sz="1150" b="0" i="0">
                <a:solidFill>
                  <a:srgbClr val="222831"/>
                </a:solidFill>
                <a:latin typeface="Consolas"/>
              </a:rPr>
              <a:t>:</a:t>
            </a:r>
            <a:r>
              <a:rPr sz="1150" b="0" i="0">
                <a:solidFill>
                  <a:srgbClr val="222831"/>
                </a:solidFill>
                <a:latin typeface="Consolas"/>
              </a:rPr>
              <a:t> true</a:t>
            </a:r>
          </a:p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222831"/>
                </a:solidFill>
                <a:latin typeface="Consolas"/>
              </a:rPr>
              <a:t>  },</a:t>
            </a:r>
          </a:p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222831"/>
                </a:solidFill>
                <a:latin typeface="Consolas"/>
              </a:rPr>
              <a:t>  {</a:t>
            </a:r>
          </a:p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222831"/>
                </a:solidFill>
                <a:latin typeface="Consolas"/>
              </a:rPr>
              <a:t>    </a:t>
            </a:r>
            <a:r>
              <a:rPr sz="1150" b="0" i="0">
                <a:solidFill>
                  <a:srgbClr val="0E6B74"/>
                </a:solidFill>
                <a:latin typeface="Consolas"/>
              </a:rPr>
              <a:t>"url"</a:t>
            </a:r>
            <a:r>
              <a:rPr sz="1150" b="0" i="0">
                <a:solidFill>
                  <a:srgbClr val="222831"/>
                </a:solidFill>
                <a:latin typeface="Consolas"/>
              </a:rPr>
              <a:t>:</a:t>
            </a:r>
            <a:r>
              <a:rPr sz="1150" b="0" i="0">
                <a:solidFill>
                  <a:srgbClr val="222831"/>
                </a:solidFill>
                <a:latin typeface="Consolas"/>
              </a:rPr>
              <a:t> </a:t>
            </a:r>
            <a:r>
              <a:rPr sz="1150" b="0" i="0">
                <a:solidFill>
                  <a:srgbClr val="A64B00"/>
                </a:solidFill>
                <a:latin typeface="Consolas"/>
              </a:rPr>
              <a:t>"http://hl7.org/fhir/StructureDefinition/patient-nationality"</a:t>
            </a:r>
            <a:r>
              <a:rPr sz="1150" b="0" i="0">
                <a:solidFill>
                  <a:srgbClr val="222831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222831"/>
                </a:solidFill>
                <a:latin typeface="Consolas"/>
              </a:rPr>
              <a:t>    </a:t>
            </a:r>
            <a:r>
              <a:rPr sz="1150" b="0" i="0">
                <a:solidFill>
                  <a:srgbClr val="0E6B74"/>
                </a:solidFill>
                <a:latin typeface="Consolas"/>
              </a:rPr>
              <a:t>"extension"</a:t>
            </a:r>
            <a:r>
              <a:rPr sz="1150" b="0" i="0">
                <a:solidFill>
                  <a:srgbClr val="222831"/>
                </a:solidFill>
                <a:latin typeface="Consolas"/>
              </a:rPr>
              <a:t>:</a:t>
            </a:r>
            <a:r>
              <a:rPr sz="1150" b="0" i="0">
                <a:solidFill>
                  <a:srgbClr val="222831"/>
                </a:solidFill>
                <a:latin typeface="Consolas"/>
              </a:rPr>
              <a:t> [</a:t>
            </a:r>
          </a:p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222831"/>
                </a:solidFill>
                <a:latin typeface="Consolas"/>
              </a:rPr>
              <a:t>      { </a:t>
            </a:r>
            <a:r>
              <a:rPr sz="1150" b="0" i="0">
                <a:solidFill>
                  <a:srgbClr val="A64B00"/>
                </a:solidFill>
                <a:latin typeface="Consolas"/>
              </a:rPr>
              <a:t>"url"</a:t>
            </a:r>
            <a:r>
              <a:rPr sz="1150" b="0" i="0">
                <a:solidFill>
                  <a:srgbClr val="222831"/>
                </a:solidFill>
                <a:latin typeface="Consolas"/>
              </a:rPr>
              <a:t>: </a:t>
            </a:r>
            <a:r>
              <a:rPr sz="1150" b="0" i="0">
                <a:solidFill>
                  <a:srgbClr val="A64B00"/>
                </a:solidFill>
                <a:latin typeface="Consolas"/>
              </a:rPr>
              <a:t>"code"</a:t>
            </a:r>
            <a:r>
              <a:rPr sz="1150" b="0" i="0">
                <a:solidFill>
                  <a:srgbClr val="222831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222831"/>
                </a:solidFill>
                <a:latin typeface="Consolas"/>
              </a:rPr>
              <a:t>        </a:t>
            </a:r>
            <a:r>
              <a:rPr sz="1150" b="0" i="0">
                <a:solidFill>
                  <a:srgbClr val="0E6B74"/>
                </a:solidFill>
                <a:latin typeface="Consolas"/>
              </a:rPr>
              <a:t>"valueCodeableConcept"</a:t>
            </a:r>
            <a:r>
              <a:rPr sz="1150" b="0" i="0">
                <a:solidFill>
                  <a:srgbClr val="222831"/>
                </a:solidFill>
                <a:latin typeface="Consolas"/>
              </a:rPr>
              <a:t>:</a:t>
            </a:r>
            <a:r>
              <a:rPr sz="1150" b="0" i="0">
                <a:solidFill>
                  <a:srgbClr val="222831"/>
                </a:solidFill>
                <a:latin typeface="Consolas"/>
              </a:rPr>
              <a:t> { </a:t>
            </a:r>
            <a:r>
              <a:rPr sz="1150" b="0" i="0">
                <a:solidFill>
                  <a:srgbClr val="A64B00"/>
                </a:solidFill>
                <a:latin typeface="Consolas"/>
              </a:rPr>
              <a:t>"coding"</a:t>
            </a:r>
            <a:r>
              <a:rPr sz="1150" b="0" i="0">
                <a:solidFill>
                  <a:srgbClr val="222831"/>
                </a:solidFill>
                <a:latin typeface="Consolas"/>
              </a:rPr>
              <a:t>: [ { </a:t>
            </a:r>
            <a:r>
              <a:rPr sz="1150" b="0" i="0">
                <a:solidFill>
                  <a:srgbClr val="A64B00"/>
                </a:solidFill>
                <a:latin typeface="Consolas"/>
              </a:rPr>
              <a:t>"code"</a:t>
            </a:r>
            <a:r>
              <a:rPr sz="1150" b="0" i="0">
                <a:solidFill>
                  <a:srgbClr val="222831"/>
                </a:solidFill>
                <a:latin typeface="Consolas"/>
              </a:rPr>
              <a:t>: </a:t>
            </a:r>
            <a:r>
              <a:rPr sz="1150" b="0" i="0">
                <a:solidFill>
                  <a:srgbClr val="A64B00"/>
                </a:solidFill>
                <a:latin typeface="Consolas"/>
              </a:rPr>
              <a:t>"SE"</a:t>
            </a:r>
            <a:r>
              <a:rPr sz="1150" b="0" i="0">
                <a:solidFill>
                  <a:srgbClr val="222831"/>
                </a:solidFill>
                <a:latin typeface="Consolas"/>
              </a:rPr>
              <a:t>, ... } ] } }</a:t>
            </a:r>
          </a:p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222831"/>
                </a:solidFill>
                <a:latin typeface="Consolas"/>
              </a:rPr>
              <a:t>    ]</a:t>
            </a:r>
          </a:p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222831"/>
                </a:solidFill>
                <a:latin typeface="Consolas"/>
              </a:rPr>
              <a:t>  }</a:t>
            </a:r>
          </a:p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222831"/>
                </a:solidFill>
                <a:latin typeface="Consolas"/>
              </a:rPr>
              <a:t>],</a:t>
            </a:r>
          </a:p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222831"/>
                </a:solidFill>
                <a:latin typeface="Consolas"/>
              </a:rPr>
              <a:t/>
            </a:r>
            <a:r>
              <a:rPr sz="1150" b="0" i="0">
                <a:solidFill>
                  <a:srgbClr val="0E6B74"/>
                </a:solidFill>
                <a:latin typeface="Consolas"/>
              </a:rPr>
              <a:t>"birthDate"</a:t>
            </a:r>
            <a:r>
              <a:rPr sz="1150" b="0" i="0">
                <a:solidFill>
                  <a:srgbClr val="222831"/>
                </a:solidFill>
                <a:latin typeface="Consolas"/>
              </a:rPr>
              <a:t>:</a:t>
            </a:r>
            <a:r>
              <a:rPr sz="1150" b="0" i="0">
                <a:solidFill>
                  <a:srgbClr val="222831"/>
                </a:solidFill>
                <a:latin typeface="Consolas"/>
              </a:rPr>
              <a:t> </a:t>
            </a:r>
            <a:r>
              <a:rPr sz="1150" b="0" i="0">
                <a:solidFill>
                  <a:srgbClr val="A64B00"/>
                </a:solidFill>
                <a:latin typeface="Consolas"/>
              </a:rPr>
              <a:t>"1912-12-12"</a:t>
            </a:r>
            <a:r>
              <a:rPr sz="1150" b="0" i="0">
                <a:solidFill>
                  <a:srgbClr val="222831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222831"/>
                </a:solidFill>
                <a:latin typeface="Consolas"/>
              </a:rPr>
              <a:t/>
            </a:r>
            <a:r>
              <a:rPr sz="1150" b="0" i="0">
                <a:solidFill>
                  <a:srgbClr val="0E6B74"/>
                </a:solidFill>
                <a:latin typeface="Consolas"/>
              </a:rPr>
              <a:t>"_birthDate"</a:t>
            </a:r>
            <a:r>
              <a:rPr sz="1150" b="0" i="0">
                <a:solidFill>
                  <a:srgbClr val="222831"/>
                </a:solidFill>
                <a:latin typeface="Consolas"/>
              </a:rPr>
              <a:t>:</a:t>
            </a:r>
            <a:r>
              <a:rPr sz="1150" b="0" i="0">
                <a:solidFill>
                  <a:srgbClr val="222831"/>
                </a:solidFill>
                <a:latin typeface="Consolas"/>
              </a:rPr>
              <a:t> {</a:t>
            </a:r>
          </a:p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222831"/>
                </a:solidFill>
                <a:latin typeface="Consolas"/>
              </a:rPr>
              <a:t>  </a:t>
            </a:r>
            <a:r>
              <a:rPr sz="1150" b="0" i="0">
                <a:solidFill>
                  <a:srgbClr val="0E6B74"/>
                </a:solidFill>
                <a:latin typeface="Consolas"/>
              </a:rPr>
              <a:t>"extension"</a:t>
            </a:r>
            <a:r>
              <a:rPr sz="1150" b="0" i="0">
                <a:solidFill>
                  <a:srgbClr val="222831"/>
                </a:solidFill>
                <a:latin typeface="Consolas"/>
              </a:rPr>
              <a:t>:</a:t>
            </a:r>
            <a:r>
              <a:rPr sz="1150" b="0" i="0">
                <a:solidFill>
                  <a:srgbClr val="222831"/>
                </a:solidFill>
                <a:latin typeface="Consolas"/>
              </a:rPr>
              <a:t> [ {</a:t>
            </a:r>
          </a:p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222831"/>
                </a:solidFill>
                <a:latin typeface="Consolas"/>
              </a:rPr>
              <a:t>    </a:t>
            </a:r>
            <a:r>
              <a:rPr sz="1150" b="0" i="0">
                <a:solidFill>
                  <a:srgbClr val="0E6B74"/>
                </a:solidFill>
                <a:latin typeface="Consolas"/>
              </a:rPr>
              <a:t>"url"</a:t>
            </a:r>
            <a:r>
              <a:rPr sz="1150" b="0" i="0">
                <a:solidFill>
                  <a:srgbClr val="222831"/>
                </a:solidFill>
                <a:latin typeface="Consolas"/>
              </a:rPr>
              <a:t>:</a:t>
            </a:r>
            <a:r>
              <a:rPr sz="1150" b="0" i="0">
                <a:solidFill>
                  <a:srgbClr val="222831"/>
                </a:solidFill>
                <a:latin typeface="Consolas"/>
              </a:rPr>
              <a:t> </a:t>
            </a:r>
            <a:r>
              <a:rPr sz="1150" b="0" i="0">
                <a:solidFill>
                  <a:srgbClr val="A64B00"/>
                </a:solidFill>
                <a:latin typeface="Consolas"/>
              </a:rPr>
              <a:t>"http://hl7.org/fhir/StructureDefinition/patient-birthTime"</a:t>
            </a:r>
            <a:r>
              <a:rPr sz="1150" b="0" i="0">
                <a:solidFill>
                  <a:srgbClr val="222831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222831"/>
                </a:solidFill>
                <a:latin typeface="Consolas"/>
              </a:rPr>
              <a:t>    </a:t>
            </a:r>
            <a:r>
              <a:rPr sz="1150" b="0" i="0">
                <a:solidFill>
                  <a:srgbClr val="0E6B74"/>
                </a:solidFill>
                <a:latin typeface="Consolas"/>
              </a:rPr>
              <a:t>"valueDateTime"</a:t>
            </a:r>
            <a:r>
              <a:rPr sz="1150" b="0" i="0">
                <a:solidFill>
                  <a:srgbClr val="222831"/>
                </a:solidFill>
                <a:latin typeface="Consolas"/>
              </a:rPr>
              <a:t>:</a:t>
            </a:r>
            <a:r>
              <a:rPr sz="1150" b="0" i="0">
                <a:solidFill>
                  <a:srgbClr val="222831"/>
                </a:solidFill>
                <a:latin typeface="Consolas"/>
              </a:rPr>
              <a:t> </a:t>
            </a:r>
            <a:r>
              <a:rPr sz="1150" b="0" i="0">
                <a:solidFill>
                  <a:srgbClr val="A64B00"/>
                </a:solidFill>
                <a:latin typeface="Consolas"/>
              </a:rPr>
              <a:t>"1912-12-12T04:30:00+01:00"</a:t>
            </a:r>
            <a:r>
              <a:rPr sz="1150" b="0" i="0">
                <a:solidFill>
                  <a:srgbClr val="222831"/>
                </a:solidFill>
                <a:latin typeface="Consolas"/>
              </a:rPr>
              <a:t> } ]</a:t>
            </a:r>
          </a:p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222831"/>
                </a:solidFill>
                <a:latin typeface="Consolas"/>
              </a:rPr>
              <a:t>}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325880"/>
            <a:ext cx="54864" cy="406908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138160" y="1371600"/>
            <a:ext cx="3474720" cy="777240"/>
          </a:xfrm>
          <a:prstGeom prst="roundRect">
            <a:avLst>
              <a:gd name="adj" fmla="val 12000"/>
            </a:avLst>
          </a:prstGeom>
          <a:solidFill>
            <a:srgbClr val="D9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i="0">
                <a:solidFill>
                  <a:srgbClr val="222831"/>
                </a:solidFill>
                <a:latin typeface="Calibri"/>
              </a:rPr>
              <a:t>Enkel</a:t>
            </a:r>
          </a:p>
          <a:p>
            <a:pPr algn="ctr"/>
            <a:r>
              <a:rPr sz="1500" b="0" i="0">
                <a:solidFill>
                  <a:srgbClr val="222831"/>
                </a:solidFill>
                <a:latin typeface="Calibri"/>
              </a:rPr>
              <a:t>url + value[x]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0" y="2468880"/>
            <a:ext cx="3474720" cy="777240"/>
          </a:xfrm>
          <a:prstGeom prst="roundRect">
            <a:avLst>
              <a:gd name="adj" fmla="val 12000"/>
            </a:avLst>
          </a:prstGeom>
          <a:solidFill>
            <a:srgbClr val="D9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i="0">
                <a:solidFill>
                  <a:srgbClr val="222831"/>
                </a:solidFill>
                <a:latin typeface="Calibri"/>
              </a:rPr>
              <a:t>Komplex</a:t>
            </a:r>
          </a:p>
          <a:p>
            <a:pPr algn="ctr"/>
            <a:r>
              <a:rPr sz="1500" b="0" i="0">
                <a:solidFill>
                  <a:srgbClr val="222831"/>
                </a:solidFill>
                <a:latin typeface="Calibri"/>
              </a:rPr>
              <a:t>url + nästlade extensions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4389120"/>
            <a:ext cx="3474720" cy="777240"/>
          </a:xfrm>
          <a:prstGeom prst="roundRect">
            <a:avLst>
              <a:gd name="adj" fmla="val 12000"/>
            </a:avLst>
          </a:prstGeom>
          <a:solidFill>
            <a:srgbClr val="D9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i="0">
                <a:solidFill>
                  <a:srgbClr val="222831"/>
                </a:solidFill>
                <a:latin typeface="Calibri"/>
              </a:rPr>
              <a:t>På primitivt värde</a:t>
            </a:r>
          </a:p>
          <a:p>
            <a:pPr algn="ctr"/>
            <a:r>
              <a:rPr sz="1400" b="0" i="0">
                <a:solidFill>
                  <a:srgbClr val="0E6B74"/>
                </a:solidFill>
                <a:latin typeface="Consolas"/>
              </a:rPr>
              <a:t>_birthDate</a:t>
            </a:r>
            <a:r>
              <a:rPr sz="1500" b="0" i="0">
                <a:solidFill>
                  <a:srgbClr val="222831"/>
                </a:solidFill>
                <a:latin typeface="Calibri"/>
              </a:rPr>
              <a:t> i JSON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5486400"/>
            <a:ext cx="11094415" cy="640080"/>
          </a:xfrm>
          <a:prstGeom prst="rect">
            <a:avLst/>
          </a:prstGeom>
          <a:solidFill>
            <a:srgbClr val="FC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/>
          <a:lstStyle/>
          <a:p>
            <a:pPr algn="l"/>
            <a:r>
              <a:rPr sz="1600" b="1" i="0">
                <a:solidFill>
                  <a:srgbClr val="222831"/>
                </a:solidFill>
                <a:latin typeface="Calibri"/>
              </a:rPr>
              <a:t>modifierExtension</a:t>
            </a:r>
            <a:r>
              <a:rPr sz="1600" b="0" i="0">
                <a:solidFill>
                  <a:srgbClr val="222831"/>
                </a:solidFill>
                <a:latin typeface="Calibri"/>
              </a:rPr>
              <a:t> ändrar betydelsen av resursen och får </a:t>
            </a:r>
            <a:r>
              <a:rPr sz="1600" b="1" i="0">
                <a:solidFill>
                  <a:srgbClr val="222831"/>
                </a:solidFill>
                <a:latin typeface="Calibri"/>
              </a:rPr>
              <a:t>inte</a:t>
            </a:r>
            <a:r>
              <a:rPr sz="1600" b="0" i="0">
                <a:solidFill>
                  <a:srgbClr val="222831"/>
                </a:solidFill>
                <a:latin typeface="Calibri"/>
              </a:rPr>
              <a:t> ignoreras av mottagaren.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5486400"/>
            <a:ext cx="64008" cy="640080"/>
          </a:xfrm>
          <a:prstGeom prst="rect">
            <a:avLst/>
          </a:prstGeom>
          <a:solidFill>
            <a:srgbClr val="E87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meta och text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43584"/>
            <a:ext cx="11094415" cy="0"/>
          </a:xfrm>
          <a:prstGeom prst="line">
            <a:avLst/>
          </a:prstGeom>
          <a:ln w="12700">
            <a:solidFill>
              <a:srgbClr val="D5DA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B6577"/>
                </a:solidFill>
                <a:latin typeface="Calibri"/>
              </a:rPr>
              <a:t>FHIR i praktiken  ·  Modul 1 – Läsa en FHIR-resurs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B6577"/>
                </a:solidFill>
                <a:latin typeface="Calibri"/>
              </a:rPr>
              <a:t>16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325880"/>
          <a:ext cx="768096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5577840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Element</a:t>
                      </a:r>
                    </a:p>
                  </a:txBody>
                  <a:tcPr marL="73152" marR="73152" marT="36576" marB="36576" anchor="ctr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Betydelse</a:t>
                      </a:r>
                    </a:p>
                  </a:txBody>
                  <a:tcPr marL="73152" marR="73152" marT="36576" marB="36576" anchor="ctr">
                    <a:solidFill>
                      <a:srgbClr val="1B2A4A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meta.versionId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Versionen av resursen på servern (ändras vid varje uppdatering)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meta.lastUpdated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När resursen senast ändrades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meta.source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Varifrån resursen kommer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meta.profile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Profiler som resursen </a:t>
                      </a:r>
                      <a:r>
                        <a:rPr sz="1500" b="1" i="0">
                          <a:solidFill>
                            <a:srgbClr val="222831"/>
                          </a:solidFill>
                          <a:latin typeface="Calibri"/>
                        </a:rPr>
                        <a:t>gör anspråk</a:t>
                      </a:r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 på att följa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meta.security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Säkerhetsmärkning, t.ex. konfidentialitet (</a:t>
                      </a:r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N</a:t>
                      </a:r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 = normal)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meta.tag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Fria etiketter för arbetsflöden, som inte ändrar betydelsen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text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Människoläsbar narrativ (XHTML) med </a:t>
                      </a:r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status</a:t>
                      </a:r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 generated / extensions / additional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8503920" y="1417320"/>
            <a:ext cx="3108960" cy="2743200"/>
          </a:xfrm>
          <a:prstGeom prst="rect">
            <a:avLst/>
          </a:prstGeom>
          <a:solidFill>
            <a:srgbClr val="FC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/>
          <a:lstStyle/>
          <a:p>
            <a:pPr algn="l"/>
            <a:r>
              <a:rPr sz="1500" b="1" i="0">
                <a:solidFill>
                  <a:srgbClr val="222831"/>
                </a:solidFill>
                <a:latin typeface="Calibri"/>
              </a:rPr>
              <a:t>meta.profile är ett påstående, inte en garanti.</a:t>
            </a:r>
          </a:p>
          <a:p>
            <a:pPr algn="l"/>
          </a:p>
          <a:p>
            <a:pPr algn="l"/>
            <a:r>
              <a:rPr sz="1500" b="0" i="0">
                <a:solidFill>
                  <a:srgbClr val="222831"/>
                </a:solidFill>
                <a:latin typeface="Calibri"/>
              </a:rPr>
              <a:t>Mottagaren måste validera för att veta. En resurs kan också följa en profil utan att den står i meta.profile.</a:t>
            </a:r>
          </a:p>
        </p:txBody>
      </p:sp>
      <p:sp>
        <p:nvSpPr>
          <p:cNvPr id="9" name="Rectangle 8"/>
          <p:cNvSpPr/>
          <p:nvPr/>
        </p:nvSpPr>
        <p:spPr>
          <a:xfrm>
            <a:off x="8503920" y="1417320"/>
            <a:ext cx="64008" cy="2743200"/>
          </a:xfrm>
          <a:prstGeom prst="rect">
            <a:avLst/>
          </a:prstGeom>
          <a:solidFill>
            <a:srgbClr val="E87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E87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ÖVNING  ·  20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1.1 Tolka en Patient  ·  1.2 Hitta felet i en Encounter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17320"/>
            <a:ext cx="11094415" cy="502920"/>
          </a:xfrm>
          <a:prstGeom prst="roundRect">
            <a:avLst>
              <a:gd name="adj" fmla="val 20000"/>
            </a:avLst>
          </a:prstGeom>
          <a:solidFill>
            <a:srgbClr val="FC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wrap="square"/>
          <a:lstStyle/>
          <a:p>
            <a:pPr algn="l"/>
            <a:r>
              <a:rPr sz="1500" b="0" i="0">
                <a:solidFill>
                  <a:srgbClr val="222831"/>
                </a:solidFill>
                <a:latin typeface="Calibri"/>
              </a:rPr>
              <a:t>📂  kursmaterial/modul-1-lasa-en-resurs/  (frågorna finns i README.md)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03120"/>
            <a:ext cx="11094415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900" b="1" i="0">
                <a:solidFill>
                  <a:srgbClr val="222831"/>
                </a:solidFill>
                <a:latin typeface="Calibri"/>
              </a:rPr>
              <a:t>1.1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Öppna </a:t>
            </a:r>
            <a:r>
              <a:rPr sz="1800" b="0" i="0">
                <a:solidFill>
                  <a:srgbClr val="0E6B74"/>
                </a:solidFill>
                <a:latin typeface="Consolas"/>
              </a:rPr>
              <a:t>Patient-tolvan.json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. Använd https://hl7.org/fhir/R4/patient.html</a:t>
            </a:r>
          </a:p>
          <a:p>
            <a:pPr marL="612647" indent="-256032">
              <a:spcBef>
                <a:spcPts val="300"/>
              </a:spcBef>
              <a:buClr>
                <a:srgbClr val="5B6577"/>
              </a:buClr>
              <a:buChar char="–"/>
            </a:pPr>
            <a:r>
              <a:rPr sz="1700" b="0" i="0">
                <a:solidFill>
                  <a:srgbClr val="5B6577"/>
                </a:solidFill>
                <a:latin typeface="Calibri"/>
              </a:rPr>
              <a:t>Vilka datatyper har identifier, name, gender, birthDate, maritalStatus, generalPractitioner?</a:t>
            </a:r>
          </a:p>
          <a:p>
            <a:pPr marL="612647" indent="-256032">
              <a:spcBef>
                <a:spcPts val="300"/>
              </a:spcBef>
              <a:buClr>
                <a:srgbClr val="5B6577"/>
              </a:buClr>
              <a:buChar char="–"/>
            </a:pPr>
            <a:r>
              <a:rPr sz="1700" b="0" i="0">
                <a:solidFill>
                  <a:srgbClr val="5B6577"/>
                </a:solidFill>
                <a:latin typeface="Calibri"/>
              </a:rPr>
              <a:t>Hitta alla extensions. Vilken är enkel och vilken är komplex? Vad betyder </a:t>
            </a:r>
            <a:r>
              <a:rPr sz="1600" b="0" i="0">
                <a:solidFill>
                  <a:srgbClr val="0E6B74"/>
                </a:solidFill>
                <a:latin typeface="Consolas"/>
              </a:rPr>
              <a:t>_birthDate</a:t>
            </a:r>
            <a:r>
              <a:rPr sz="1700" b="0" i="0">
                <a:solidFill>
                  <a:srgbClr val="5B6577"/>
                </a:solidFill>
                <a:latin typeface="Calibri"/>
              </a:rPr>
              <a:t>?</a:t>
            </a:r>
          </a:p>
          <a:p>
            <a:pPr marL="612647" indent="-256032">
              <a:spcBef>
                <a:spcPts val="300"/>
              </a:spcBef>
              <a:buClr>
                <a:srgbClr val="5B6577"/>
              </a:buClr>
              <a:buChar char="–"/>
            </a:pPr>
            <a:r>
              <a:rPr sz="1700" b="0" i="0">
                <a:solidFill>
                  <a:srgbClr val="5B6577"/>
                </a:solidFill>
                <a:latin typeface="Calibri"/>
              </a:rPr>
              <a:t>Vad är skillnaden mellan referenserna i generalPractitioner och managingOrganization?</a:t>
            </a:r>
          </a:p>
          <a:p>
            <a:pPr marL="612647" indent="-256032">
              <a:spcBef>
                <a:spcPts val="300"/>
              </a:spcBef>
              <a:buClr>
                <a:srgbClr val="5B6577"/>
              </a:buClr>
              <a:buChar char="–"/>
            </a:pPr>
            <a:r>
              <a:rPr sz="1700" b="0" i="0">
                <a:solidFill>
                  <a:srgbClr val="5B6577"/>
                </a:solidFill>
                <a:latin typeface="Calibri"/>
              </a:rPr>
              <a:t>Vad säger – och vad säger inte – </a:t>
            </a:r>
            <a:r>
              <a:rPr sz="1600" b="0" i="0">
                <a:solidFill>
                  <a:srgbClr val="0E6B74"/>
                </a:solidFill>
                <a:latin typeface="Consolas"/>
              </a:rPr>
              <a:t>meta.profile</a:t>
            </a:r>
            <a:r>
              <a:rPr sz="1700" b="0" i="0">
                <a:solidFill>
                  <a:srgbClr val="5B6577"/>
                </a:solidFill>
                <a:latin typeface="Calibri"/>
              </a:rPr>
              <a:t>?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900" b="1" i="0">
                <a:solidFill>
                  <a:srgbClr val="222831"/>
                </a:solidFill>
                <a:latin typeface="Calibri"/>
              </a:rPr>
              <a:t>1.2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Öppna </a:t>
            </a:r>
            <a:r>
              <a:rPr sz="1800" b="0" i="0">
                <a:solidFill>
                  <a:srgbClr val="0E6B74"/>
                </a:solidFill>
                <a:latin typeface="Consolas"/>
              </a:rPr>
              <a:t>Encounter-tolvan-1.json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. Använd https://hl7.org/fhir/R4/encounter.html</a:t>
            </a:r>
          </a:p>
          <a:p>
            <a:pPr marL="612647" indent="-256032">
              <a:spcBef>
                <a:spcPts val="300"/>
              </a:spcBef>
              <a:buClr>
                <a:srgbClr val="5B6577"/>
              </a:buClr>
              <a:buChar char="–"/>
            </a:pPr>
            <a:r>
              <a:rPr sz="1700" b="0" i="0">
                <a:solidFill>
                  <a:srgbClr val="5B6577"/>
                </a:solidFill>
                <a:latin typeface="Calibri"/>
              </a:rPr>
              <a:t>Resursen har </a:t>
            </a:r>
            <a:r>
              <a:rPr sz="1700" b="1" i="0">
                <a:solidFill>
                  <a:srgbClr val="5B6577"/>
                </a:solidFill>
                <a:latin typeface="Calibri"/>
              </a:rPr>
              <a:t>ett fel</a:t>
            </a:r>
            <a:r>
              <a:rPr sz="1700" b="0" i="0">
                <a:solidFill>
                  <a:srgbClr val="5B6577"/>
                </a:solidFill>
                <a:latin typeface="Calibri"/>
              </a:rPr>
              <a:t> som gör den ogiltig. Hitta det! (Tips: bindningsstyrkor)</a:t>
            </a:r>
          </a:p>
          <a:p>
            <a:pPr marL="612647" indent="-256032">
              <a:spcBef>
                <a:spcPts val="300"/>
              </a:spcBef>
              <a:buClr>
                <a:srgbClr val="5B6577"/>
              </a:buClr>
              <a:buChar char="–"/>
            </a:pPr>
            <a:r>
              <a:rPr sz="1700" b="0" i="0">
                <a:solidFill>
                  <a:srgbClr val="5B6577"/>
                </a:solidFill>
                <a:latin typeface="Calibri"/>
              </a:rPr>
              <a:t>Vilka kodsystem används? Vilka är internationella och vilka nationella?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900" b="0" i="0">
                <a:solidFill>
                  <a:srgbClr val="222831"/>
                </a:solidFill>
                <a:latin typeface="Calibri"/>
              </a:rPr>
              <a:t>Facit: </a:t>
            </a:r>
            <a:r>
              <a:rPr sz="1800" b="0" i="0">
                <a:solidFill>
                  <a:srgbClr val="0E6B74"/>
                </a:solidFill>
                <a:latin typeface="Consolas"/>
              </a:rPr>
              <a:t>kursmaterial/modul-1-lasa-en-resurs/facit.md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B6577"/>
                </a:solidFill>
                <a:latin typeface="Calibri"/>
              </a:rPr>
              <a:t>FHIR i praktiken  ·  Modul 1 – Läsa en FHIR-resurs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B6577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Sammanfattning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43584"/>
            <a:ext cx="11094415" cy="0"/>
          </a:xfrm>
          <a:prstGeom prst="line">
            <a:avLst/>
          </a:prstGeom>
          <a:ln w="12700">
            <a:solidFill>
              <a:srgbClr val="D5DA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B6577"/>
                </a:solidFill>
                <a:latin typeface="Calibri"/>
              </a:rPr>
              <a:t>FHIR i praktiken  ·  Modul 1 – Läsa en FHIR-resurs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B6577"/>
                </a:solidFill>
                <a:latin typeface="Calibri"/>
              </a:rPr>
              <a:t>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900" b="0" i="0">
                <a:solidFill>
                  <a:srgbClr val="222831"/>
                </a:solidFill>
                <a:latin typeface="Calibri"/>
              </a:rPr>
              <a:t>En resurs = </a:t>
            </a:r>
            <a:r>
              <a:rPr sz="1900" b="1" i="0">
                <a:solidFill>
                  <a:srgbClr val="222831"/>
                </a:solidFill>
                <a:latin typeface="Calibri"/>
              </a:rPr>
              <a:t>ram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(id, meta, text, extensions) + </a:t>
            </a:r>
            <a:r>
              <a:rPr sz="1900" b="1" i="0">
                <a:solidFill>
                  <a:srgbClr val="222831"/>
                </a:solidFill>
                <a:latin typeface="Calibri"/>
              </a:rPr>
              <a:t>egna element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900" b="0" i="0">
                <a:solidFill>
                  <a:srgbClr val="222831"/>
                </a:solidFill>
                <a:latin typeface="Calibri"/>
              </a:rPr>
              <a:t>Datatyper: </a:t>
            </a:r>
            <a:r>
              <a:rPr sz="1900" b="1" i="0">
                <a:solidFill>
                  <a:srgbClr val="222831"/>
                </a:solidFill>
                <a:latin typeface="Calibri"/>
              </a:rPr>
              <a:t>primitiva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och </a:t>
            </a:r>
            <a:r>
              <a:rPr sz="1900" b="1" i="0">
                <a:solidFill>
                  <a:srgbClr val="222831"/>
                </a:solidFill>
                <a:latin typeface="Calibri"/>
              </a:rPr>
              <a:t>komplexa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. Lär dig Identifier, CodeableConcept och Reference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900" b="1" i="0">
                <a:solidFill>
                  <a:srgbClr val="222831"/>
                </a:solidFill>
                <a:latin typeface="Calibri"/>
              </a:rPr>
              <a:t>Bindningsstyrkan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avgör hur strikt koderna styrs. required går aldrig att runda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900" b="1" i="0">
                <a:solidFill>
                  <a:srgbClr val="222831"/>
                </a:solidFill>
                <a:latin typeface="Calibri"/>
              </a:rPr>
              <a:t>Extensions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identifieras med url. modifierExtension får inte ignoreras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900" b="1" i="0">
                <a:solidFill>
                  <a:srgbClr val="222831"/>
                </a:solidFill>
                <a:latin typeface="Calibri"/>
              </a:rPr>
              <a:t>meta.profile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är ett påstående, och validering avgör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900" b="0" i="0">
                <a:solidFill>
                  <a:srgbClr val="222831"/>
                </a:solidFill>
                <a:latin typeface="Calibri"/>
              </a:rPr>
              <a:t>Specifikationen (elementtabellen) är ditt viktigaste verktyg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03920" y="1508760"/>
            <a:ext cx="3108960" cy="2377440"/>
          </a:xfrm>
          <a:prstGeom prst="roundRect">
            <a:avLst>
              <a:gd name="adj" fmla="val 12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0" i="0">
                <a:solidFill>
                  <a:srgbClr val="FFFFFF"/>
                </a:solidFill>
                <a:latin typeface="Calibri"/>
              </a:rPr>
              <a:t>Härnäst</a:t>
            </a:r>
          </a:p>
          <a:p>
            <a:pPr algn="ctr"/>
          </a:p>
          <a:p>
            <a:pPr algn="ctr"/>
            <a:r>
              <a:rPr sz="1600" b="0" i="0">
                <a:solidFill>
                  <a:srgbClr val="FFFFFF"/>
                </a:solidFill>
                <a:latin typeface="Calibri"/>
              </a:rPr>
              <a:t>Modul 2</a:t>
            </a:r>
          </a:p>
          <a:p>
            <a:pPr algn="ctr"/>
            <a:r>
              <a:rPr sz="1600" b="0" i="0">
                <a:solidFill>
                  <a:srgbClr val="FFFFFF"/>
                </a:solidFill>
                <a:latin typeface="Calibri"/>
              </a:rPr>
              <a:t>Profiler och Implementation Guides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600" b="1" i="0">
                <a:solidFill>
                  <a:srgbClr val="E8772E"/>
                </a:solidFill>
                <a:latin typeface="Calibri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574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Profiler och Implementation Guides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154680"/>
            <a:ext cx="67665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D9EEEF"/>
                </a:solidFill>
                <a:latin typeface="Calibri"/>
              </a:rPr>
              <a:t>Efter modulen kan du …</a:t>
            </a:r>
          </a:p>
          <a:p>
            <a:pPr>
              <a:spcBef>
                <a:spcPts val="600"/>
              </a:spcBef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›  förklara vad en profil och en Implementation Guide är</a:t>
            </a:r>
          </a:p>
          <a:p>
            <a:pPr>
              <a:spcBef>
                <a:spcPts val="600"/>
              </a:spcBef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›  läsa en profil: differential, snapshot och Must Support</a:t>
            </a:r>
          </a:p>
          <a:p>
            <a:pPr>
              <a:spcBef>
                <a:spcPts val="600"/>
              </a:spcBef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›  förstå extensions och slicing i en profil</a:t>
            </a:r>
          </a:p>
          <a:p>
            <a:pPr>
              <a:spcBef>
                <a:spcPts val="600"/>
              </a:spcBef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›  känna till verktygen för profilering och validering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46720" y="3154680"/>
            <a:ext cx="3566160" cy="2651760"/>
          </a:xfrm>
          <a:prstGeom prst="roundRect">
            <a:avLst>
              <a:gd name="adj" fmla="val 6000"/>
            </a:avLst>
          </a:prstGeom>
          <a:solidFill>
            <a:srgbClr val="263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28600" rIns="228600" tIns="182880" wrap="square"/>
          <a:lstStyle/>
          <a:p>
            <a:pPr algn="l"/>
            <a:r>
              <a:rPr sz="1600" b="1" i="0">
                <a:solidFill>
                  <a:srgbClr val="E8772E"/>
                </a:solidFill>
                <a:latin typeface="Calibri"/>
              </a:rPr>
              <a:t>50 minuter</a:t>
            </a:r>
          </a:p>
          <a:p>
            <a:pPr>
              <a:spcBef>
                <a:spcPts val="800"/>
              </a:spcBef>
            </a:pPr>
            <a:r>
              <a:rPr sz="1500" b="1" i="0">
                <a:solidFill>
                  <a:srgbClr val="FFFFFF"/>
                </a:solidFill>
                <a:latin typeface="Calibri"/>
              </a:rPr>
              <a:t>30 min  </a:t>
            </a:r>
            <a:r>
              <a:rPr sz="1500" b="0" i="0">
                <a:solidFill>
                  <a:srgbClr val="D5DAE1"/>
                </a:solidFill>
                <a:latin typeface="Calibri"/>
              </a:rPr>
              <a:t>Genomgång</a:t>
            </a:r>
          </a:p>
          <a:p>
            <a:pPr>
              <a:spcBef>
                <a:spcPts val="800"/>
              </a:spcBef>
            </a:pPr>
            <a:r>
              <a:rPr sz="1500" b="1" i="0">
                <a:solidFill>
                  <a:srgbClr val="FFFFFF"/>
                </a:solidFill>
                <a:latin typeface="Calibri"/>
              </a:rPr>
              <a:t>15 min  </a:t>
            </a:r>
            <a:r>
              <a:rPr sz="1500" b="0" i="0">
                <a:solidFill>
                  <a:srgbClr val="D5DAE1"/>
                </a:solidFill>
                <a:latin typeface="Calibri"/>
              </a:rPr>
              <a:t>Övning 2.1 och 2.2</a:t>
            </a:r>
          </a:p>
          <a:p>
            <a:pPr>
              <a:spcBef>
                <a:spcPts val="800"/>
              </a:spcBef>
            </a:pPr>
            <a:r>
              <a:rPr sz="1500" b="1" i="0">
                <a:solidFill>
                  <a:srgbClr val="FFFFFF"/>
                </a:solidFill>
                <a:latin typeface="Calibri"/>
              </a:rPr>
              <a:t> 5 min  </a:t>
            </a:r>
            <a:r>
              <a:rPr sz="1500" b="0" i="0">
                <a:solidFill>
                  <a:srgbClr val="D5DAE1"/>
                </a:solidFill>
                <a:latin typeface="Calibri"/>
              </a:rPr>
              <a:t>Diskussion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5DAE1"/>
                </a:solidFill>
                <a:latin typeface="Calibri"/>
              </a:rPr>
              <a:t>FHIR i praktiken  ·  Modul 2 – Profiler och Implementation Guides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41908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D5DAE1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Varför profilera?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43584"/>
            <a:ext cx="11094415" cy="0"/>
          </a:xfrm>
          <a:prstGeom prst="line">
            <a:avLst/>
          </a:prstGeom>
          <a:ln w="12700">
            <a:solidFill>
              <a:srgbClr val="D5DA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B6577"/>
                </a:solidFill>
                <a:latin typeface="Calibri"/>
              </a:rPr>
              <a:t>FHIR i praktiken  ·  Modul 2 – Profiler och Implementation Guides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B6577"/>
                </a:solidFill>
                <a:latin typeface="Calibri"/>
              </a:rPr>
              <a:t>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65836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900" b="0" i="0">
                <a:solidFill>
                  <a:srgbClr val="222831"/>
                </a:solidFill>
                <a:latin typeface="Calibri"/>
              </a:rPr>
              <a:t>Basresurserna är </a:t>
            </a:r>
            <a:r>
              <a:rPr sz="1900" b="1" i="0">
                <a:solidFill>
                  <a:srgbClr val="222831"/>
                </a:solidFill>
                <a:latin typeface="Calibri"/>
              </a:rPr>
              <a:t>generella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: nästan allt är valfritt, och många bindningar är bara exempel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900" b="0" i="0">
                <a:solidFill>
                  <a:srgbClr val="222831"/>
                </a:solidFill>
                <a:latin typeface="Calibri"/>
              </a:rPr>
              <a:t>I ett </a:t>
            </a:r>
            <a:r>
              <a:rPr sz="1900" b="1" i="0">
                <a:solidFill>
                  <a:srgbClr val="222831"/>
                </a:solidFill>
                <a:latin typeface="Calibri"/>
              </a:rPr>
              <a:t>sammanhang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(land, region, tjänst) behöver vi precisera:</a:t>
            </a:r>
          </a:p>
          <a:p>
            <a:pPr marL="612647" indent="-256032">
              <a:spcBef>
                <a:spcPts val="300"/>
              </a:spcBef>
              <a:buClr>
                <a:srgbClr val="5B6577"/>
              </a:buClr>
              <a:buChar char="–"/>
            </a:pPr>
            <a:r>
              <a:rPr sz="1700" b="0" i="0">
                <a:solidFill>
                  <a:srgbClr val="5B6577"/>
                </a:solidFill>
                <a:latin typeface="Calibri"/>
              </a:rPr>
              <a:t>Vilka element </a:t>
            </a:r>
            <a:r>
              <a:rPr sz="1700" b="1" i="0">
                <a:solidFill>
                  <a:srgbClr val="5B6577"/>
                </a:solidFill>
                <a:latin typeface="Calibri"/>
              </a:rPr>
              <a:t>krävs</a:t>
            </a:r>
            <a:r>
              <a:rPr sz="1700" b="0" i="0">
                <a:solidFill>
                  <a:srgbClr val="5B6577"/>
                </a:solidFill>
                <a:latin typeface="Calibri"/>
              </a:rPr>
              <a:t>? Vilka ska kunna hanteras (</a:t>
            </a:r>
            <a:r>
              <a:rPr sz="1700" b="1" i="0">
                <a:solidFill>
                  <a:srgbClr val="5B6577"/>
                </a:solidFill>
                <a:latin typeface="Calibri"/>
              </a:rPr>
              <a:t>Must Support</a:t>
            </a:r>
            <a:r>
              <a:rPr sz="1700" b="0" i="0">
                <a:solidFill>
                  <a:srgbClr val="5B6577"/>
                </a:solidFill>
                <a:latin typeface="Calibri"/>
              </a:rPr>
              <a:t>)?</a:t>
            </a:r>
          </a:p>
          <a:p>
            <a:pPr marL="612647" indent="-256032">
              <a:spcBef>
                <a:spcPts val="300"/>
              </a:spcBef>
              <a:buClr>
                <a:srgbClr val="5B6577"/>
              </a:buClr>
              <a:buChar char="–"/>
            </a:pPr>
            <a:r>
              <a:rPr sz="1700" b="0" i="0">
                <a:solidFill>
                  <a:srgbClr val="5B6577"/>
                </a:solidFill>
                <a:latin typeface="Calibri"/>
              </a:rPr>
              <a:t>Vilka </a:t>
            </a:r>
            <a:r>
              <a:rPr sz="1700" b="1" i="0">
                <a:solidFill>
                  <a:srgbClr val="5B6577"/>
                </a:solidFill>
                <a:latin typeface="Calibri"/>
              </a:rPr>
              <a:t>kodverk</a:t>
            </a:r>
            <a:r>
              <a:rPr sz="1700" b="0" i="0">
                <a:solidFill>
                  <a:srgbClr val="5B6577"/>
                </a:solidFill>
                <a:latin typeface="Calibri"/>
              </a:rPr>
              <a:t> gäller? (ICD-10-SE, SNOMED CT, KV …)</a:t>
            </a:r>
          </a:p>
          <a:p>
            <a:pPr marL="612647" indent="-256032">
              <a:spcBef>
                <a:spcPts val="300"/>
              </a:spcBef>
              <a:buClr>
                <a:srgbClr val="5B6577"/>
              </a:buClr>
              <a:buChar char="–"/>
            </a:pPr>
            <a:r>
              <a:rPr sz="1700" b="0" i="0">
                <a:solidFill>
                  <a:srgbClr val="5B6577"/>
                </a:solidFill>
                <a:latin typeface="Calibri"/>
              </a:rPr>
              <a:t>Hur anges </a:t>
            </a:r>
            <a:r>
              <a:rPr sz="1700" b="1" i="0">
                <a:solidFill>
                  <a:srgbClr val="5B6577"/>
                </a:solidFill>
                <a:latin typeface="Calibri"/>
              </a:rPr>
              <a:t>personnummer</a:t>
            </a:r>
            <a:r>
              <a:rPr sz="1700" b="0" i="0">
                <a:solidFill>
                  <a:srgbClr val="5B6577"/>
                </a:solidFill>
                <a:latin typeface="Calibri"/>
              </a:rPr>
              <a:t>, </a:t>
            </a:r>
            <a:r>
              <a:rPr sz="1700" b="1" i="0">
                <a:solidFill>
                  <a:srgbClr val="5B6577"/>
                </a:solidFill>
                <a:latin typeface="Calibri"/>
              </a:rPr>
              <a:t>HSA-id</a:t>
            </a:r>
            <a:r>
              <a:rPr sz="1700" b="0" i="0">
                <a:solidFill>
                  <a:srgbClr val="5B6577"/>
                </a:solidFill>
                <a:latin typeface="Calibri"/>
              </a:rPr>
              <a:t> och samordningsnummer?</a:t>
            </a:r>
          </a:p>
          <a:p>
            <a:pPr marL="612647" indent="-256032">
              <a:spcBef>
                <a:spcPts val="300"/>
              </a:spcBef>
              <a:buClr>
                <a:srgbClr val="5B6577"/>
              </a:buClr>
              <a:buChar char="–"/>
            </a:pPr>
            <a:r>
              <a:rPr sz="1700" b="0" i="0">
                <a:solidFill>
                  <a:srgbClr val="5B6577"/>
                </a:solidFill>
                <a:latin typeface="Calibri"/>
              </a:rPr>
              <a:t>Vilken svensk information saknas i basen (</a:t>
            </a:r>
            <a:r>
              <a:rPr sz="1700" b="1" i="0">
                <a:solidFill>
                  <a:srgbClr val="5B6577"/>
                </a:solidFill>
                <a:latin typeface="Calibri"/>
              </a:rPr>
              <a:t>extensions</a:t>
            </a:r>
            <a:r>
              <a:rPr sz="1700" b="0" i="0">
                <a:solidFill>
                  <a:srgbClr val="5B6577"/>
                </a:solidFill>
                <a:latin typeface="Calibri"/>
              </a:rPr>
              <a:t>)?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900" b="0" i="0">
                <a:solidFill>
                  <a:srgbClr val="222831"/>
                </a:solidFill>
                <a:latin typeface="Calibri"/>
              </a:rPr>
              <a:t>Profilen blir ett </a:t>
            </a:r>
            <a:r>
              <a:rPr sz="1900" b="1" i="0">
                <a:solidFill>
                  <a:srgbClr val="222831"/>
                </a:solidFill>
                <a:latin typeface="Calibri"/>
              </a:rPr>
              <a:t>maskinläsbart kontrakt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som kan valideras automatiskt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900" b="0" i="0">
                <a:solidFill>
                  <a:srgbClr val="222831"/>
                </a:solidFill>
                <a:latin typeface="Calibri"/>
              </a:rPr>
              <a:t>Profiler bygger på varandra: bas → nationellt → regionalt → tjänst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06640" y="1508760"/>
            <a:ext cx="4206240" cy="731520"/>
          </a:xfrm>
          <a:prstGeom prst="roundRect">
            <a:avLst>
              <a:gd name="adj" fmla="val 12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FHIR R4 – basresurser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35240" y="2377440"/>
            <a:ext cx="3749040" cy="731520"/>
          </a:xfrm>
          <a:prstGeom prst="roundRect">
            <a:avLst>
              <a:gd name="adj" fmla="val 12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HL7 Sverige – basprofiler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0" y="3246120"/>
            <a:ext cx="3291840" cy="731520"/>
          </a:xfrm>
          <a:prstGeom prst="roundRect">
            <a:avLst>
              <a:gd name="adj" fmla="val 12000"/>
            </a:avLst>
          </a:prstGeom>
          <a:solidFill>
            <a:srgbClr val="3B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Nationella IG:er (t.ex. Inera)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2440" y="4114800"/>
            <a:ext cx="2834640" cy="731520"/>
          </a:xfrm>
          <a:prstGeom prst="roundRect">
            <a:avLst>
              <a:gd name="adj" fmla="val 12000"/>
            </a:avLst>
          </a:prstGeom>
          <a:solidFill>
            <a:srgbClr val="D9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i="0">
                <a:solidFill>
                  <a:srgbClr val="222831"/>
                </a:solidFill>
                <a:latin typeface="Calibri"/>
              </a:rPr>
              <a:t>Regional / tjänstespecifik IG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21040" y="4983480"/>
            <a:ext cx="2377440" cy="731520"/>
          </a:xfrm>
          <a:prstGeom prst="roundRect">
            <a:avLst>
              <a:gd name="adj" fmla="val 12000"/>
            </a:avLst>
          </a:prstGeom>
          <a:solidFill>
            <a:srgbClr val="FC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i="0">
                <a:solidFill>
                  <a:srgbClr val="222831"/>
                </a:solidFill>
                <a:latin typeface="Calibri"/>
              </a:rPr>
              <a:t>Kursens IG – EducationPatient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Vad kan en profil göra?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43584"/>
            <a:ext cx="11094415" cy="0"/>
          </a:xfrm>
          <a:prstGeom prst="line">
            <a:avLst/>
          </a:prstGeom>
          <a:ln w="12700">
            <a:solidFill>
              <a:srgbClr val="D5DA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B6577"/>
                </a:solidFill>
                <a:latin typeface="Calibri"/>
              </a:rPr>
              <a:t>FHIR i praktiken  ·  Modul 2 – Profiler och Implementation Guides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B6577"/>
                </a:solidFill>
                <a:latin typeface="Calibri"/>
              </a:rPr>
              <a:t>21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325880"/>
          <a:ext cx="11094414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8883"/>
                <a:gridCol w="4067952"/>
                <a:gridCol w="4807579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Mekanism</a:t>
                      </a:r>
                    </a:p>
                  </a:txBody>
                  <a:tcPr marL="73152" marR="73152" marT="36576" marB="36576" anchor="ctr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Exempel</a:t>
                      </a:r>
                    </a:p>
                  </a:txBody>
                  <a:tcPr marL="73152" marR="73152" marT="36576" marB="36576" anchor="ctr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FSH (modul 3)</a:t>
                      </a:r>
                    </a:p>
                  </a:txBody>
                  <a:tcPr marL="73152" marR="73152" marT="36576" marB="36576" anchor="ctr">
                    <a:solidFill>
                      <a:srgbClr val="1B2A4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Kardinalitet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name 0..* → 1..*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* name 1..*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Must Support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birthDate ska kunna hanteras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* birthDate MS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Begränsa typer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subject bara till EducationPatient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* subject only Reference(EducationPatient)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Terminologibindning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Encounter.type från Kontakttyp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* type from KontakttypVS (extensible)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Fast värde / mönster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identifier.system = personnummer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* identifier.system = $personnummer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Extensions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tolkbehov, skyddad identitet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* extension contains …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Slicing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identifier: personnummer + samordningsnummer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* identifier contains …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Invarianter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personnummer = 12 siffror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* obeys edu-pat-1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48640" y="5623560"/>
            <a:ext cx="11094415" cy="640080"/>
          </a:xfrm>
          <a:prstGeom prst="rect">
            <a:avLst/>
          </a:prstGeom>
          <a:solidFill>
            <a:srgbClr val="D9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/>
          <a:lstStyle/>
          <a:p>
            <a:pPr algn="l"/>
            <a:r>
              <a:rPr sz="1600" b="0" i="0">
                <a:solidFill>
                  <a:srgbClr val="222831"/>
                </a:solidFill>
                <a:latin typeface="Calibri"/>
              </a:rPr>
              <a:t>En profil får bara </a:t>
            </a:r>
            <a:r>
              <a:rPr sz="1600" b="1" i="0">
                <a:solidFill>
                  <a:srgbClr val="222831"/>
                </a:solidFill>
                <a:latin typeface="Calibri"/>
              </a:rPr>
              <a:t>begränsa</a:t>
            </a:r>
            <a:r>
              <a:rPr sz="1600" b="0" i="0">
                <a:solidFill>
                  <a:srgbClr val="222831"/>
                </a:solidFill>
                <a:latin typeface="Calibri"/>
              </a:rPr>
              <a:t> basen. Allt som är giltigt mot profilen är också giltigt mot basresursen. Det enda sättet att lägga till är </a:t>
            </a:r>
            <a:r>
              <a:rPr sz="1600" b="1" i="0">
                <a:solidFill>
                  <a:srgbClr val="222831"/>
                </a:solidFill>
                <a:latin typeface="Calibri"/>
              </a:rPr>
              <a:t>extensions</a:t>
            </a:r>
            <a:r>
              <a:rPr sz="1600" b="0" i="0">
                <a:solidFill>
                  <a:srgbClr val="222831"/>
                </a:solidFill>
                <a:latin typeface="Calibri"/>
              </a:rPr>
              <a:t>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5623560"/>
            <a:ext cx="64008" cy="64008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StructureDefinition: differential och snapshot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43584"/>
            <a:ext cx="11094415" cy="0"/>
          </a:xfrm>
          <a:prstGeom prst="line">
            <a:avLst/>
          </a:prstGeom>
          <a:ln w="12700">
            <a:solidFill>
              <a:srgbClr val="D5DA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B6577"/>
                </a:solidFill>
                <a:latin typeface="Calibri"/>
              </a:rPr>
              <a:t>FHIR i praktiken  ·  Modul 2 – Profiler och Implementation Guides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B6577"/>
                </a:solidFill>
                <a:latin typeface="Calibri"/>
              </a:rPr>
              <a:t>22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25880"/>
            <a:ext cx="6766560" cy="4754880"/>
          </a:xfrm>
          <a:prstGeom prst="rect">
            <a:avLst/>
          </a:prstGeom>
          <a:solidFill>
            <a:srgbClr val="F4F6F8"/>
          </a:solidFill>
          <a:ln w="9525">
            <a:solidFill>
              <a:srgbClr val="D5D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01168" tIns="91440"/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22831"/>
                </a:solidFill>
                <a:latin typeface="Consolas"/>
              </a:rPr>
              <a:t>{</a:t>
            </a:r>
          </a:p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22831"/>
                </a:solidFill>
                <a:latin typeface="Consolas"/>
              </a:rPr>
              <a:t>  </a:t>
            </a:r>
            <a:r>
              <a:rPr sz="1200" b="0" i="0">
                <a:solidFill>
                  <a:srgbClr val="0E6B74"/>
                </a:solidFill>
                <a:latin typeface="Consolas"/>
              </a:rPr>
              <a:t>"resourceType"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: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 </a:t>
            </a:r>
            <a:r>
              <a:rPr sz="1200" b="0" i="0">
                <a:solidFill>
                  <a:srgbClr val="A64B00"/>
                </a:solidFill>
                <a:latin typeface="Consolas"/>
              </a:rPr>
              <a:t>"StructureDefinition"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22831"/>
                </a:solidFill>
                <a:latin typeface="Consolas"/>
              </a:rPr>
              <a:t>  </a:t>
            </a:r>
            <a:r>
              <a:rPr sz="1200" b="0" i="0">
                <a:solidFill>
                  <a:srgbClr val="0E6B74"/>
                </a:solidFill>
                <a:latin typeface="Consolas"/>
              </a:rPr>
              <a:t>"url"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: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 </a:t>
            </a:r>
            <a:r>
              <a:rPr sz="1200" b="0" i="0">
                <a:solidFill>
                  <a:srgbClr val="A64B00"/>
                </a:solidFill>
                <a:latin typeface="Consolas"/>
              </a:rPr>
              <a:t>"http://example.org/.../StructureDefinition/EducationPatient"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22831"/>
                </a:solidFill>
                <a:latin typeface="Consolas"/>
              </a:rPr>
              <a:t>  </a:t>
            </a:r>
            <a:r>
              <a:rPr sz="1200" b="0" i="0">
                <a:solidFill>
                  <a:srgbClr val="0E6B74"/>
                </a:solidFill>
                <a:latin typeface="Consolas"/>
              </a:rPr>
              <a:t>"name"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: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 </a:t>
            </a:r>
            <a:r>
              <a:rPr sz="1200" b="0" i="0">
                <a:solidFill>
                  <a:srgbClr val="A64B00"/>
                </a:solidFill>
                <a:latin typeface="Consolas"/>
              </a:rPr>
              <a:t>"EducationPatient"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22831"/>
                </a:solidFill>
                <a:latin typeface="Consolas"/>
              </a:rPr>
              <a:t>  </a:t>
            </a:r>
            <a:r>
              <a:rPr sz="1200" b="0" i="0">
                <a:solidFill>
                  <a:srgbClr val="0E6B74"/>
                </a:solidFill>
                <a:latin typeface="Consolas"/>
              </a:rPr>
              <a:t>"type"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: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 </a:t>
            </a:r>
            <a:r>
              <a:rPr sz="1200" b="0" i="0">
                <a:solidFill>
                  <a:srgbClr val="A64B00"/>
                </a:solidFill>
                <a:latin typeface="Consolas"/>
              </a:rPr>
              <a:t>"Patient"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22831"/>
                </a:solidFill>
                <a:latin typeface="Consolas"/>
              </a:rPr>
              <a:t>  </a:t>
            </a:r>
            <a:r>
              <a:rPr sz="1200" b="0" i="0">
                <a:solidFill>
                  <a:srgbClr val="0E6B74"/>
                </a:solidFill>
                <a:latin typeface="Consolas"/>
              </a:rPr>
              <a:t>"baseDefinition"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: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 </a:t>
            </a:r>
            <a:r>
              <a:rPr sz="1200" b="0" i="0">
                <a:solidFill>
                  <a:srgbClr val="A64B00"/>
                </a:solidFill>
                <a:latin typeface="Consolas"/>
              </a:rPr>
              <a:t>"http://hl7.org/fhir/StructureDefinition/Patient"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22831"/>
                </a:solidFill>
                <a:latin typeface="Consolas"/>
              </a:rPr>
              <a:t>  </a:t>
            </a:r>
            <a:r>
              <a:rPr sz="1200" b="0" i="0">
                <a:solidFill>
                  <a:srgbClr val="0E6B74"/>
                </a:solidFill>
                <a:latin typeface="Consolas"/>
              </a:rPr>
              <a:t>"derivation"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: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 </a:t>
            </a:r>
            <a:r>
              <a:rPr sz="1200" b="0" i="0">
                <a:solidFill>
                  <a:srgbClr val="A64B00"/>
                </a:solidFill>
                <a:latin typeface="Consolas"/>
              </a:rPr>
              <a:t>"constraint"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22831"/>
                </a:solidFill>
                <a:latin typeface="Consolas"/>
              </a:rPr>
              <a:t>  </a:t>
            </a:r>
            <a:r>
              <a:rPr sz="1200" b="0" i="0">
                <a:solidFill>
                  <a:srgbClr val="0E6B74"/>
                </a:solidFill>
                <a:latin typeface="Consolas"/>
              </a:rPr>
              <a:t>"differential"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: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 {</a:t>
            </a:r>
          </a:p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22831"/>
                </a:solidFill>
                <a:latin typeface="Consolas"/>
              </a:rPr>
              <a:t>    </a:t>
            </a:r>
            <a:r>
              <a:rPr sz="1200" b="0" i="0">
                <a:solidFill>
                  <a:srgbClr val="0E6B74"/>
                </a:solidFill>
                <a:latin typeface="Consolas"/>
              </a:rPr>
              <a:t>"element"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: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 [</a:t>
            </a:r>
          </a:p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22831"/>
                </a:solidFill>
                <a:latin typeface="Consolas"/>
              </a:rPr>
              <a:t>      { </a:t>
            </a:r>
            <a:r>
              <a:rPr sz="1200" b="0" i="0">
                <a:solidFill>
                  <a:srgbClr val="A64B00"/>
                </a:solidFill>
                <a:latin typeface="Consolas"/>
              </a:rPr>
              <a:t>"id"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: </a:t>
            </a:r>
            <a:r>
              <a:rPr sz="1200" b="0" i="0">
                <a:solidFill>
                  <a:srgbClr val="A64B00"/>
                </a:solidFill>
                <a:latin typeface="Consolas"/>
              </a:rPr>
              <a:t>"Patient.identifier"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, </a:t>
            </a:r>
            <a:r>
              <a:rPr sz="1200" b="0" i="0">
                <a:solidFill>
                  <a:srgbClr val="A64B00"/>
                </a:solidFill>
                <a:latin typeface="Consolas"/>
              </a:rPr>
              <a:t>"path"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: </a:t>
            </a:r>
            <a:r>
              <a:rPr sz="1200" b="0" i="0">
                <a:solidFill>
                  <a:srgbClr val="A64B00"/>
                </a:solidFill>
                <a:latin typeface="Consolas"/>
              </a:rPr>
              <a:t>"Patient.identifier"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22831"/>
                </a:solidFill>
                <a:latin typeface="Consolas"/>
              </a:rPr>
              <a:t>        </a:t>
            </a:r>
            <a:r>
              <a:rPr sz="1200" b="0" i="0">
                <a:solidFill>
                  <a:srgbClr val="0E6B74"/>
                </a:solidFill>
                <a:latin typeface="Consolas"/>
              </a:rPr>
              <a:t>"min"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: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 1, </a:t>
            </a:r>
            <a:r>
              <a:rPr sz="1200" b="0" i="0">
                <a:solidFill>
                  <a:srgbClr val="A64B00"/>
                </a:solidFill>
                <a:latin typeface="Consolas"/>
              </a:rPr>
              <a:t>"mustSupport"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: true },</a:t>
            </a:r>
          </a:p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22831"/>
                </a:solidFill>
                <a:latin typeface="Consolas"/>
              </a:rPr>
              <a:t>      { </a:t>
            </a:r>
            <a:r>
              <a:rPr sz="1200" b="0" i="0">
                <a:solidFill>
                  <a:srgbClr val="A64B00"/>
                </a:solidFill>
                <a:latin typeface="Consolas"/>
              </a:rPr>
              <a:t>"id"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: </a:t>
            </a:r>
            <a:r>
              <a:rPr sz="1200" b="0" i="0">
                <a:solidFill>
                  <a:srgbClr val="A64B00"/>
                </a:solidFill>
                <a:latin typeface="Consolas"/>
              </a:rPr>
              <a:t>"Patient.birthDate"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, </a:t>
            </a:r>
            <a:r>
              <a:rPr sz="1200" b="0" i="0">
                <a:solidFill>
                  <a:srgbClr val="A64B00"/>
                </a:solidFill>
                <a:latin typeface="Consolas"/>
              </a:rPr>
              <a:t>"path"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: </a:t>
            </a:r>
            <a:r>
              <a:rPr sz="1200" b="0" i="0">
                <a:solidFill>
                  <a:srgbClr val="A64B00"/>
                </a:solidFill>
                <a:latin typeface="Consolas"/>
              </a:rPr>
              <a:t>"Patient.birthDate"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22831"/>
                </a:solidFill>
                <a:latin typeface="Consolas"/>
              </a:rPr>
              <a:t>        </a:t>
            </a:r>
            <a:r>
              <a:rPr sz="1200" b="0" i="0">
                <a:solidFill>
                  <a:srgbClr val="0E6B74"/>
                </a:solidFill>
                <a:latin typeface="Consolas"/>
              </a:rPr>
              <a:t>"min"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: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 1, </a:t>
            </a:r>
            <a:r>
              <a:rPr sz="1200" b="0" i="0">
                <a:solidFill>
                  <a:srgbClr val="A64B00"/>
                </a:solidFill>
                <a:latin typeface="Consolas"/>
              </a:rPr>
              <a:t>"mustSupport"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: true }</a:t>
            </a:r>
          </a:p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22831"/>
                </a:solidFill>
                <a:latin typeface="Consolas"/>
              </a:rPr>
              <a:t>    ]</a:t>
            </a:r>
          </a:p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22831"/>
                </a:solidFill>
                <a:latin typeface="Consolas"/>
              </a:rPr>
              <a:t>  }</a:t>
            </a:r>
          </a:p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22831"/>
                </a:solidFill>
                <a:latin typeface="Consolas"/>
              </a:rPr>
              <a:t>}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325880"/>
            <a:ext cx="54864" cy="475488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80960" y="1508760"/>
            <a:ext cx="3931920" cy="1188720"/>
          </a:xfrm>
          <a:prstGeom prst="roundRect">
            <a:avLst>
              <a:gd name="adj" fmla="val 12000"/>
            </a:avLst>
          </a:prstGeom>
          <a:solidFill>
            <a:srgbClr val="D9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222831"/>
                </a:solidFill>
                <a:latin typeface="Calibri"/>
              </a:rPr>
              <a:t>Differential</a:t>
            </a:r>
          </a:p>
          <a:p>
            <a:pPr algn="ctr"/>
            <a:r>
              <a:rPr sz="1600" b="0" i="0">
                <a:solidFill>
                  <a:srgbClr val="222831"/>
                </a:solidFill>
                <a:latin typeface="Calibri"/>
              </a:rPr>
              <a:t>Bara det profilen ändrar</a:t>
            </a:r>
          </a:p>
          <a:p>
            <a:pPr algn="ctr"/>
            <a:r>
              <a:rPr sz="1600" b="0" i="0">
                <a:solidFill>
                  <a:srgbClr val="222831"/>
                </a:solidFill>
                <a:latin typeface="Calibri"/>
              </a:rPr>
              <a:t>(det man skriver)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80960" y="2880360"/>
            <a:ext cx="3931920" cy="548640"/>
          </a:xfrm>
          <a:prstGeom prst="roundRect">
            <a:avLst>
              <a:gd name="adj" fmla="val 12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222831"/>
                </a:solidFill>
                <a:latin typeface="Calibri"/>
              </a:rPr>
              <a:t>+ Basresurs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80960" y="3611880"/>
            <a:ext cx="3931920" cy="1188720"/>
          </a:xfrm>
          <a:prstGeom prst="roundRect">
            <a:avLst>
              <a:gd name="adj" fmla="val 12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= Snapshot</a:t>
            </a:r>
          </a:p>
          <a:p>
            <a:pPr algn="ctr"/>
            <a:r>
              <a:rPr sz="1600" b="0" i="0">
                <a:solidFill>
                  <a:srgbClr val="FFFFFF"/>
                </a:solidFill>
                <a:latin typeface="Calibri"/>
              </a:rPr>
              <a:t>Hela den resulterande strukturen</a:t>
            </a:r>
          </a:p>
          <a:p>
            <a:pPr algn="ctr"/>
            <a:r>
              <a:rPr sz="1600" b="0" i="0">
                <a:solidFill>
                  <a:srgbClr val="FFFFFF"/>
                </a:solidFill>
                <a:latin typeface="Calibri"/>
              </a:rPr>
              <a:t>(det validatorn använder)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5074919"/>
            <a:ext cx="3931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>
                <a:solidFill>
                  <a:srgbClr val="5B6577"/>
                </a:solidFill>
                <a:latin typeface="Calibri"/>
              </a:rPr>
              <a:t>Canonical URL = globalt unik identifierare för profilen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Must Support – vad betyder det?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43584"/>
            <a:ext cx="11094415" cy="0"/>
          </a:xfrm>
          <a:prstGeom prst="line">
            <a:avLst/>
          </a:prstGeom>
          <a:ln w="12700">
            <a:solidFill>
              <a:srgbClr val="D5DA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B6577"/>
                </a:solidFill>
                <a:latin typeface="Calibri"/>
              </a:rPr>
              <a:t>FHIR i praktiken  ·  Modul 2 – Profiler och Implementation Guides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B6577"/>
                </a:solidFill>
                <a:latin typeface="Calibri"/>
              </a:rPr>
              <a:t>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69494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900" b="0" i="0">
                <a:solidFill>
                  <a:srgbClr val="222831"/>
                </a:solidFill>
                <a:latin typeface="Calibri"/>
              </a:rPr>
              <a:t>Flaggan </a:t>
            </a:r>
            <a:r>
              <a:rPr sz="1900" b="1" i="0">
                <a:solidFill>
                  <a:srgbClr val="222831"/>
                </a:solidFill>
                <a:latin typeface="Calibri"/>
              </a:rPr>
              <a:t>MS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säger att elementet är viktigt i det här sammanhanget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900" b="1" i="0">
                <a:solidFill>
                  <a:srgbClr val="222831"/>
                </a:solidFill>
                <a:latin typeface="Calibri"/>
              </a:rPr>
              <a:t>Exakt vad det innebär definieras i varje IG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, inte i FHIR-specifikationen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900" b="0" i="0">
                <a:solidFill>
                  <a:srgbClr val="222831"/>
                </a:solidFill>
                <a:latin typeface="Calibri"/>
              </a:rPr>
              <a:t>Vanlig definition:</a:t>
            </a:r>
          </a:p>
          <a:p>
            <a:pPr marL="612647" indent="-256032">
              <a:spcBef>
                <a:spcPts val="300"/>
              </a:spcBef>
              <a:buClr>
                <a:srgbClr val="5B6577"/>
              </a:buClr>
              <a:buChar char="–"/>
            </a:pPr>
            <a:r>
              <a:rPr sz="1700" b="1" i="0">
                <a:solidFill>
                  <a:srgbClr val="5B6577"/>
                </a:solidFill>
                <a:latin typeface="Calibri"/>
              </a:rPr>
              <a:t>Avsändare</a:t>
            </a:r>
            <a:r>
              <a:rPr sz="1700" b="0" i="0">
                <a:solidFill>
                  <a:srgbClr val="5B6577"/>
                </a:solidFill>
                <a:latin typeface="Calibri"/>
              </a:rPr>
              <a:t> SKA skicka elementet om informationen finns</a:t>
            </a:r>
          </a:p>
          <a:p>
            <a:pPr marL="612647" indent="-256032">
              <a:spcBef>
                <a:spcPts val="300"/>
              </a:spcBef>
              <a:buClr>
                <a:srgbClr val="5B6577"/>
              </a:buClr>
              <a:buChar char="–"/>
            </a:pPr>
            <a:r>
              <a:rPr sz="1700" b="1" i="0">
                <a:solidFill>
                  <a:srgbClr val="5B6577"/>
                </a:solidFill>
                <a:latin typeface="Calibri"/>
              </a:rPr>
              <a:t>Mottagare</a:t>
            </a:r>
            <a:r>
              <a:rPr sz="1700" b="0" i="0">
                <a:solidFill>
                  <a:srgbClr val="5B6577"/>
                </a:solidFill>
                <a:latin typeface="Calibri"/>
              </a:rPr>
              <a:t> SKA kunna ta emot och hantera (lagra, visa) elementet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900" b="0" i="0">
                <a:solidFill>
                  <a:srgbClr val="222831"/>
                </a:solidFill>
                <a:latin typeface="Calibri"/>
              </a:rPr>
              <a:t>MS är </a:t>
            </a:r>
            <a:r>
              <a:rPr sz="1900" b="1" i="0">
                <a:solidFill>
                  <a:srgbClr val="222831"/>
                </a:solidFill>
                <a:latin typeface="Calibri"/>
              </a:rPr>
              <a:t>inte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samma sak som obligatoriskt: </a:t>
            </a:r>
            <a:r>
              <a:rPr sz="1800" b="0" i="0">
                <a:solidFill>
                  <a:srgbClr val="0E6B74"/>
                </a:solidFill>
                <a:latin typeface="Consolas"/>
              </a:rPr>
              <a:t>0..1 MS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är vanligt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900" b="0" i="0">
                <a:solidFill>
                  <a:srgbClr val="222831"/>
                </a:solidFill>
                <a:latin typeface="Calibri"/>
              </a:rPr>
              <a:t>Vid kravställning: </a:t>
            </a:r>
            <a:r>
              <a:rPr sz="1900" b="1" i="0">
                <a:solidFill>
                  <a:srgbClr val="222831"/>
                </a:solidFill>
                <a:latin typeface="Calibri"/>
              </a:rPr>
              <a:t>definiera MS tydligt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i IG:ns inledning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772400" y="1508760"/>
          <a:ext cx="384048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20140"/>
                <a:gridCol w="640080"/>
                <a:gridCol w="2080260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Kardinalitet</a:t>
                      </a:r>
                    </a:p>
                  </a:txBody>
                  <a:tcPr marL="73152" marR="73152" marT="36576" marB="36576" anchor="ctr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MS</a:t>
                      </a:r>
                    </a:p>
                  </a:txBody>
                  <a:tcPr marL="73152" marR="73152" marT="36576" marB="36576" anchor="ctr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Betydelse</a:t>
                      </a:r>
                    </a:p>
                  </a:txBody>
                  <a:tcPr marL="73152" marR="73152" marT="36576" marB="36576" anchor="ctr">
                    <a:solidFill>
                      <a:srgbClr val="1B2A4A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0..1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Får skickas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0..1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MS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Ska skickas om det finns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1..1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MS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Ska alltid skickas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0..0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Får inte skickas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Terminologibindning i praktiken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43584"/>
            <a:ext cx="11094415" cy="0"/>
          </a:xfrm>
          <a:prstGeom prst="line">
            <a:avLst/>
          </a:prstGeom>
          <a:ln w="12700">
            <a:solidFill>
              <a:srgbClr val="D5DA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B6577"/>
                </a:solidFill>
                <a:latin typeface="Calibri"/>
              </a:rPr>
              <a:t>FHIR i praktiken  ·  Modul 2 – Profiler och Implementation Guides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B6577"/>
                </a:solidFill>
                <a:latin typeface="Calibri"/>
              </a:rPr>
              <a:t>24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2743200" cy="1188720"/>
          </a:xfrm>
          <a:prstGeom prst="roundRect">
            <a:avLst>
              <a:gd name="adj" fmla="val 12000"/>
            </a:avLst>
          </a:prstGeom>
          <a:solidFill>
            <a:srgbClr val="D9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i="0">
                <a:solidFill>
                  <a:srgbClr val="222831"/>
                </a:solidFill>
                <a:latin typeface="Calibri"/>
              </a:rPr>
              <a:t>Profil</a:t>
            </a:r>
          </a:p>
          <a:p>
            <a:pPr algn="ctr"/>
            <a:r>
              <a:rPr sz="1400" b="0" i="0">
                <a:solidFill>
                  <a:srgbClr val="0E6B74"/>
                </a:solidFill>
                <a:latin typeface="Consolas"/>
              </a:rPr>
              <a:t>type from KontakttypVS</a:t>
            </a:r>
          </a:p>
          <a:p>
            <a:pPr algn="ctr"/>
            <a:r>
              <a:rPr sz="1400" b="0" i="0">
                <a:solidFill>
                  <a:srgbClr val="0E6B74"/>
                </a:solidFill>
                <a:latin typeface="Consolas"/>
              </a:rPr>
              <a:t>(extensible)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931920" y="1417320"/>
            <a:ext cx="3291840" cy="1188720"/>
          </a:xfrm>
          <a:prstGeom prst="roundRect">
            <a:avLst>
              <a:gd name="adj" fmla="val 12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Validator / IG Publisher</a:t>
            </a:r>
          </a:p>
          <a:p>
            <a:pPr algn="ctr"/>
            <a:r>
              <a:rPr sz="1500" b="0" i="0">
                <a:solidFill>
                  <a:srgbClr val="FFFFFF"/>
                </a:solidFill>
                <a:latin typeface="Calibri"/>
              </a:rPr>
              <a:t>Kontrollerar instansen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0" y="1417320"/>
            <a:ext cx="3383280" cy="1188720"/>
          </a:xfrm>
          <a:prstGeom prst="roundRect">
            <a:avLst>
              <a:gd name="adj" fmla="val 12000"/>
            </a:avLst>
          </a:prstGeom>
          <a:solidFill>
            <a:srgbClr val="FC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i="0">
                <a:solidFill>
                  <a:srgbClr val="222831"/>
                </a:solidFill>
                <a:latin typeface="Calibri"/>
              </a:rPr>
              <a:t>Terminologiserver</a:t>
            </a:r>
          </a:p>
          <a:p>
            <a:pPr algn="ctr"/>
            <a:r>
              <a:rPr sz="1400" b="0" i="0">
                <a:solidFill>
                  <a:srgbClr val="0E6B74"/>
                </a:solidFill>
                <a:latin typeface="Consolas"/>
              </a:rPr>
              <a:t>$expand</a:t>
            </a:r>
            <a:r>
              <a:rPr sz="1500" b="0" i="0">
                <a:solidFill>
                  <a:srgbClr val="222831"/>
                </a:solidFill>
                <a:latin typeface="Calibri"/>
              </a:rPr>
              <a:t>  ·  </a:t>
            </a:r>
            <a:r>
              <a:rPr sz="1400" b="0" i="0">
                <a:solidFill>
                  <a:srgbClr val="0E6B74"/>
                </a:solidFill>
                <a:latin typeface="Consolas"/>
              </a:rPr>
              <a:t>$validate-code</a:t>
            </a:r>
          </a:p>
          <a:p>
            <a:pPr algn="ctr"/>
            <a:r>
              <a:rPr sz="1500" b="0" i="0">
                <a:solidFill>
                  <a:srgbClr val="222831"/>
                </a:solidFill>
                <a:latin typeface="Calibri"/>
              </a:rPr>
              <a:t>tx.fhir.org eller nationell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337560" y="2011680"/>
            <a:ext cx="548640" cy="0"/>
          </a:xfrm>
          <a:prstGeom prst="line">
            <a:avLst/>
          </a:prstGeom>
          <a:ln w="25400">
            <a:solidFill>
              <a:srgbClr val="5B657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269480" y="2011680"/>
            <a:ext cx="914399" cy="0"/>
          </a:xfrm>
          <a:prstGeom prst="line">
            <a:avLst/>
          </a:prstGeom>
          <a:ln w="25400">
            <a:solidFill>
              <a:srgbClr val="5B657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48640" y="2880360"/>
          <a:ext cx="69494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29184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Situation</a:t>
                      </a:r>
                    </a:p>
                  </a:txBody>
                  <a:tcPr marL="73152" marR="73152" marT="36576" marB="36576" anchor="ctr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Resultat vid validering</a:t>
                      </a:r>
                    </a:p>
                  </a:txBody>
                  <a:tcPr marL="73152" marR="73152" marT="36576" marB="36576" anchor="ctr">
                    <a:solidFill>
                      <a:srgbClr val="1B2A4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831"/>
                          </a:solidFill>
                          <a:latin typeface="Calibri"/>
                        </a:rPr>
                        <a:t>Kod utanför värdemängd, bindning </a:t>
                      </a:r>
                      <a:r>
                        <a:rPr sz="1400" b="1" i="0">
                          <a:solidFill>
                            <a:srgbClr val="222831"/>
                          </a:solidFill>
                          <a:latin typeface="Calibri"/>
                        </a:rPr>
                        <a:t>required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831"/>
                          </a:solidFill>
                          <a:latin typeface="Calibri"/>
                        </a:rPr>
                        <a:t>❌ Fel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831"/>
                          </a:solidFill>
                          <a:latin typeface="Calibri"/>
                        </a:rPr>
                        <a:t>Kod utanför värdemängd, bindning </a:t>
                      </a:r>
                      <a:r>
                        <a:rPr sz="1400" b="1" i="0">
                          <a:solidFill>
                            <a:srgbClr val="222831"/>
                          </a:solidFill>
                          <a:latin typeface="Calibri"/>
                        </a:rPr>
                        <a:t>extensible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831"/>
                          </a:solidFill>
                          <a:latin typeface="Calibri"/>
                        </a:rPr>
                        <a:t>⚠️ Varning (validatorn vet inte om en passande kod fanns)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831"/>
                          </a:solidFill>
                          <a:latin typeface="Calibri"/>
                        </a:rPr>
                        <a:t>Koden finns inte i kodsystemet den anger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831"/>
                          </a:solidFill>
                          <a:latin typeface="Calibri"/>
                        </a:rPr>
                        <a:t>❌ Fel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831"/>
                          </a:solidFill>
                          <a:latin typeface="Calibri"/>
                        </a:rPr>
                        <a:t>Fel display-text för koden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831"/>
                          </a:solidFill>
                          <a:latin typeface="Calibri"/>
                        </a:rPr>
                        <a:t>❌ Fel eller ⚠️ varning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7772400" y="2880360"/>
            <a:ext cx="3840480" cy="2743200"/>
          </a:xfrm>
          <a:prstGeom prst="rect">
            <a:avLst/>
          </a:prstGeom>
          <a:solidFill>
            <a:srgbClr val="D9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/>
          <a:lstStyle/>
          <a:p>
            <a:pPr algn="l"/>
            <a:r>
              <a:rPr sz="1400" b="1" i="0">
                <a:solidFill>
                  <a:srgbClr val="222831"/>
                </a:solidFill>
                <a:latin typeface="Calibri"/>
              </a:rPr>
              <a:t>Svenska kodverk</a:t>
            </a:r>
          </a:p>
          <a:p>
            <a:pPr algn="l"/>
            <a:r>
              <a:rPr sz="1400" b="0" i="0">
                <a:solidFill>
                  <a:srgbClr val="222831"/>
                </a:solidFill>
                <a:latin typeface="Calibri"/>
              </a:rPr>
              <a:t>SNOMED CT (svensk edition), ICD-10-SE, ATC, NPU, KVÅ, nationella kodverk (Socialstyrelsen, Inera)</a:t>
            </a:r>
          </a:p>
          <a:p>
            <a:pPr algn="l"/>
          </a:p>
          <a:p>
            <a:pPr algn="l"/>
            <a:r>
              <a:rPr sz="1400" b="1" i="0">
                <a:solidFill>
                  <a:srgbClr val="222831"/>
                </a:solidFill>
                <a:latin typeface="Calibri"/>
              </a:rPr>
              <a:t>Vid kravställning:</a:t>
            </a:r>
            <a:r>
              <a:rPr sz="1400" b="0" i="0">
                <a:solidFill>
                  <a:srgbClr val="222831"/>
                </a:solidFill>
                <a:latin typeface="Calibri"/>
              </a:rPr>
              <a:t> ange ValueSet (canonical + version), styrka och terminologiserver.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0" y="2880360"/>
            <a:ext cx="64008" cy="27432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Extensions i en profil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43584"/>
            <a:ext cx="11094415" cy="0"/>
          </a:xfrm>
          <a:prstGeom prst="line">
            <a:avLst/>
          </a:prstGeom>
          <a:ln w="12700">
            <a:solidFill>
              <a:srgbClr val="D5DA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B6577"/>
                </a:solidFill>
                <a:latin typeface="Calibri"/>
              </a:rPr>
              <a:t>FHIR i praktiken  ·  Modul 2 – Profiler och Implementation Guides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B6577"/>
                </a:solidFill>
                <a:latin typeface="Calibri"/>
              </a:rPr>
              <a:t>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5120640" cy="2011680"/>
          </a:xfrm>
          <a:prstGeom prst="roundRect">
            <a:avLst>
              <a:gd name="adj" fmla="val 12000"/>
            </a:avLst>
          </a:prstGeom>
          <a:solidFill>
            <a:srgbClr val="D9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600" b="1" i="0">
                <a:solidFill>
                  <a:srgbClr val="222831"/>
                </a:solidFill>
                <a:latin typeface="Calibri"/>
              </a:rPr>
              <a:t>1. Definiera extensionen</a:t>
            </a:r>
          </a:p>
          <a:p>
            <a:pPr algn="l"/>
            <a:r>
              <a:rPr sz="1600" b="0" i="0">
                <a:solidFill>
                  <a:srgbClr val="222831"/>
                </a:solidFill>
                <a:latin typeface="Calibri"/>
              </a:rPr>
              <a:t>StructureDefinition (type = Extension)</a:t>
            </a:r>
          </a:p>
          <a:p>
            <a:pPr algn="l"/>
            <a:r>
              <a:rPr sz="1600" b="0" i="0">
                <a:solidFill>
                  <a:srgbClr val="222831"/>
                </a:solidFill>
                <a:latin typeface="Calibri"/>
              </a:rPr>
              <a:t>• url – unik identitet</a:t>
            </a:r>
          </a:p>
          <a:p>
            <a:pPr algn="l"/>
            <a:r>
              <a:rPr sz="1600" b="0" i="0">
                <a:solidFill>
                  <a:srgbClr val="222831"/>
                </a:solidFill>
                <a:latin typeface="Calibri"/>
              </a:rPr>
              <a:t>• context – var den får användas</a:t>
            </a:r>
          </a:p>
          <a:p>
            <a:pPr algn="l"/>
            <a:r>
              <a:rPr sz="1600" b="0" i="0">
                <a:solidFill>
                  <a:srgbClr val="222831"/>
                </a:solidFill>
                <a:latin typeface="Calibri"/>
              </a:rPr>
              <a:t>• value[x] – datatyp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611880"/>
            <a:ext cx="5120640" cy="1645920"/>
          </a:xfrm>
          <a:prstGeom prst="roundRect">
            <a:avLst>
              <a:gd name="adj" fmla="val 12000"/>
            </a:avLst>
          </a:prstGeom>
          <a:solidFill>
            <a:srgbClr val="FC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600" b="1" i="0">
                <a:solidFill>
                  <a:srgbClr val="222831"/>
                </a:solidFill>
                <a:latin typeface="Calibri"/>
              </a:rPr>
              <a:t>2. Använd den i profilen</a:t>
            </a:r>
          </a:p>
          <a:p>
            <a:pPr algn="l"/>
            <a:r>
              <a:rPr sz="1600" b="0" i="0">
                <a:solidFill>
                  <a:srgbClr val="222831"/>
                </a:solidFill>
                <a:latin typeface="Calibri"/>
              </a:rPr>
              <a:t>slice på Patient.extension</a:t>
            </a:r>
          </a:p>
          <a:p>
            <a:pPr algn="l"/>
            <a:r>
              <a:rPr sz="1600" b="0" i="0">
                <a:solidFill>
                  <a:srgbClr val="222831"/>
                </a:solidFill>
                <a:latin typeface="Calibri"/>
              </a:rPr>
              <a:t>• kardinalitet (0..1, 1..1 …)</a:t>
            </a:r>
          </a:p>
          <a:p>
            <a:pPr algn="l"/>
            <a:r>
              <a:rPr sz="1600" b="0" i="0">
                <a:solidFill>
                  <a:srgbClr val="222831"/>
                </a:solidFill>
                <a:latin typeface="Calibri"/>
              </a:rPr>
              <a:t>• Must Support</a:t>
            </a:r>
          </a:p>
        </p:txBody>
      </p:sp>
      <p:sp>
        <p:nvSpPr>
          <p:cNvPr id="9" name="Rectangle 8"/>
          <p:cNvSpPr/>
          <p:nvPr/>
        </p:nvSpPr>
        <p:spPr>
          <a:xfrm>
            <a:off x="6035040" y="1417320"/>
            <a:ext cx="5577840" cy="3108960"/>
          </a:xfrm>
          <a:prstGeom prst="rect">
            <a:avLst/>
          </a:prstGeom>
          <a:solidFill>
            <a:srgbClr val="F4F6F8"/>
          </a:solidFill>
          <a:ln w="9525">
            <a:solidFill>
              <a:srgbClr val="D5D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01168" tIns="91440"/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E6B74"/>
                </a:solidFill>
                <a:latin typeface="Consolas"/>
              </a:rPr>
              <a:t>Extension:</a:t>
            </a:r>
            <a:r>
              <a:rPr sz="1400" b="0" i="0">
                <a:solidFill>
                  <a:srgbClr val="222831"/>
                </a:solidFill>
                <a:latin typeface="Consolas"/>
              </a:rPr>
              <a:t> SkyddadIdentitet</a:t>
            </a:r>
          </a:p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E6B74"/>
                </a:solidFill>
                <a:latin typeface="Consolas"/>
              </a:rPr>
              <a:t>Id:</a:t>
            </a:r>
            <a:r>
              <a:rPr sz="1400" b="0" i="0">
                <a:solidFill>
                  <a:srgbClr val="222831"/>
                </a:solidFill>
                <a:latin typeface="Consolas"/>
              </a:rPr>
              <a:t> SkyddadIdentitet</a:t>
            </a:r>
          </a:p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E6B74"/>
                </a:solidFill>
                <a:latin typeface="Consolas"/>
              </a:rPr>
              <a:t>Context:</a:t>
            </a:r>
            <a:r>
              <a:rPr sz="1400" b="0" i="0">
                <a:solidFill>
                  <a:srgbClr val="222831"/>
                </a:solidFill>
                <a:latin typeface="Consolas"/>
              </a:rPr>
              <a:t> Patient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22831"/>
                </a:solidFill>
                <a:latin typeface="Consolas"/>
              </a:rPr>
              <a:t>* value[x] only boolean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22831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E6B74"/>
                </a:solidFill>
                <a:latin typeface="Consolas"/>
              </a:rPr>
              <a:t>Profile:</a:t>
            </a:r>
            <a:r>
              <a:rPr sz="1400" b="0" i="0">
                <a:solidFill>
                  <a:srgbClr val="222831"/>
                </a:solidFill>
                <a:latin typeface="Consolas"/>
              </a:rPr>
              <a:t> EducationPatient</a:t>
            </a:r>
          </a:p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E6B74"/>
                </a:solidFill>
                <a:latin typeface="Consolas"/>
              </a:rPr>
              <a:t>Parent:</a:t>
            </a:r>
            <a:r>
              <a:rPr sz="1400" b="0" i="0">
                <a:solidFill>
                  <a:srgbClr val="222831"/>
                </a:solidFill>
                <a:latin typeface="Consolas"/>
              </a:rPr>
              <a:t> Patient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22831"/>
                </a:solidFill>
                <a:latin typeface="Consolas"/>
              </a:rPr>
              <a:t>* extension contains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22831"/>
                </a:solidFill>
                <a:latin typeface="Consolas"/>
              </a:rPr>
              <a:t>    $patient-interpreterRequired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22831"/>
                </a:solidFill>
                <a:latin typeface="Consolas"/>
              </a:rPr>
              <a:t>      named tolkbehov 0..1 MS and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22831"/>
                </a:solidFill>
                <a:latin typeface="Consolas"/>
              </a:rPr>
              <a:t>    SkyddadIdentitet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22831"/>
                </a:solidFill>
                <a:latin typeface="Consolas"/>
              </a:rPr>
              <a:t>      named skyddadIdentitet 0..1 MS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35040" y="1417320"/>
            <a:ext cx="54864" cy="310896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35040" y="4754880"/>
            <a:ext cx="5577840" cy="868680"/>
          </a:xfrm>
          <a:prstGeom prst="rect">
            <a:avLst/>
          </a:prstGeom>
          <a:solidFill>
            <a:srgbClr val="D9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/>
          <a:lstStyle/>
          <a:p>
            <a:pPr algn="l"/>
            <a:r>
              <a:rPr sz="1500" b="1" i="0">
                <a:solidFill>
                  <a:srgbClr val="222831"/>
                </a:solidFill>
                <a:latin typeface="Calibri"/>
              </a:rPr>
              <a:t>Återanvänd först:</a:t>
            </a:r>
            <a:r>
              <a:rPr sz="1500" b="0" i="0">
                <a:solidFill>
                  <a:srgbClr val="222831"/>
                </a:solidFill>
                <a:latin typeface="Calibri"/>
              </a:rPr>
              <a:t> FHIR-standarden → HL7 Sverige → nationella IG:er. Skapa egna extensions bara när inget passar.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35040" y="4754880"/>
            <a:ext cx="64008" cy="86868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Slicing – dela upp en lista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43584"/>
            <a:ext cx="11094415" cy="0"/>
          </a:xfrm>
          <a:prstGeom prst="line">
            <a:avLst/>
          </a:prstGeom>
          <a:ln w="12700">
            <a:solidFill>
              <a:srgbClr val="D5DA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B6577"/>
                </a:solidFill>
                <a:latin typeface="Calibri"/>
              </a:rPr>
              <a:t>FHIR i praktiken  ·  Modul 2 – Profiler och Implementation Guides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B6577"/>
                </a:solidFill>
                <a:latin typeface="Calibri"/>
              </a:rPr>
              <a:t>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5303520" cy="868680"/>
          </a:xfrm>
          <a:prstGeom prst="roundRect">
            <a:avLst>
              <a:gd name="adj" fmla="val 12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Patient.identifier</a:t>
            </a:r>
            <a:r>
              <a:rPr sz="1600" b="0" i="0">
                <a:solidFill>
                  <a:srgbClr val="FFFFFF"/>
                </a:solidFill>
                <a:latin typeface="Calibri"/>
              </a:rPr>
              <a:t>  0..*</a:t>
            </a:r>
          </a:p>
          <a:p>
            <a:pPr algn="ctr"/>
            <a:r>
              <a:rPr sz="1600" b="0" i="0">
                <a:solidFill>
                  <a:srgbClr val="FFFFFF"/>
                </a:solidFill>
                <a:latin typeface="Calibri"/>
              </a:rPr>
              <a:t>discriminator: value @ system  ·  rules: open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97280" y="2560320"/>
            <a:ext cx="4754880" cy="868680"/>
          </a:xfrm>
          <a:prstGeom prst="roundRect">
            <a:avLst>
              <a:gd name="adj" fmla="val 12000"/>
            </a:avLst>
          </a:prstGeom>
          <a:solidFill>
            <a:srgbClr val="D9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 i="0">
                <a:solidFill>
                  <a:srgbClr val="222831"/>
                </a:solidFill>
                <a:latin typeface="Calibri"/>
              </a:rPr>
              <a:t>personnummer</a:t>
            </a:r>
            <a:r>
              <a:rPr sz="1400" b="0" i="0">
                <a:solidFill>
                  <a:srgbClr val="222831"/>
                </a:solidFill>
                <a:latin typeface="Calibri"/>
              </a:rPr>
              <a:t>  0..1 MS</a:t>
            </a:r>
          </a:p>
          <a:p>
            <a:pPr algn="ctr"/>
            <a:r>
              <a:rPr sz="1400" b="0" i="0">
                <a:solidFill>
                  <a:srgbClr val="222831"/>
                </a:solidFill>
                <a:latin typeface="Calibri"/>
              </a:rPr>
              <a:t>system = http://electronichealth.se/identifier/personnummer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97280" y="3566160"/>
            <a:ext cx="4754880" cy="868680"/>
          </a:xfrm>
          <a:prstGeom prst="roundRect">
            <a:avLst>
              <a:gd name="adj" fmla="val 12000"/>
            </a:avLst>
          </a:prstGeom>
          <a:solidFill>
            <a:srgbClr val="D9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 i="0">
                <a:solidFill>
                  <a:srgbClr val="222831"/>
                </a:solidFill>
                <a:latin typeface="Calibri"/>
              </a:rPr>
              <a:t>samordningsnummer</a:t>
            </a:r>
            <a:r>
              <a:rPr sz="1400" b="0" i="0">
                <a:solidFill>
                  <a:srgbClr val="222831"/>
                </a:solidFill>
                <a:latin typeface="Calibri"/>
              </a:rPr>
              <a:t>  0..1 MS</a:t>
            </a:r>
          </a:p>
          <a:p>
            <a:pPr algn="ctr"/>
            <a:r>
              <a:rPr sz="1400" b="0" i="0">
                <a:solidFill>
                  <a:srgbClr val="222831"/>
                </a:solidFill>
                <a:latin typeface="Calibri"/>
              </a:rPr>
              <a:t>system = …/identifier/samordningsnummer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97280" y="4572000"/>
            <a:ext cx="4754880" cy="640080"/>
          </a:xfrm>
          <a:prstGeom prst="roundRect">
            <a:avLst>
              <a:gd name="adj" fmla="val 12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 i="0">
                <a:solidFill>
                  <a:srgbClr val="222831"/>
                </a:solidFill>
                <a:latin typeface="Calibri"/>
              </a:rPr>
              <a:t>(övriga)</a:t>
            </a:r>
            <a:r>
              <a:rPr sz="1400" b="0" i="0">
                <a:solidFill>
                  <a:srgbClr val="222831"/>
                </a:solidFill>
                <a:latin typeface="Calibri"/>
              </a:rPr>
              <a:t>  tillåts eftersom slicingen är öppen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309360" y="1417320"/>
          <a:ext cx="5303518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39"/>
                <a:gridCol w="3840479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Diskriminator</a:t>
                      </a:r>
                    </a:p>
                  </a:txBody>
                  <a:tcPr marL="73152" marR="73152" marT="36576" marB="36576" anchor="ctr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Matchar på</a:t>
                      </a:r>
                    </a:p>
                  </a:txBody>
                  <a:tcPr marL="73152" marR="73152" marT="36576" marB="36576" anchor="ctr">
                    <a:solidFill>
                      <a:srgbClr val="1B2A4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value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Fast värde på en sökväg (t.ex. system)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pattern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Mönster (t.ex. en Coding i CodeableConcept)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type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Datatyp (t.ex. value[x])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profile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Att elementet följer en viss profil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exists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Att ett element finns eller inte finns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09360" y="4389120"/>
          <a:ext cx="5303518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39"/>
                <a:gridCol w="3840479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Regel</a:t>
                      </a:r>
                    </a:p>
                  </a:txBody>
                  <a:tcPr marL="73152" marR="73152" marT="36576" marB="36576" anchor="ctr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Element som inte matchar …</a:t>
                      </a:r>
                    </a:p>
                  </a:txBody>
                  <a:tcPr marL="73152" marR="73152" marT="36576" marB="36576" anchor="ctr">
                    <a:solidFill>
                      <a:srgbClr val="1B2A4A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open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tillåts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closed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är fel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openAtEnd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tillåts sist i listan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Slicing: urvalet försvinner i instansen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43584"/>
            <a:ext cx="11094415" cy="0"/>
          </a:xfrm>
          <a:prstGeom prst="line">
            <a:avLst/>
          </a:prstGeom>
          <a:ln w="12700">
            <a:solidFill>
              <a:srgbClr val="D5DA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B6577"/>
                </a:solidFill>
                <a:latin typeface="Calibri"/>
              </a:rPr>
              <a:t>FHIR i praktiken  ·  Modul 2 – Profiler och Implementation Guides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B6577"/>
                </a:solidFill>
                <a:latin typeface="Calibri"/>
              </a:rPr>
              <a:t>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5B6577"/>
                </a:solidFill>
                <a:latin typeface="Calibri"/>
              </a:rPr>
              <a:t>Profilen (FSH)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664208"/>
            <a:ext cx="5029200" cy="1719072"/>
          </a:xfrm>
          <a:prstGeom prst="rect">
            <a:avLst/>
          </a:prstGeom>
          <a:solidFill>
            <a:srgbClr val="F4F6F8"/>
          </a:solidFill>
          <a:ln w="9525">
            <a:solidFill>
              <a:srgbClr val="D5D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01168" tIns="91440"/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222831"/>
                </a:solidFill>
                <a:latin typeface="Consolas"/>
              </a:rPr>
              <a:t>* identifier contains</a:t>
            </a:r>
          </a:p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222831"/>
                </a:solidFill>
                <a:latin typeface="Consolas"/>
              </a:rPr>
              <a:t>    personnummer 0..1 MS and</a:t>
            </a:r>
          </a:p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222831"/>
                </a:solidFill>
                <a:latin typeface="Consolas"/>
              </a:rPr>
              <a:t>    samordningsnummer 0..1 MS</a:t>
            </a:r>
          </a:p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222831"/>
                </a:solidFill>
                <a:latin typeface="Consolas"/>
              </a:rPr>
              <a:t>* identifier[personnummer].system =</a:t>
            </a:r>
          </a:p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222831"/>
                </a:solidFill>
                <a:latin typeface="Consolas"/>
              </a:rPr>
              <a:t>    $personnummer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664208"/>
            <a:ext cx="54864" cy="1719072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0" y="1371600"/>
            <a:ext cx="5760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5B6577"/>
                </a:solidFill>
                <a:latin typeface="Calibri"/>
              </a:rPr>
              <a:t>Instansen (JSON) – inga slice-namn!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52160" y="1664208"/>
            <a:ext cx="5760720" cy="2633472"/>
          </a:xfrm>
          <a:prstGeom prst="rect">
            <a:avLst/>
          </a:prstGeom>
          <a:solidFill>
            <a:srgbClr val="F4F6F8"/>
          </a:solidFill>
          <a:ln w="9525">
            <a:solidFill>
              <a:srgbClr val="D5D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01168" tIns="91440"/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222831"/>
                </a:solidFill>
                <a:latin typeface="Consolas"/>
              </a:rPr>
              <a:t/>
            </a:r>
            <a:r>
              <a:rPr sz="1300" b="0" i="0">
                <a:solidFill>
                  <a:srgbClr val="0E6B74"/>
                </a:solidFill>
                <a:latin typeface="Consolas"/>
              </a:rPr>
              <a:t>"identifier"</a:t>
            </a:r>
            <a:r>
              <a:rPr sz="1300" b="0" i="0">
                <a:solidFill>
                  <a:srgbClr val="222831"/>
                </a:solidFill>
                <a:latin typeface="Consolas"/>
              </a:rPr>
              <a:t>:</a:t>
            </a:r>
            <a:r>
              <a:rPr sz="1300" b="0" i="0">
                <a:solidFill>
                  <a:srgbClr val="222831"/>
                </a:solidFill>
                <a:latin typeface="Consolas"/>
              </a:rPr>
              <a:t> [</a:t>
            </a:r>
          </a:p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222831"/>
                </a:solidFill>
                <a:latin typeface="Consolas"/>
              </a:rPr>
              <a:t>  { </a:t>
            </a:r>
            <a:r>
              <a:rPr sz="1300" b="0" i="0">
                <a:solidFill>
                  <a:srgbClr val="A64B00"/>
                </a:solidFill>
                <a:latin typeface="Consolas"/>
              </a:rPr>
              <a:t>"system"</a:t>
            </a:r>
            <a:r>
              <a:rPr sz="1300" b="0" i="0">
                <a:solidFill>
                  <a:srgbClr val="222831"/>
                </a:solidFill>
                <a:latin typeface="Consolas"/>
              </a:rPr>
              <a:t>: </a:t>
            </a:r>
            <a:r>
              <a:rPr sz="1300" b="0" i="0">
                <a:solidFill>
                  <a:srgbClr val="A64B00"/>
                </a:solidFill>
                <a:latin typeface="Consolas"/>
              </a:rPr>
              <a:t>".../samordningsnummer"</a:t>
            </a:r>
            <a:r>
              <a:rPr sz="1300" b="0" i="0">
                <a:solidFill>
                  <a:srgbClr val="222831"/>
                </a:solidFill>
                <a:latin typeface="Consolas"/>
              </a:rPr>
              <a:t>,  </a:t>
            </a:r>
            <a:r>
              <a:rPr sz="1300" b="0" i="0">
                <a:solidFill>
                  <a:srgbClr val="6A737D"/>
                </a:solidFill>
                <a:latin typeface="Consolas"/>
              </a:rPr>
              <a:t>// samordningsnr</a:t>
            </a:r>
          </a:p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222831"/>
                </a:solidFill>
                <a:latin typeface="Consolas"/>
              </a:rPr>
              <a:t>    </a:t>
            </a:r>
            <a:r>
              <a:rPr sz="1300" b="0" i="0">
                <a:solidFill>
                  <a:srgbClr val="0E6B74"/>
                </a:solidFill>
                <a:latin typeface="Consolas"/>
              </a:rPr>
              <a:t>"value"</a:t>
            </a:r>
            <a:r>
              <a:rPr sz="1300" b="0" i="0">
                <a:solidFill>
                  <a:srgbClr val="222831"/>
                </a:solidFill>
                <a:latin typeface="Consolas"/>
              </a:rPr>
              <a:t>:</a:t>
            </a:r>
            <a:r>
              <a:rPr sz="1300" b="0" i="0">
                <a:solidFill>
                  <a:srgbClr val="222831"/>
                </a:solidFill>
                <a:latin typeface="Consolas"/>
              </a:rPr>
              <a:t> </a:t>
            </a:r>
            <a:r>
              <a:rPr sz="1300" b="0" i="0">
                <a:solidFill>
                  <a:srgbClr val="A64B00"/>
                </a:solidFill>
                <a:latin typeface="Consolas"/>
              </a:rPr>
              <a:t>"199001721234"</a:t>
            </a:r>
            <a:r>
              <a:rPr sz="1300" b="0" i="0">
                <a:solidFill>
                  <a:srgbClr val="222831"/>
                </a:solidFill>
                <a:latin typeface="Consolas"/>
              </a:rPr>
              <a:t> },</a:t>
            </a:r>
          </a:p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222831"/>
                </a:solidFill>
                <a:latin typeface="Consolas"/>
              </a:rPr>
              <a:t>  { </a:t>
            </a:r>
            <a:r>
              <a:rPr sz="1300" b="0" i="0">
                <a:solidFill>
                  <a:srgbClr val="A64B00"/>
                </a:solidFill>
                <a:latin typeface="Consolas"/>
              </a:rPr>
              <a:t>"system"</a:t>
            </a:r>
            <a:r>
              <a:rPr sz="1300" b="0" i="0">
                <a:solidFill>
                  <a:srgbClr val="222831"/>
                </a:solidFill>
                <a:latin typeface="Consolas"/>
              </a:rPr>
              <a:t>: </a:t>
            </a:r>
            <a:r>
              <a:rPr sz="1300" b="0" i="0">
                <a:solidFill>
                  <a:srgbClr val="A64B00"/>
                </a:solidFill>
                <a:latin typeface="Consolas"/>
              </a:rPr>
              <a:t>".../personnummer"</a:t>
            </a:r>
            <a:r>
              <a:rPr sz="1300" b="0" i="0">
                <a:solidFill>
                  <a:srgbClr val="222831"/>
                </a:solidFill>
                <a:latin typeface="Consolas"/>
              </a:rPr>
              <a:t>,       </a:t>
            </a:r>
            <a:r>
              <a:rPr sz="1300" b="0" i="0">
                <a:solidFill>
                  <a:srgbClr val="6A737D"/>
                </a:solidFill>
                <a:latin typeface="Consolas"/>
              </a:rPr>
              <a:t>// personnummer</a:t>
            </a:r>
          </a:p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222831"/>
                </a:solidFill>
                <a:latin typeface="Consolas"/>
              </a:rPr>
              <a:t>    </a:t>
            </a:r>
            <a:r>
              <a:rPr sz="1300" b="0" i="0">
                <a:solidFill>
                  <a:srgbClr val="0E6B74"/>
                </a:solidFill>
                <a:latin typeface="Consolas"/>
              </a:rPr>
              <a:t>"value"</a:t>
            </a:r>
            <a:r>
              <a:rPr sz="1300" b="0" i="0">
                <a:solidFill>
                  <a:srgbClr val="222831"/>
                </a:solidFill>
                <a:latin typeface="Consolas"/>
              </a:rPr>
              <a:t>:</a:t>
            </a:r>
            <a:r>
              <a:rPr sz="1300" b="0" i="0">
                <a:solidFill>
                  <a:srgbClr val="222831"/>
                </a:solidFill>
                <a:latin typeface="Consolas"/>
              </a:rPr>
              <a:t> </a:t>
            </a:r>
            <a:r>
              <a:rPr sz="1300" b="0" i="0">
                <a:solidFill>
                  <a:srgbClr val="A64B00"/>
                </a:solidFill>
                <a:latin typeface="Consolas"/>
              </a:rPr>
              <a:t>"199001012384"</a:t>
            </a:r>
            <a:r>
              <a:rPr sz="1300" b="0" i="0">
                <a:solidFill>
                  <a:srgbClr val="222831"/>
                </a:solidFill>
                <a:latin typeface="Consolas"/>
              </a:rPr>
              <a:t> },</a:t>
            </a:r>
          </a:p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222831"/>
                </a:solidFill>
                <a:latin typeface="Consolas"/>
              </a:rPr>
              <a:t>  { </a:t>
            </a:r>
            <a:r>
              <a:rPr sz="1300" b="0" i="0">
                <a:solidFill>
                  <a:srgbClr val="A64B00"/>
                </a:solidFill>
                <a:latin typeface="Consolas"/>
              </a:rPr>
              <a:t>"system"</a:t>
            </a:r>
            <a:r>
              <a:rPr sz="1300" b="0" i="0">
                <a:solidFill>
                  <a:srgbClr val="222831"/>
                </a:solidFill>
                <a:latin typeface="Consolas"/>
              </a:rPr>
              <a:t>: </a:t>
            </a:r>
            <a:r>
              <a:rPr sz="1300" b="0" i="0">
                <a:solidFill>
                  <a:srgbClr val="A64B00"/>
                </a:solidFill>
                <a:latin typeface="Consolas"/>
              </a:rPr>
              <a:t>".../personumer"</a:t>
            </a:r>
            <a:r>
              <a:rPr sz="1300" b="0" i="0">
                <a:solidFill>
                  <a:srgbClr val="222831"/>
                </a:solidFill>
                <a:latin typeface="Consolas"/>
              </a:rPr>
              <a:t>,         </a:t>
            </a:r>
            <a:r>
              <a:rPr sz="1300" b="0" i="0">
                <a:solidFill>
                  <a:srgbClr val="6A737D"/>
                </a:solidFill>
                <a:latin typeface="Consolas"/>
              </a:rPr>
              <a:t>// ingen slice!</a:t>
            </a:r>
          </a:p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222831"/>
                </a:solidFill>
                <a:latin typeface="Consolas"/>
              </a:rPr>
              <a:t>    </a:t>
            </a:r>
            <a:r>
              <a:rPr sz="1300" b="0" i="0">
                <a:solidFill>
                  <a:srgbClr val="0E6B74"/>
                </a:solidFill>
                <a:latin typeface="Consolas"/>
              </a:rPr>
              <a:t>"value"</a:t>
            </a:r>
            <a:r>
              <a:rPr sz="1300" b="0" i="0">
                <a:solidFill>
                  <a:srgbClr val="222831"/>
                </a:solidFill>
                <a:latin typeface="Consolas"/>
              </a:rPr>
              <a:t>:</a:t>
            </a:r>
            <a:r>
              <a:rPr sz="1300" b="0" i="0">
                <a:solidFill>
                  <a:srgbClr val="222831"/>
                </a:solidFill>
                <a:latin typeface="Consolas"/>
              </a:rPr>
              <a:t> </a:t>
            </a:r>
            <a:r>
              <a:rPr sz="1300" b="0" i="0">
                <a:solidFill>
                  <a:srgbClr val="A64B00"/>
                </a:solidFill>
                <a:latin typeface="Consolas"/>
              </a:rPr>
              <a:t>"19900101-2384"</a:t>
            </a:r>
            <a:r>
              <a:rPr sz="1300" b="0" i="0">
                <a:solidFill>
                  <a:srgbClr val="222831"/>
                </a:solidFill>
                <a:latin typeface="Consolas"/>
              </a:rPr>
              <a:t> }</a:t>
            </a:r>
          </a:p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222831"/>
                </a:solidFill>
                <a:latin typeface="Consolas"/>
              </a:rPr>
              <a:t>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0" y="1664208"/>
            <a:ext cx="54864" cy="2633472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4572000"/>
            <a:ext cx="11094415" cy="1005840"/>
          </a:xfrm>
          <a:prstGeom prst="rect">
            <a:avLst/>
          </a:prstGeom>
          <a:solidFill>
            <a:srgbClr val="FC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/>
          <a:lstStyle/>
          <a:p>
            <a:pPr algn="l"/>
            <a:r>
              <a:rPr sz="1600" b="0" i="0">
                <a:solidFill>
                  <a:srgbClr val="222831"/>
                </a:solidFill>
                <a:latin typeface="Calibri"/>
              </a:rPr>
              <a:t>Validatorn räknar ut vilken slice varje element tillhör med hjälp av </a:t>
            </a:r>
            <a:r>
              <a:rPr sz="1600" b="1" i="0">
                <a:solidFill>
                  <a:srgbClr val="222831"/>
                </a:solidFill>
                <a:latin typeface="Calibri"/>
              </a:rPr>
              <a:t>diskriminatorn</a:t>
            </a:r>
            <a:r>
              <a:rPr sz="1600" b="0" i="0">
                <a:solidFill>
                  <a:srgbClr val="222831"/>
                </a:solidFill>
                <a:latin typeface="Calibri"/>
              </a:rPr>
              <a:t>. Ett stavfel i </a:t>
            </a:r>
            <a:r>
              <a:rPr sz="1500" b="0" i="0">
                <a:solidFill>
                  <a:srgbClr val="0E6B74"/>
                </a:solidFill>
                <a:latin typeface="Consolas"/>
              </a:rPr>
              <a:t>system</a:t>
            </a:r>
            <a:r>
              <a:rPr sz="1600" b="0" i="0">
                <a:solidFill>
                  <a:srgbClr val="222831"/>
                </a:solidFill>
                <a:latin typeface="Calibri"/>
              </a:rPr>
              <a:t> ger ingen slice. Med öppen slicing är det då </a:t>
            </a:r>
            <a:r>
              <a:rPr sz="1600" b="1" i="0">
                <a:solidFill>
                  <a:srgbClr val="222831"/>
                </a:solidFill>
                <a:latin typeface="Calibri"/>
              </a:rPr>
              <a:t>inte ett fel</a:t>
            </a:r>
            <a:r>
              <a:rPr sz="1600" b="0" i="0">
                <a:solidFill>
                  <a:srgbClr val="222831"/>
                </a:solidFill>
                <a:latin typeface="Calibri"/>
              </a:rPr>
              <a:t>, och slicens regler kontrolleras aldrig.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572000"/>
            <a:ext cx="64008" cy="1005840"/>
          </a:xfrm>
          <a:prstGeom prst="rect">
            <a:avLst/>
          </a:prstGeom>
          <a:solidFill>
            <a:srgbClr val="E87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Vad är en Implementation Guide?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43584"/>
            <a:ext cx="11094415" cy="0"/>
          </a:xfrm>
          <a:prstGeom prst="line">
            <a:avLst/>
          </a:prstGeom>
          <a:ln w="12700">
            <a:solidFill>
              <a:srgbClr val="D5DA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B6577"/>
                </a:solidFill>
                <a:latin typeface="Calibri"/>
              </a:rPr>
              <a:t>FHIR i praktiken  ·  Modul 2 – Profiler och Implementation Guides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B6577"/>
                </a:solidFill>
                <a:latin typeface="Calibri"/>
              </a:rPr>
              <a:t>28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2606040" cy="1188720"/>
          </a:xfrm>
          <a:prstGeom prst="roundRect">
            <a:avLst>
              <a:gd name="adj" fmla="val 12000"/>
            </a:avLst>
          </a:prstGeom>
          <a:solidFill>
            <a:srgbClr val="D9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i="0">
                <a:solidFill>
                  <a:srgbClr val="222831"/>
                </a:solidFill>
                <a:latin typeface="Calibri"/>
              </a:rPr>
              <a:t>Profiler</a:t>
            </a:r>
          </a:p>
          <a:p>
            <a:pPr algn="ctr"/>
            <a:r>
              <a:rPr sz="1500" b="0" i="0">
                <a:solidFill>
                  <a:srgbClr val="222831"/>
                </a:solidFill>
                <a:latin typeface="Calibri"/>
              </a:rPr>
              <a:t>StructureDefinition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37560" y="1417320"/>
            <a:ext cx="2606040" cy="1188720"/>
          </a:xfrm>
          <a:prstGeom prst="roundRect">
            <a:avLst>
              <a:gd name="adj" fmla="val 12000"/>
            </a:avLst>
          </a:prstGeom>
          <a:solidFill>
            <a:srgbClr val="D9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i="0">
                <a:solidFill>
                  <a:srgbClr val="222831"/>
                </a:solidFill>
                <a:latin typeface="Calibri"/>
              </a:rPr>
              <a:t>Extensions</a:t>
            </a:r>
          </a:p>
          <a:p>
            <a:pPr algn="ctr"/>
            <a:r>
              <a:rPr sz="1500" b="0" i="0">
                <a:solidFill>
                  <a:srgbClr val="222831"/>
                </a:solidFill>
                <a:latin typeface="Calibri"/>
              </a:rPr>
              <a:t>StructureDefinition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417320"/>
            <a:ext cx="2606040" cy="1188720"/>
          </a:xfrm>
          <a:prstGeom prst="roundRect">
            <a:avLst>
              <a:gd name="adj" fmla="val 12000"/>
            </a:avLst>
          </a:prstGeom>
          <a:solidFill>
            <a:srgbClr val="D9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i="0">
                <a:solidFill>
                  <a:srgbClr val="222831"/>
                </a:solidFill>
                <a:latin typeface="Calibri"/>
              </a:rPr>
              <a:t>Terminologi</a:t>
            </a:r>
          </a:p>
          <a:p>
            <a:pPr algn="ctr"/>
            <a:r>
              <a:rPr sz="1500" b="0" i="0">
                <a:solidFill>
                  <a:srgbClr val="222831"/>
                </a:solidFill>
                <a:latin typeface="Calibri"/>
              </a:rPr>
              <a:t>CodeSystem, ValueSet, ConceptMap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15400" y="1417320"/>
            <a:ext cx="2606040" cy="1188720"/>
          </a:xfrm>
          <a:prstGeom prst="roundRect">
            <a:avLst>
              <a:gd name="adj" fmla="val 12000"/>
            </a:avLst>
          </a:prstGeom>
          <a:solidFill>
            <a:srgbClr val="D9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i="0">
                <a:solidFill>
                  <a:srgbClr val="222831"/>
                </a:solidFill>
                <a:latin typeface="Calibri"/>
              </a:rPr>
              <a:t>Exempel</a:t>
            </a:r>
          </a:p>
          <a:p>
            <a:pPr algn="ctr"/>
            <a:r>
              <a:rPr sz="1500" b="0" i="0">
                <a:solidFill>
                  <a:srgbClr val="222831"/>
                </a:solidFill>
                <a:latin typeface="Calibri"/>
              </a:rPr>
              <a:t>instanser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788920"/>
            <a:ext cx="2606040" cy="1188720"/>
          </a:xfrm>
          <a:prstGeom prst="roundRect">
            <a:avLst>
              <a:gd name="adj" fmla="val 12000"/>
            </a:avLst>
          </a:prstGeom>
          <a:solidFill>
            <a:srgbClr val="D9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i="0">
                <a:solidFill>
                  <a:srgbClr val="222831"/>
                </a:solidFill>
                <a:latin typeface="Calibri"/>
              </a:rPr>
              <a:t>Krav på system</a:t>
            </a:r>
          </a:p>
          <a:p>
            <a:pPr algn="ctr"/>
            <a:r>
              <a:rPr sz="1500" b="0" i="0">
                <a:solidFill>
                  <a:srgbClr val="222831"/>
                </a:solidFill>
                <a:latin typeface="Calibri"/>
              </a:rPr>
              <a:t>CapabilityStatement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37560" y="2788920"/>
            <a:ext cx="2606040" cy="1188720"/>
          </a:xfrm>
          <a:prstGeom prst="roundRect">
            <a:avLst>
              <a:gd name="adj" fmla="val 12000"/>
            </a:avLst>
          </a:prstGeom>
          <a:solidFill>
            <a:srgbClr val="D9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i="0">
                <a:solidFill>
                  <a:srgbClr val="222831"/>
                </a:solidFill>
                <a:latin typeface="Calibri"/>
              </a:rPr>
              <a:t>Sökparametrar</a:t>
            </a:r>
          </a:p>
          <a:p>
            <a:pPr algn="ctr"/>
            <a:r>
              <a:rPr sz="1500" b="1" i="0">
                <a:solidFill>
                  <a:srgbClr val="222831"/>
                </a:solidFill>
                <a:latin typeface="Calibri"/>
              </a:rPr>
              <a:t>och operationer</a:t>
            </a:r>
          </a:p>
          <a:p>
            <a:pPr algn="ctr"/>
            <a:r>
              <a:rPr sz="1500" b="0" i="0">
                <a:solidFill>
                  <a:srgbClr val="222831"/>
                </a:solidFill>
                <a:latin typeface="Calibri"/>
              </a:rPr>
              <a:t>SearchParameter,</a:t>
            </a:r>
          </a:p>
          <a:p>
            <a:pPr algn="ctr"/>
            <a:r>
              <a:rPr sz="1500" b="0" i="0">
                <a:solidFill>
                  <a:srgbClr val="222831"/>
                </a:solidFill>
                <a:latin typeface="Calibri"/>
              </a:rPr>
              <a:t>OperationDefinition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2788920"/>
            <a:ext cx="2606040" cy="1188720"/>
          </a:xfrm>
          <a:prstGeom prst="roundRect">
            <a:avLst>
              <a:gd name="adj" fmla="val 12000"/>
            </a:avLst>
          </a:prstGeom>
          <a:solidFill>
            <a:srgbClr val="D9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i="0">
                <a:solidFill>
                  <a:srgbClr val="222831"/>
                </a:solidFill>
                <a:latin typeface="Calibri"/>
              </a:rPr>
              <a:t>Dokumentation</a:t>
            </a:r>
          </a:p>
          <a:p>
            <a:pPr algn="ctr"/>
            <a:r>
              <a:rPr sz="1500" b="0" i="0">
                <a:solidFill>
                  <a:srgbClr val="222831"/>
                </a:solidFill>
                <a:latin typeface="Calibri"/>
              </a:rPr>
              <a:t>sidor i Markdown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15400" y="2788920"/>
            <a:ext cx="2606040" cy="1188720"/>
          </a:xfrm>
          <a:prstGeom prst="roundRect">
            <a:avLst>
              <a:gd name="adj" fmla="val 12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0" i="0">
                <a:solidFill>
                  <a:srgbClr val="FFFFFF"/>
                </a:solidFill>
                <a:latin typeface="Calibri"/>
              </a:rPr>
              <a:t>📦 </a:t>
            </a:r>
            <a:r>
              <a:rPr sz="1500" b="1" i="0">
                <a:solidFill>
                  <a:srgbClr val="FFFFFF"/>
                </a:solidFill>
                <a:latin typeface="Calibri"/>
              </a:rPr>
              <a:t>package.tgz</a:t>
            </a:r>
          </a:p>
          <a:p>
            <a:pPr algn="ctr"/>
            <a:r>
              <a:rPr sz="1500" b="0" i="0">
                <a:solidFill>
                  <a:srgbClr val="FFFFFF"/>
                </a:solidFill>
                <a:latin typeface="Calibri"/>
              </a:rPr>
              <a:t>för maskiner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206240"/>
            <a:ext cx="1109441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700" b="0" i="0">
                <a:solidFill>
                  <a:srgbClr val="222831"/>
                </a:solidFill>
                <a:latin typeface="Calibri"/>
              </a:rPr>
              <a:t>Publiceras som </a:t>
            </a:r>
            <a:r>
              <a:rPr sz="1700" b="1" i="0">
                <a:solidFill>
                  <a:srgbClr val="222831"/>
                </a:solidFill>
                <a:latin typeface="Calibri"/>
              </a:rPr>
              <a:t>webbplats</a:t>
            </a:r>
            <a:r>
              <a:rPr sz="1700" b="0" i="0">
                <a:solidFill>
                  <a:srgbClr val="222831"/>
                </a:solidFill>
                <a:latin typeface="Calibri"/>
              </a:rPr>
              <a:t> (för människor) och </a:t>
            </a:r>
            <a:r>
              <a:rPr sz="1700" b="1" i="0">
                <a:solidFill>
                  <a:srgbClr val="222831"/>
                </a:solidFill>
                <a:latin typeface="Calibri"/>
              </a:rPr>
              <a:t>npm-paket</a:t>
            </a:r>
            <a:r>
              <a:rPr sz="1700" b="0" i="0">
                <a:solidFill>
                  <a:srgbClr val="222831"/>
                </a:solidFill>
                <a:latin typeface="Calibri"/>
              </a:rPr>
              <a:t> (för validatorer, servrar och andra IG:er)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700" b="0" i="0">
                <a:solidFill>
                  <a:srgbClr val="222831"/>
                </a:solidFill>
                <a:latin typeface="Calibri"/>
              </a:rPr>
              <a:t>Identifieras med </a:t>
            </a:r>
            <a:r>
              <a:rPr sz="1700" b="1" i="0">
                <a:solidFill>
                  <a:srgbClr val="222831"/>
                </a:solidFill>
                <a:latin typeface="Calibri"/>
              </a:rPr>
              <a:t>paket-id</a:t>
            </a:r>
            <a:r>
              <a:rPr sz="1700" b="0" i="0">
                <a:solidFill>
                  <a:srgbClr val="222831"/>
                </a:solidFill>
                <a:latin typeface="Calibri"/>
              </a:rPr>
              <a:t> och </a:t>
            </a:r>
            <a:r>
              <a:rPr sz="1700" b="1" i="0">
                <a:solidFill>
                  <a:srgbClr val="222831"/>
                </a:solidFill>
                <a:latin typeface="Calibri"/>
              </a:rPr>
              <a:t>version</a:t>
            </a:r>
            <a:r>
              <a:rPr sz="1700" b="0" i="0">
                <a:solidFill>
                  <a:srgbClr val="222831"/>
                </a:solidFill>
                <a:latin typeface="Calibri"/>
              </a:rPr>
              <a:t>, t.ex. </a:t>
            </a:r>
            <a:r>
              <a:rPr sz="1600" b="0" i="0">
                <a:solidFill>
                  <a:srgbClr val="0E6B74"/>
                </a:solidFill>
                <a:latin typeface="Consolas"/>
              </a:rPr>
              <a:t>fhir.education.kursig#0.1.0</a:t>
            </a:r>
            <a:r>
              <a:rPr sz="1700" b="0" i="0">
                <a:solidFill>
                  <a:srgbClr val="222831"/>
                </a:solidFill>
                <a:latin typeface="Calibri"/>
              </a:rPr>
              <a:t>. Beroenden anges på samma sätt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700" b="0" i="0">
                <a:solidFill>
                  <a:srgbClr val="222831"/>
                </a:solidFill>
                <a:latin typeface="Calibri"/>
              </a:rPr>
              <a:t>Varje artefakt har en </a:t>
            </a:r>
            <a:r>
              <a:rPr sz="1700" b="1" i="0">
                <a:solidFill>
                  <a:srgbClr val="222831"/>
                </a:solidFill>
                <a:latin typeface="Calibri"/>
              </a:rPr>
              <a:t>canonical URL</a:t>
            </a:r>
            <a:r>
              <a:rPr sz="1700" b="0" i="0">
                <a:solidFill>
                  <a:srgbClr val="222831"/>
                </a:solidFill>
                <a:latin typeface="Calibri"/>
              </a:rPr>
              <a:t>, t.ex. </a:t>
            </a:r>
            <a:r>
              <a:rPr sz="1600" b="0" i="0">
                <a:solidFill>
                  <a:srgbClr val="0E6B74"/>
                </a:solidFill>
                <a:latin typeface="Consolas"/>
              </a:rPr>
              <a:t>…/StructureDefinition/EducationPatient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Läsa en IG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43584"/>
            <a:ext cx="11094415" cy="0"/>
          </a:xfrm>
          <a:prstGeom prst="line">
            <a:avLst/>
          </a:prstGeom>
          <a:ln w="12700">
            <a:solidFill>
              <a:srgbClr val="D5DA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B6577"/>
                </a:solidFill>
                <a:latin typeface="Calibri"/>
              </a:rPr>
              <a:t>FHIR i praktiken  ·  Modul 2 – Profiler och Implementation Guides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B6577"/>
                </a:solidFill>
                <a:latin typeface="Calibri"/>
              </a:rPr>
              <a:t>29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325880"/>
          <a:ext cx="7315200" cy="37124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4937760"/>
              </a:tblGrid>
              <a:tr h="530352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Vy / sida</a:t>
                      </a:r>
                    </a:p>
                  </a:txBody>
                  <a:tcPr marL="73152" marR="73152" marT="36576" marB="36576" anchor="ctr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Visar</a:t>
                      </a:r>
                    </a:p>
                  </a:txBody>
                  <a:tcPr marL="73152" marR="73152" marT="36576" marB="36576" anchor="ctr">
                    <a:solidFill>
                      <a:srgbClr val="1B2A4A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222831"/>
                          </a:solidFill>
                          <a:latin typeface="Calibri"/>
                        </a:rPr>
                        <a:t>Differential Table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22831"/>
                          </a:solidFill>
                          <a:latin typeface="Calibri"/>
                        </a:rPr>
                        <a:t>Det profilen ändrar jämfört med basen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222831"/>
                          </a:solidFill>
                          <a:latin typeface="Calibri"/>
                        </a:rPr>
                        <a:t>Snapshot Table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22831"/>
                          </a:solidFill>
                          <a:latin typeface="Calibri"/>
                        </a:rPr>
                        <a:t>Hela strukturen efter ändringarna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222831"/>
                          </a:solidFill>
                          <a:latin typeface="Calibri"/>
                        </a:rPr>
                        <a:t>Key Elements Table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22831"/>
                          </a:solidFill>
                          <a:latin typeface="Calibri"/>
                        </a:rPr>
                        <a:t>Obligatoriska och Must Support-element plus deras föräldrar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222831"/>
                          </a:solidFill>
                          <a:latin typeface="Calibri"/>
                        </a:rPr>
                        <a:t>Must Support Table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22831"/>
                          </a:solidFill>
                          <a:latin typeface="Calibri"/>
                        </a:rPr>
                        <a:t>Bara Must Support-element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222831"/>
                          </a:solidFill>
                          <a:latin typeface="Calibri"/>
                        </a:rPr>
                        <a:t>Artifacts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22831"/>
                          </a:solidFill>
                          <a:latin typeface="Calibri"/>
                        </a:rPr>
                        <a:t>Alla profiler, extensions, terminologi och exempel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222831"/>
                          </a:solidFill>
                          <a:latin typeface="Calibri"/>
                        </a:rPr>
                        <a:t>qa.html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22831"/>
                          </a:solidFill>
                          <a:latin typeface="Calibri"/>
                        </a:rPr>
                        <a:t>Kvalitetsrapport: fel, varningar och trasiga länkar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8138160" y="1417320"/>
            <a:ext cx="3474720" cy="3017520"/>
          </a:xfrm>
          <a:prstGeom prst="rect">
            <a:avLst/>
          </a:prstGeom>
          <a:solidFill>
            <a:srgbClr val="D9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/>
          <a:lstStyle/>
          <a:p>
            <a:pPr algn="l"/>
            <a:r>
              <a:rPr sz="1500" b="1" i="0">
                <a:solidFill>
                  <a:srgbClr val="222831"/>
                </a:solidFill>
                <a:latin typeface="Calibri"/>
              </a:rPr>
              <a:t>Exempel att bläddra i</a:t>
            </a:r>
          </a:p>
          <a:p>
            <a:pPr algn="l"/>
          </a:p>
          <a:p>
            <a:pPr algn="l"/>
            <a:r>
              <a:rPr sz="1500" b="0" i="0">
                <a:solidFill>
                  <a:srgbClr val="222831"/>
                </a:solidFill>
                <a:latin typeface="Calibri"/>
              </a:rPr>
              <a:t>• Din egen kurs-IG (GitHub Pages)</a:t>
            </a:r>
          </a:p>
          <a:p>
            <a:pPr algn="l"/>
            <a:r>
              <a:rPr sz="1500" b="0" i="0">
                <a:solidFill>
                  <a:srgbClr val="222831"/>
                </a:solidFill>
                <a:latin typeface="Calibri"/>
              </a:rPr>
              <a:t>• HL7 Sverige basprofiler</a:t>
            </a:r>
          </a:p>
          <a:p>
            <a:pPr algn="l"/>
            <a:r>
              <a:rPr sz="1500" b="0" i="0">
                <a:solidFill>
                  <a:srgbClr val="222831"/>
                </a:solidFill>
                <a:latin typeface="Calibri"/>
              </a:rPr>
              <a:t>  hl7.se/fhir/ig/base</a:t>
            </a:r>
          </a:p>
          <a:p>
            <a:pPr algn="l"/>
            <a:r>
              <a:rPr sz="1500" b="0" i="0">
                <a:solidFill>
                  <a:srgbClr val="222831"/>
                </a:solidFill>
                <a:latin typeface="Calibri"/>
              </a:rPr>
              <a:t>• International Patient Summary</a:t>
            </a:r>
          </a:p>
          <a:p>
            <a:pPr algn="l"/>
            <a:r>
              <a:rPr sz="1500" b="0" i="0">
                <a:solidFill>
                  <a:srgbClr val="222831"/>
                </a:solidFill>
                <a:latin typeface="Calibri"/>
              </a:rPr>
              <a:t>  hl7.org/fhir/uv/ips</a:t>
            </a:r>
          </a:p>
        </p:txBody>
      </p:sp>
      <p:sp>
        <p:nvSpPr>
          <p:cNvPr id="9" name="Rectangle 8"/>
          <p:cNvSpPr/>
          <p:nvPr/>
        </p:nvSpPr>
        <p:spPr>
          <a:xfrm>
            <a:off x="8138160" y="1417320"/>
            <a:ext cx="64008" cy="301752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Verktyg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43584"/>
            <a:ext cx="11094415" cy="0"/>
          </a:xfrm>
          <a:prstGeom prst="line">
            <a:avLst/>
          </a:prstGeom>
          <a:ln w="12700">
            <a:solidFill>
              <a:srgbClr val="D5DA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B6577"/>
                </a:solidFill>
                <a:latin typeface="Calibri"/>
              </a:rPr>
              <a:t>FHIR i praktiken  ·  Modul 2 – Profiler och Implementation Guides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B6577"/>
                </a:solidFill>
                <a:latin typeface="Calibri"/>
              </a:rPr>
              <a:t>30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325880"/>
          <a:ext cx="11094413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3789"/>
                <a:gridCol w="6841555"/>
                <a:gridCol w="1849069"/>
              </a:tblGrid>
              <a:tr h="438912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Verktyg</a:t>
                      </a:r>
                    </a:p>
                  </a:txBody>
                  <a:tcPr marL="73152" marR="73152" marT="36576" marB="36576" anchor="ctr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Användning</a:t>
                      </a:r>
                    </a:p>
                  </a:txBody>
                  <a:tcPr marL="73152" marR="73152" marT="36576" marB="36576" anchor="ctr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I dag</a:t>
                      </a:r>
                    </a:p>
                  </a:txBody>
                  <a:tcPr marL="73152" marR="73152" marT="36576" marB="36576" anchor="ctr">
                    <a:solidFill>
                      <a:srgbClr val="1B2A4A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222831"/>
                          </a:solidFill>
                          <a:latin typeface="Calibri"/>
                        </a:rPr>
                        <a:t>FSH + SUSHI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Skriva profiler, extensions, terminologi och exempel som text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Modul 3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222831"/>
                          </a:solidFill>
                          <a:latin typeface="Calibri"/>
                        </a:rPr>
                        <a:t>IG Publisher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Bygga IG-webbplats och paket, med kvalitetsrapport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Modul 3–6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222831"/>
                          </a:solidFill>
                          <a:latin typeface="Calibri"/>
                        </a:rPr>
                        <a:t>FHIR Validator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Validera instanser mot bas, profiler och terminologi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Modul 6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222831"/>
                          </a:solidFill>
                          <a:latin typeface="Calibri"/>
                        </a:rPr>
                        <a:t>FHIRPath Lab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Testa FHIRPath-uttryck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Modul 4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222831"/>
                          </a:solidFill>
                          <a:latin typeface="Calibri"/>
                        </a:rPr>
                        <a:t>HAPI FHIR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Java-bibliotek, klient och server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Modul 5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222831"/>
                          </a:solidFill>
                          <a:latin typeface="Calibri"/>
                        </a:rPr>
                        <a:t>FHIR Mapping Language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Mappa mellan strukturer, t.ex. proprietär JSON → FHIR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Modul 5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Forge / Simplifier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Grafisk profilering och publicering (Firely)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Inferno / Touchstone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Testa API-beteende och konformitet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Modul 6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GitHub Actions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Automatiskt bygge och validering vid varje incheckning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Hela dagen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E87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ÖVNING  ·  15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2.1 Läs en profil  ·  2.2 Vilken slice?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17320"/>
            <a:ext cx="11094415" cy="502920"/>
          </a:xfrm>
          <a:prstGeom prst="roundRect">
            <a:avLst>
              <a:gd name="adj" fmla="val 20000"/>
            </a:avLst>
          </a:prstGeom>
          <a:solidFill>
            <a:srgbClr val="FC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wrap="square"/>
          <a:lstStyle/>
          <a:p>
            <a:pPr algn="l"/>
            <a:r>
              <a:rPr sz="1500" b="0" i="0">
                <a:solidFill>
                  <a:srgbClr val="222831"/>
                </a:solidFill>
                <a:latin typeface="Calibri"/>
              </a:rPr>
              <a:t>📂  kursmaterial/modul-2-profiler-och-ig/  (frågor i README.md, facit i facit.md)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03120"/>
            <a:ext cx="11094415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900" b="1" i="0">
                <a:solidFill>
                  <a:srgbClr val="222831"/>
                </a:solidFill>
                <a:latin typeface="Calibri"/>
              </a:rPr>
              <a:t>2.1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Öppna profilen i </a:t>
            </a:r>
            <a:r>
              <a:rPr sz="1900" b="1" i="0">
                <a:solidFill>
                  <a:srgbClr val="222831"/>
                </a:solidFill>
                <a:latin typeface="Calibri"/>
              </a:rPr>
              <a:t>facit-IG:n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: </a:t>
            </a:r>
            <a:r>
              <a:rPr sz="1800" b="0" i="0">
                <a:solidFill>
                  <a:srgbClr val="0E6B74"/>
                </a:solidFill>
                <a:latin typeface="Consolas"/>
              </a:rPr>
              <a:t>https://&lt;konto&gt;.github.io/&lt;repo&gt;/facit/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→ Artifacts → EducationPatient</a:t>
            </a:r>
          </a:p>
          <a:p>
            <a:pPr marL="612647" indent="-256032">
              <a:spcBef>
                <a:spcPts val="300"/>
              </a:spcBef>
              <a:buClr>
                <a:srgbClr val="5B6577"/>
              </a:buClr>
              <a:buChar char="–"/>
            </a:pPr>
            <a:r>
              <a:rPr sz="1700" b="0" i="0">
                <a:solidFill>
                  <a:srgbClr val="5B6577"/>
                </a:solidFill>
                <a:latin typeface="Calibri"/>
              </a:rPr>
              <a:t>Använd flikarna Differential, Snapshot och Key Elements. Vilken canonical URL och basresurs?</a:t>
            </a:r>
          </a:p>
          <a:p>
            <a:pPr marL="612647" indent="-256032">
              <a:spcBef>
                <a:spcPts val="300"/>
              </a:spcBef>
              <a:buClr>
                <a:srgbClr val="5B6577"/>
              </a:buClr>
              <a:buChar char="–"/>
            </a:pPr>
            <a:r>
              <a:rPr sz="1700" b="0" i="0">
                <a:solidFill>
                  <a:srgbClr val="5B6577"/>
                </a:solidFill>
                <a:latin typeface="Calibri"/>
              </a:rPr>
              <a:t>Vilka element har ändrad kardinalitet? Vilka är Must Support?</a:t>
            </a:r>
          </a:p>
          <a:p>
            <a:pPr marL="612647" indent="-256032">
              <a:spcBef>
                <a:spcPts val="300"/>
              </a:spcBef>
              <a:buClr>
                <a:srgbClr val="5B6577"/>
              </a:buClr>
              <a:buChar char="–"/>
            </a:pPr>
            <a:r>
              <a:rPr sz="1700" b="0" i="0">
                <a:solidFill>
                  <a:srgbClr val="5B6577"/>
                </a:solidFill>
                <a:latin typeface="Calibri"/>
              </a:rPr>
              <a:t>Vilken bindning har ändrats, och är ändringen tillåten?</a:t>
            </a:r>
          </a:p>
          <a:p>
            <a:pPr marL="612647" indent="-256032">
              <a:spcBef>
                <a:spcPts val="300"/>
              </a:spcBef>
              <a:buClr>
                <a:srgbClr val="5B6577"/>
              </a:buClr>
              <a:buChar char="–"/>
            </a:pPr>
            <a:r>
              <a:rPr sz="1700" b="0" i="0">
                <a:solidFill>
                  <a:srgbClr val="5B6577"/>
                </a:solidFill>
                <a:latin typeface="Calibri"/>
              </a:rPr>
              <a:t>Vilka extensions används? Hur är identifier slicad?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900" b="1" i="0">
                <a:solidFill>
                  <a:srgbClr val="222831"/>
                </a:solidFill>
                <a:latin typeface="Calibri"/>
              </a:rPr>
              <a:t>2.2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Öppna </a:t>
            </a:r>
            <a:r>
              <a:rPr sz="1800" b="0" i="0">
                <a:solidFill>
                  <a:srgbClr val="0E6B74"/>
                </a:solidFill>
                <a:latin typeface="Consolas"/>
              </a:rPr>
              <a:t>Patient-identifierare.json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(fyra identifierare)</a:t>
            </a:r>
          </a:p>
          <a:p>
            <a:pPr marL="612647" indent="-256032">
              <a:spcBef>
                <a:spcPts val="300"/>
              </a:spcBef>
              <a:buClr>
                <a:srgbClr val="5B6577"/>
              </a:buClr>
              <a:buChar char="–"/>
            </a:pPr>
            <a:r>
              <a:rPr sz="1700" b="0" i="0">
                <a:solidFill>
                  <a:srgbClr val="5B6577"/>
                </a:solidFill>
                <a:latin typeface="Calibri"/>
              </a:rPr>
              <a:t>Vilken slice hamnar varje identifierare i? Är instansen giltig?</a:t>
            </a:r>
          </a:p>
          <a:p>
            <a:pPr marL="612647" indent="-256032">
              <a:spcBef>
                <a:spcPts val="300"/>
              </a:spcBef>
              <a:buClr>
                <a:srgbClr val="5B6577"/>
              </a:buClr>
              <a:buChar char="–"/>
            </a:pPr>
            <a:r>
              <a:rPr sz="1700" b="0" i="0">
                <a:solidFill>
                  <a:srgbClr val="5B6577"/>
                </a:solidFill>
                <a:latin typeface="Calibri"/>
              </a:rPr>
              <a:t>Vad händer med den fjärde? Och om slicingen vore </a:t>
            </a:r>
            <a:r>
              <a:rPr sz="1600" b="0" i="0">
                <a:solidFill>
                  <a:srgbClr val="0E6B74"/>
                </a:solidFill>
                <a:latin typeface="Consolas"/>
              </a:rPr>
              <a:t>closed</a:t>
            </a:r>
            <a:r>
              <a:rPr sz="1700" b="0" i="0">
                <a:solidFill>
                  <a:srgbClr val="5B6577"/>
                </a:solidFill>
                <a:latin typeface="Calibri"/>
              </a:rPr>
              <a:t>?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900" b="1" i="0">
                <a:solidFill>
                  <a:srgbClr val="222831"/>
                </a:solidFill>
                <a:latin typeface="Calibri"/>
              </a:rPr>
              <a:t>2.3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(extra) Bläddra i en publicerad IG och hitta slicing och extensions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B6577"/>
                </a:solidFill>
                <a:latin typeface="Calibri"/>
              </a:rPr>
              <a:t>FHIR i praktiken  ·  Modul 2 – Profiler och Implementation Guides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B6577"/>
                </a:solidFill>
                <a:latin typeface="Calibr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Sammanfattning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43584"/>
            <a:ext cx="11094415" cy="0"/>
          </a:xfrm>
          <a:prstGeom prst="line">
            <a:avLst/>
          </a:prstGeom>
          <a:ln w="12700">
            <a:solidFill>
              <a:srgbClr val="D5DA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B6577"/>
                </a:solidFill>
                <a:latin typeface="Calibri"/>
              </a:rPr>
              <a:t>FHIR i praktiken  ·  Modul 2 – Profiler och Implementation Guides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B6577"/>
                </a:solidFill>
                <a:latin typeface="Calibri"/>
              </a:rPr>
              <a:t>32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900" b="0" i="0">
                <a:solidFill>
                  <a:srgbClr val="222831"/>
                </a:solidFill>
                <a:latin typeface="Calibri"/>
              </a:rPr>
              <a:t>En </a:t>
            </a:r>
            <a:r>
              <a:rPr sz="1900" b="1" i="0">
                <a:solidFill>
                  <a:srgbClr val="222831"/>
                </a:solidFill>
                <a:latin typeface="Calibri"/>
              </a:rPr>
              <a:t>profil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begränsar en basresurs. Den är ett maskinläsbart kontrakt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900" b="1" i="0">
                <a:solidFill>
                  <a:srgbClr val="222831"/>
                </a:solidFill>
                <a:latin typeface="Calibri"/>
              </a:rPr>
              <a:t>Differential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= ändringar, och </a:t>
            </a:r>
            <a:r>
              <a:rPr sz="1900" b="1" i="0">
                <a:solidFill>
                  <a:srgbClr val="222831"/>
                </a:solidFill>
                <a:latin typeface="Calibri"/>
              </a:rPr>
              <a:t>snapshot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= hela resultatet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900" b="1" i="0">
                <a:solidFill>
                  <a:srgbClr val="222831"/>
                </a:solidFill>
                <a:latin typeface="Calibri"/>
              </a:rPr>
              <a:t>Must Support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definieras av varje IG. Var tydlig!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900" b="1" i="0">
                <a:solidFill>
                  <a:srgbClr val="222831"/>
                </a:solidFill>
                <a:latin typeface="Calibri"/>
              </a:rPr>
              <a:t>Extensions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definieras först och används sedan i profilen. Återanvänd befintliga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900" b="1" i="0">
                <a:solidFill>
                  <a:srgbClr val="222831"/>
                </a:solidFill>
                <a:latin typeface="Calibri"/>
              </a:rPr>
              <a:t>Slicing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delar upp listor, och diskriminatorn avgör tillhörigheten. Slice-namnen syns inte i data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900" b="0" i="0">
                <a:solidFill>
                  <a:srgbClr val="222831"/>
                </a:solidFill>
                <a:latin typeface="Calibri"/>
              </a:rPr>
              <a:t>En </a:t>
            </a:r>
            <a:r>
              <a:rPr sz="1900" b="1" i="0">
                <a:solidFill>
                  <a:srgbClr val="222831"/>
                </a:solidFill>
                <a:latin typeface="Calibri"/>
              </a:rPr>
              <a:t>IG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paketerar profiler, terminologi, exempel och krav: webbplats + npm-paket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03920" y="1508760"/>
            <a:ext cx="3108960" cy="2377440"/>
          </a:xfrm>
          <a:prstGeom prst="roundRect">
            <a:avLst>
              <a:gd name="adj" fmla="val 12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0" i="0">
                <a:solidFill>
                  <a:srgbClr val="FFFFFF"/>
                </a:solidFill>
                <a:latin typeface="Calibri"/>
              </a:rPr>
              <a:t>Härnäst</a:t>
            </a:r>
          </a:p>
          <a:p>
            <a:pPr algn="ctr"/>
          </a:p>
          <a:p>
            <a:pPr algn="ctr"/>
            <a:r>
              <a:rPr sz="1600" b="0" i="0">
                <a:solidFill>
                  <a:srgbClr val="FFFFFF"/>
                </a:solidFill>
                <a:latin typeface="Calibri"/>
              </a:rPr>
              <a:t>Modul 3</a:t>
            </a:r>
          </a:p>
          <a:p>
            <a:pPr algn="ctr"/>
            <a:r>
              <a:rPr sz="1600" b="0" i="0">
                <a:solidFill>
                  <a:srgbClr val="FFFFFF"/>
                </a:solidFill>
                <a:latin typeface="Calibri"/>
              </a:rPr>
              <a:t>FHIR Shorthand – vi skriver profilerna själva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600" b="1" i="0">
                <a:solidFill>
                  <a:srgbClr val="E8772E"/>
                </a:solidFill>
                <a:latin typeface="Calibri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574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FHIR Shorthand (FSH)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154680"/>
            <a:ext cx="67665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D9EEEF"/>
                </a:solidFill>
                <a:latin typeface="Calibri"/>
              </a:rPr>
              <a:t>Efter modulen kan du …</a:t>
            </a:r>
          </a:p>
          <a:p>
            <a:pPr>
              <a:spcBef>
                <a:spcPts val="600"/>
              </a:spcBef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›  läsa och skriva FSH</a:t>
            </a:r>
          </a:p>
          <a:p>
            <a:pPr>
              <a:spcBef>
                <a:spcPts val="600"/>
              </a:spcBef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›  skapa en profil och se den i den byggda IG:n</a:t>
            </a:r>
          </a:p>
          <a:p>
            <a:pPr>
              <a:spcBef>
                <a:spcPts val="600"/>
              </a:spcBef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›  binda terminologi med include och med referens</a:t>
            </a:r>
          </a:p>
          <a:p>
            <a:pPr>
              <a:spcBef>
                <a:spcPts val="600"/>
              </a:spcBef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›  lägga till extensions och slicing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46720" y="3154680"/>
            <a:ext cx="3566160" cy="2651760"/>
          </a:xfrm>
          <a:prstGeom prst="roundRect">
            <a:avLst>
              <a:gd name="adj" fmla="val 6000"/>
            </a:avLst>
          </a:prstGeom>
          <a:solidFill>
            <a:srgbClr val="263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28600" rIns="228600" tIns="182880" wrap="square"/>
          <a:lstStyle/>
          <a:p>
            <a:pPr algn="l"/>
            <a:r>
              <a:rPr sz="1600" b="1" i="0">
                <a:solidFill>
                  <a:srgbClr val="E8772E"/>
                </a:solidFill>
                <a:latin typeface="Calibri"/>
              </a:rPr>
              <a:t>50 minuter</a:t>
            </a:r>
          </a:p>
          <a:p>
            <a:pPr>
              <a:spcBef>
                <a:spcPts val="800"/>
              </a:spcBef>
            </a:pPr>
            <a:r>
              <a:rPr sz="1500" b="1" i="0">
                <a:solidFill>
                  <a:srgbClr val="FFFFFF"/>
                </a:solidFill>
                <a:latin typeface="Calibri"/>
              </a:rPr>
              <a:t>15 min  </a:t>
            </a:r>
            <a:r>
              <a:rPr sz="1500" b="0" i="0">
                <a:solidFill>
                  <a:srgbClr val="D5DAE1"/>
                </a:solidFill>
                <a:latin typeface="Calibri"/>
              </a:rPr>
              <a:t>Genomgång</a:t>
            </a:r>
          </a:p>
          <a:p>
            <a:pPr>
              <a:spcBef>
                <a:spcPts val="800"/>
              </a:spcBef>
            </a:pPr>
            <a:r>
              <a:rPr sz="1500" b="1" i="0">
                <a:solidFill>
                  <a:srgbClr val="FFFFFF"/>
                </a:solidFill>
                <a:latin typeface="Calibri"/>
              </a:rPr>
              <a:t>30 min  </a:t>
            </a:r>
            <a:r>
              <a:rPr sz="1500" b="0" i="0">
                <a:solidFill>
                  <a:srgbClr val="D5DAE1"/>
                </a:solidFill>
                <a:latin typeface="Calibri"/>
              </a:rPr>
              <a:t>Övningar 3.1–3.3 (3.4–3.5 om tid finns)</a:t>
            </a:r>
          </a:p>
          <a:p>
            <a:pPr>
              <a:spcBef>
                <a:spcPts val="800"/>
              </a:spcBef>
            </a:pPr>
            <a:r>
              <a:rPr sz="1500" b="1" i="0">
                <a:solidFill>
                  <a:srgbClr val="FFFFFF"/>
                </a:solidFill>
                <a:latin typeface="Calibri"/>
              </a:rPr>
              <a:t> 5 min  </a:t>
            </a:r>
            <a:r>
              <a:rPr sz="1500" b="0" i="0">
                <a:solidFill>
                  <a:srgbClr val="D5DAE1"/>
                </a:solidFill>
                <a:latin typeface="Calibri"/>
              </a:rPr>
              <a:t>Summering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5DAE1"/>
                </a:solidFill>
                <a:latin typeface="Calibri"/>
              </a:rPr>
              <a:t>FHIR i praktiken  ·  Modul 3 – FHIR Shorthand (FSH)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41908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D5DAE1"/>
                </a:solidFill>
                <a:latin typeface="Calibri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Varför FSH?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43584"/>
            <a:ext cx="11094415" cy="0"/>
          </a:xfrm>
          <a:prstGeom prst="line">
            <a:avLst/>
          </a:prstGeom>
          <a:ln w="12700">
            <a:solidFill>
              <a:srgbClr val="D5DA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B6577"/>
                </a:solidFill>
                <a:latin typeface="Calibri"/>
              </a:rPr>
              <a:t>FHIR i praktiken  ·  Modul 3 – FHIR Shorthand (FSH)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B6577"/>
                </a:solidFill>
                <a:latin typeface="Calibri"/>
              </a:rPr>
              <a:t>34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5B6577"/>
                </a:solidFill>
                <a:latin typeface="Calibri"/>
              </a:rPr>
              <a:t>FSH – 8 rader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664208"/>
            <a:ext cx="5120640" cy="2359152"/>
          </a:xfrm>
          <a:prstGeom prst="rect">
            <a:avLst/>
          </a:prstGeom>
          <a:solidFill>
            <a:srgbClr val="F4F6F8"/>
          </a:solidFill>
          <a:ln w="9525">
            <a:solidFill>
              <a:srgbClr val="D5D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01168" tIns="91440"/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0E6B74"/>
                </a:solidFill>
                <a:latin typeface="Consolas"/>
              </a:rPr>
              <a:t>Profile:</a:t>
            </a:r>
            <a:r>
              <a:rPr sz="1250" b="0" i="0">
                <a:solidFill>
                  <a:srgbClr val="222831"/>
                </a:solidFill>
                <a:latin typeface="Consolas"/>
              </a:rPr>
              <a:t> EducationPatient</a:t>
            </a:r>
          </a:p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0E6B74"/>
                </a:solidFill>
                <a:latin typeface="Consolas"/>
              </a:rPr>
              <a:t>Parent:</a:t>
            </a:r>
            <a:r>
              <a:rPr sz="1250" b="0" i="0">
                <a:solidFill>
                  <a:srgbClr val="222831"/>
                </a:solidFill>
                <a:latin typeface="Consolas"/>
              </a:rPr>
              <a:t> Patient</a:t>
            </a:r>
          </a:p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0E6B74"/>
                </a:solidFill>
                <a:latin typeface="Consolas"/>
              </a:rPr>
              <a:t>Id:</a:t>
            </a:r>
            <a:r>
              <a:rPr sz="1250" b="0" i="0">
                <a:solidFill>
                  <a:srgbClr val="222831"/>
                </a:solidFill>
                <a:latin typeface="Consolas"/>
              </a:rPr>
              <a:t> EducationPatient</a:t>
            </a:r>
          </a:p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0E6B74"/>
                </a:solidFill>
                <a:latin typeface="Consolas"/>
              </a:rPr>
              <a:t>Title:</a:t>
            </a:r>
            <a:r>
              <a:rPr sz="1250" b="0" i="0">
                <a:solidFill>
                  <a:srgbClr val="222831"/>
                </a:solidFill>
                <a:latin typeface="Consolas"/>
              </a:rPr>
              <a:t> </a:t>
            </a:r>
            <a:r>
              <a:rPr sz="1250" b="0" i="0">
                <a:solidFill>
                  <a:srgbClr val="A64B00"/>
                </a:solidFill>
                <a:latin typeface="Consolas"/>
              </a:rPr>
              <a:t>"Education Patient"</a:t>
            </a:r>
          </a:p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0E6B74"/>
                </a:solidFill>
                <a:latin typeface="Consolas"/>
              </a:rPr>
              <a:t>Description:</a:t>
            </a:r>
            <a:r>
              <a:rPr sz="1250" b="0" i="0">
                <a:solidFill>
                  <a:srgbClr val="222831"/>
                </a:solidFill>
                <a:latin typeface="Consolas"/>
              </a:rPr>
              <a:t> </a:t>
            </a:r>
            <a:r>
              <a:rPr sz="1250" b="0" i="0">
                <a:solidFill>
                  <a:srgbClr val="A64B00"/>
                </a:solidFill>
                <a:latin typeface="Consolas"/>
              </a:rPr>
              <a:t>"Patientprofil för FHIR-utbildningen."</a:t>
            </a:r>
          </a:p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222831"/>
                </a:solidFill>
                <a:latin typeface="Consolas"/>
              </a:rPr>
              <a:t>* identifier 1..* MS</a:t>
            </a:r>
          </a:p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222831"/>
                </a:solidFill>
                <a:latin typeface="Consolas"/>
              </a:rPr>
              <a:t>* name 1..* MS</a:t>
            </a:r>
          </a:p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222831"/>
                </a:solidFill>
                <a:latin typeface="Consolas"/>
              </a:rPr>
              <a:t>* birthDate 1..1 MS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664208"/>
            <a:ext cx="54864" cy="2359152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35040" y="1371600"/>
            <a:ext cx="5577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5B6577"/>
                </a:solidFill>
                <a:latin typeface="Calibri"/>
              </a:rPr>
              <a:t>JSON – ca 40 rader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35040" y="1664208"/>
            <a:ext cx="5577840" cy="4462272"/>
          </a:xfrm>
          <a:prstGeom prst="rect">
            <a:avLst/>
          </a:prstGeom>
          <a:solidFill>
            <a:srgbClr val="F4F6F8"/>
          </a:solidFill>
          <a:ln w="9525">
            <a:solidFill>
              <a:srgbClr val="D5D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01168" tIns="91440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222831"/>
                </a:solidFill>
                <a:latin typeface="Consolas"/>
              </a:rPr>
              <a:t>{</a:t>
            </a:r>
          </a:p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222831"/>
                </a:solidFill>
                <a:latin typeface="Consolas"/>
              </a:rPr>
              <a:t>  </a:t>
            </a:r>
            <a:r>
              <a:rPr sz="1000" b="0" i="0">
                <a:solidFill>
                  <a:srgbClr val="0E6B74"/>
                </a:solidFill>
                <a:latin typeface="Consolas"/>
              </a:rPr>
              <a:t>"resourceType"</a:t>
            </a:r>
            <a:r>
              <a:rPr sz="1000" b="0" i="0">
                <a:solidFill>
                  <a:srgbClr val="222831"/>
                </a:solidFill>
                <a:latin typeface="Consolas"/>
              </a:rPr>
              <a:t>:</a:t>
            </a:r>
            <a:r>
              <a:rPr sz="1000" b="0" i="0">
                <a:solidFill>
                  <a:srgbClr val="222831"/>
                </a:solidFill>
                <a:latin typeface="Consolas"/>
              </a:rPr>
              <a:t> </a:t>
            </a:r>
            <a:r>
              <a:rPr sz="1000" b="0" i="0">
                <a:solidFill>
                  <a:srgbClr val="A64B00"/>
                </a:solidFill>
                <a:latin typeface="Consolas"/>
              </a:rPr>
              <a:t>"StructureDefinition"</a:t>
            </a:r>
            <a:r>
              <a:rPr sz="1000" b="0" i="0">
                <a:solidFill>
                  <a:srgbClr val="222831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222831"/>
                </a:solidFill>
                <a:latin typeface="Consolas"/>
              </a:rPr>
              <a:t>  </a:t>
            </a:r>
            <a:r>
              <a:rPr sz="1000" b="0" i="0">
                <a:solidFill>
                  <a:srgbClr val="0E6B74"/>
                </a:solidFill>
                <a:latin typeface="Consolas"/>
              </a:rPr>
              <a:t>"id"</a:t>
            </a:r>
            <a:r>
              <a:rPr sz="1000" b="0" i="0">
                <a:solidFill>
                  <a:srgbClr val="222831"/>
                </a:solidFill>
                <a:latin typeface="Consolas"/>
              </a:rPr>
              <a:t>:</a:t>
            </a:r>
            <a:r>
              <a:rPr sz="1000" b="0" i="0">
                <a:solidFill>
                  <a:srgbClr val="222831"/>
                </a:solidFill>
                <a:latin typeface="Consolas"/>
              </a:rPr>
              <a:t> </a:t>
            </a:r>
            <a:r>
              <a:rPr sz="1000" b="0" i="0">
                <a:solidFill>
                  <a:srgbClr val="A64B00"/>
                </a:solidFill>
                <a:latin typeface="Consolas"/>
              </a:rPr>
              <a:t>"EducationPatient"</a:t>
            </a:r>
            <a:r>
              <a:rPr sz="1000" b="0" i="0">
                <a:solidFill>
                  <a:srgbClr val="222831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222831"/>
                </a:solidFill>
                <a:latin typeface="Consolas"/>
              </a:rPr>
              <a:t>  </a:t>
            </a:r>
            <a:r>
              <a:rPr sz="1000" b="0" i="0">
                <a:solidFill>
                  <a:srgbClr val="0E6B74"/>
                </a:solidFill>
                <a:latin typeface="Consolas"/>
              </a:rPr>
              <a:t>"url"</a:t>
            </a:r>
            <a:r>
              <a:rPr sz="1000" b="0" i="0">
                <a:solidFill>
                  <a:srgbClr val="222831"/>
                </a:solidFill>
                <a:latin typeface="Consolas"/>
              </a:rPr>
              <a:t>:</a:t>
            </a:r>
            <a:r>
              <a:rPr sz="1000" b="0" i="0">
                <a:solidFill>
                  <a:srgbClr val="222831"/>
                </a:solidFill>
                <a:latin typeface="Consolas"/>
              </a:rPr>
              <a:t> </a:t>
            </a:r>
            <a:r>
              <a:rPr sz="1000" b="0" i="0">
                <a:solidFill>
                  <a:srgbClr val="A64B00"/>
                </a:solidFill>
                <a:latin typeface="Consolas"/>
              </a:rPr>
              <a:t>"http://example.org/fhir/.../EducationPatient"</a:t>
            </a:r>
            <a:r>
              <a:rPr sz="1000" b="0" i="0">
                <a:solidFill>
                  <a:srgbClr val="222831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222831"/>
                </a:solidFill>
                <a:latin typeface="Consolas"/>
              </a:rPr>
              <a:t>  </a:t>
            </a:r>
            <a:r>
              <a:rPr sz="1000" b="0" i="0">
                <a:solidFill>
                  <a:srgbClr val="0E6B74"/>
                </a:solidFill>
                <a:latin typeface="Consolas"/>
              </a:rPr>
              <a:t>"name"</a:t>
            </a:r>
            <a:r>
              <a:rPr sz="1000" b="0" i="0">
                <a:solidFill>
                  <a:srgbClr val="222831"/>
                </a:solidFill>
                <a:latin typeface="Consolas"/>
              </a:rPr>
              <a:t>:</a:t>
            </a:r>
            <a:r>
              <a:rPr sz="1000" b="0" i="0">
                <a:solidFill>
                  <a:srgbClr val="222831"/>
                </a:solidFill>
                <a:latin typeface="Consolas"/>
              </a:rPr>
              <a:t> </a:t>
            </a:r>
            <a:r>
              <a:rPr sz="1000" b="0" i="0">
                <a:solidFill>
                  <a:srgbClr val="A64B00"/>
                </a:solidFill>
                <a:latin typeface="Consolas"/>
              </a:rPr>
              <a:t>"EducationPatient"</a:t>
            </a:r>
            <a:r>
              <a:rPr sz="1000" b="0" i="0">
                <a:solidFill>
                  <a:srgbClr val="222831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222831"/>
                </a:solidFill>
                <a:latin typeface="Consolas"/>
              </a:rPr>
              <a:t>  </a:t>
            </a:r>
            <a:r>
              <a:rPr sz="1000" b="0" i="0">
                <a:solidFill>
                  <a:srgbClr val="0E6B74"/>
                </a:solidFill>
                <a:latin typeface="Consolas"/>
              </a:rPr>
              <a:t>"title"</a:t>
            </a:r>
            <a:r>
              <a:rPr sz="1000" b="0" i="0">
                <a:solidFill>
                  <a:srgbClr val="222831"/>
                </a:solidFill>
                <a:latin typeface="Consolas"/>
              </a:rPr>
              <a:t>:</a:t>
            </a:r>
            <a:r>
              <a:rPr sz="1000" b="0" i="0">
                <a:solidFill>
                  <a:srgbClr val="222831"/>
                </a:solidFill>
                <a:latin typeface="Consolas"/>
              </a:rPr>
              <a:t> </a:t>
            </a:r>
            <a:r>
              <a:rPr sz="1000" b="0" i="0">
                <a:solidFill>
                  <a:srgbClr val="A64B00"/>
                </a:solidFill>
                <a:latin typeface="Consolas"/>
              </a:rPr>
              <a:t>"Education Patient"</a:t>
            </a:r>
            <a:r>
              <a:rPr sz="1000" b="0" i="0">
                <a:solidFill>
                  <a:srgbClr val="222831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222831"/>
                </a:solidFill>
                <a:latin typeface="Consolas"/>
              </a:rPr>
              <a:t>  </a:t>
            </a:r>
            <a:r>
              <a:rPr sz="1000" b="0" i="0">
                <a:solidFill>
                  <a:srgbClr val="0E6B74"/>
                </a:solidFill>
                <a:latin typeface="Consolas"/>
              </a:rPr>
              <a:t>"status"</a:t>
            </a:r>
            <a:r>
              <a:rPr sz="1000" b="0" i="0">
                <a:solidFill>
                  <a:srgbClr val="222831"/>
                </a:solidFill>
                <a:latin typeface="Consolas"/>
              </a:rPr>
              <a:t>:</a:t>
            </a:r>
            <a:r>
              <a:rPr sz="1000" b="0" i="0">
                <a:solidFill>
                  <a:srgbClr val="222831"/>
                </a:solidFill>
                <a:latin typeface="Consolas"/>
              </a:rPr>
              <a:t> </a:t>
            </a:r>
            <a:r>
              <a:rPr sz="1000" b="0" i="0">
                <a:solidFill>
                  <a:srgbClr val="A64B00"/>
                </a:solidFill>
                <a:latin typeface="Consolas"/>
              </a:rPr>
              <a:t>"draft"</a:t>
            </a:r>
            <a:r>
              <a:rPr sz="1000" b="0" i="0">
                <a:solidFill>
                  <a:srgbClr val="222831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222831"/>
                </a:solidFill>
                <a:latin typeface="Consolas"/>
              </a:rPr>
              <a:t>  </a:t>
            </a:r>
            <a:r>
              <a:rPr sz="1000" b="0" i="0">
                <a:solidFill>
                  <a:srgbClr val="0E6B74"/>
                </a:solidFill>
                <a:latin typeface="Consolas"/>
              </a:rPr>
              <a:t>"fhirVersion"</a:t>
            </a:r>
            <a:r>
              <a:rPr sz="1000" b="0" i="0">
                <a:solidFill>
                  <a:srgbClr val="222831"/>
                </a:solidFill>
                <a:latin typeface="Consolas"/>
              </a:rPr>
              <a:t>:</a:t>
            </a:r>
            <a:r>
              <a:rPr sz="1000" b="0" i="0">
                <a:solidFill>
                  <a:srgbClr val="222831"/>
                </a:solidFill>
                <a:latin typeface="Consolas"/>
              </a:rPr>
              <a:t> </a:t>
            </a:r>
            <a:r>
              <a:rPr sz="1000" b="0" i="0">
                <a:solidFill>
                  <a:srgbClr val="A64B00"/>
                </a:solidFill>
                <a:latin typeface="Consolas"/>
              </a:rPr>
              <a:t>"4.0.1"</a:t>
            </a:r>
            <a:r>
              <a:rPr sz="1000" b="0" i="0">
                <a:solidFill>
                  <a:srgbClr val="222831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222831"/>
                </a:solidFill>
                <a:latin typeface="Consolas"/>
              </a:rPr>
              <a:t>  </a:t>
            </a:r>
            <a:r>
              <a:rPr sz="1000" b="0" i="0">
                <a:solidFill>
                  <a:srgbClr val="0E6B74"/>
                </a:solidFill>
                <a:latin typeface="Consolas"/>
              </a:rPr>
              <a:t>"kind"</a:t>
            </a:r>
            <a:r>
              <a:rPr sz="1000" b="0" i="0">
                <a:solidFill>
                  <a:srgbClr val="222831"/>
                </a:solidFill>
                <a:latin typeface="Consolas"/>
              </a:rPr>
              <a:t>:</a:t>
            </a:r>
            <a:r>
              <a:rPr sz="1000" b="0" i="0">
                <a:solidFill>
                  <a:srgbClr val="222831"/>
                </a:solidFill>
                <a:latin typeface="Consolas"/>
              </a:rPr>
              <a:t> </a:t>
            </a:r>
            <a:r>
              <a:rPr sz="1000" b="0" i="0">
                <a:solidFill>
                  <a:srgbClr val="A64B00"/>
                </a:solidFill>
                <a:latin typeface="Consolas"/>
              </a:rPr>
              <a:t>"resource"</a:t>
            </a:r>
            <a:r>
              <a:rPr sz="1000" b="0" i="0">
                <a:solidFill>
                  <a:srgbClr val="222831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222831"/>
                </a:solidFill>
                <a:latin typeface="Consolas"/>
              </a:rPr>
              <a:t>  </a:t>
            </a:r>
            <a:r>
              <a:rPr sz="1000" b="0" i="0">
                <a:solidFill>
                  <a:srgbClr val="0E6B74"/>
                </a:solidFill>
                <a:latin typeface="Consolas"/>
              </a:rPr>
              <a:t>"abstract"</a:t>
            </a:r>
            <a:r>
              <a:rPr sz="1000" b="0" i="0">
                <a:solidFill>
                  <a:srgbClr val="222831"/>
                </a:solidFill>
                <a:latin typeface="Consolas"/>
              </a:rPr>
              <a:t>:</a:t>
            </a:r>
            <a:r>
              <a:rPr sz="1000" b="0" i="0">
                <a:solidFill>
                  <a:srgbClr val="222831"/>
                </a:solidFill>
                <a:latin typeface="Consolas"/>
              </a:rPr>
              <a:t> false,</a:t>
            </a:r>
          </a:p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222831"/>
                </a:solidFill>
                <a:latin typeface="Consolas"/>
              </a:rPr>
              <a:t>  </a:t>
            </a:r>
            <a:r>
              <a:rPr sz="1000" b="0" i="0">
                <a:solidFill>
                  <a:srgbClr val="0E6B74"/>
                </a:solidFill>
                <a:latin typeface="Consolas"/>
              </a:rPr>
              <a:t>"type"</a:t>
            </a:r>
            <a:r>
              <a:rPr sz="1000" b="0" i="0">
                <a:solidFill>
                  <a:srgbClr val="222831"/>
                </a:solidFill>
                <a:latin typeface="Consolas"/>
              </a:rPr>
              <a:t>:</a:t>
            </a:r>
            <a:r>
              <a:rPr sz="1000" b="0" i="0">
                <a:solidFill>
                  <a:srgbClr val="222831"/>
                </a:solidFill>
                <a:latin typeface="Consolas"/>
              </a:rPr>
              <a:t> </a:t>
            </a:r>
            <a:r>
              <a:rPr sz="1000" b="0" i="0">
                <a:solidFill>
                  <a:srgbClr val="A64B00"/>
                </a:solidFill>
                <a:latin typeface="Consolas"/>
              </a:rPr>
              <a:t>"Patient"</a:t>
            </a:r>
            <a:r>
              <a:rPr sz="1000" b="0" i="0">
                <a:solidFill>
                  <a:srgbClr val="222831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222831"/>
                </a:solidFill>
                <a:latin typeface="Consolas"/>
              </a:rPr>
              <a:t>  </a:t>
            </a:r>
            <a:r>
              <a:rPr sz="1000" b="0" i="0">
                <a:solidFill>
                  <a:srgbClr val="0E6B74"/>
                </a:solidFill>
                <a:latin typeface="Consolas"/>
              </a:rPr>
              <a:t>"baseDefinition"</a:t>
            </a:r>
            <a:r>
              <a:rPr sz="1000" b="0" i="0">
                <a:solidFill>
                  <a:srgbClr val="222831"/>
                </a:solidFill>
                <a:latin typeface="Consolas"/>
              </a:rPr>
              <a:t>:</a:t>
            </a:r>
            <a:r>
              <a:rPr sz="1000" b="0" i="0">
                <a:solidFill>
                  <a:srgbClr val="222831"/>
                </a:solidFill>
                <a:latin typeface="Consolas"/>
              </a:rPr>
              <a:t> </a:t>
            </a:r>
            <a:r>
              <a:rPr sz="1000" b="0" i="0">
                <a:solidFill>
                  <a:srgbClr val="A64B00"/>
                </a:solidFill>
                <a:latin typeface="Consolas"/>
              </a:rPr>
              <a:t>"http://hl7.org/fhir/StructureDefinition/Patient"</a:t>
            </a:r>
            <a:r>
              <a:rPr sz="1000" b="0" i="0">
                <a:solidFill>
                  <a:srgbClr val="222831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222831"/>
                </a:solidFill>
                <a:latin typeface="Consolas"/>
              </a:rPr>
              <a:t>  </a:t>
            </a:r>
            <a:r>
              <a:rPr sz="1000" b="0" i="0">
                <a:solidFill>
                  <a:srgbClr val="0E6B74"/>
                </a:solidFill>
                <a:latin typeface="Consolas"/>
              </a:rPr>
              <a:t>"derivation"</a:t>
            </a:r>
            <a:r>
              <a:rPr sz="1000" b="0" i="0">
                <a:solidFill>
                  <a:srgbClr val="222831"/>
                </a:solidFill>
                <a:latin typeface="Consolas"/>
              </a:rPr>
              <a:t>:</a:t>
            </a:r>
            <a:r>
              <a:rPr sz="1000" b="0" i="0">
                <a:solidFill>
                  <a:srgbClr val="222831"/>
                </a:solidFill>
                <a:latin typeface="Consolas"/>
              </a:rPr>
              <a:t> </a:t>
            </a:r>
            <a:r>
              <a:rPr sz="1000" b="0" i="0">
                <a:solidFill>
                  <a:srgbClr val="A64B00"/>
                </a:solidFill>
                <a:latin typeface="Consolas"/>
              </a:rPr>
              <a:t>"constraint"</a:t>
            </a:r>
            <a:r>
              <a:rPr sz="1000" b="0" i="0">
                <a:solidFill>
                  <a:srgbClr val="222831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222831"/>
                </a:solidFill>
                <a:latin typeface="Consolas"/>
              </a:rPr>
              <a:t>  </a:t>
            </a:r>
            <a:r>
              <a:rPr sz="1000" b="0" i="0">
                <a:solidFill>
                  <a:srgbClr val="0E6B74"/>
                </a:solidFill>
                <a:latin typeface="Consolas"/>
              </a:rPr>
              <a:t>"differential"</a:t>
            </a:r>
            <a:r>
              <a:rPr sz="1000" b="0" i="0">
                <a:solidFill>
                  <a:srgbClr val="222831"/>
                </a:solidFill>
                <a:latin typeface="Consolas"/>
              </a:rPr>
              <a:t>:</a:t>
            </a:r>
            <a:r>
              <a:rPr sz="1000" b="0" i="0">
                <a:solidFill>
                  <a:srgbClr val="222831"/>
                </a:solidFill>
                <a:latin typeface="Consolas"/>
              </a:rPr>
              <a:t> { </a:t>
            </a:r>
            <a:r>
              <a:rPr sz="1000" b="0" i="0">
                <a:solidFill>
                  <a:srgbClr val="A64B00"/>
                </a:solidFill>
                <a:latin typeface="Consolas"/>
              </a:rPr>
              <a:t>"element"</a:t>
            </a:r>
            <a:r>
              <a:rPr sz="1000" b="0" i="0">
                <a:solidFill>
                  <a:srgbClr val="222831"/>
                </a:solidFill>
                <a:latin typeface="Consolas"/>
              </a:rPr>
              <a:t>: [</a:t>
            </a:r>
          </a:p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222831"/>
                </a:solidFill>
                <a:latin typeface="Consolas"/>
              </a:rPr>
              <a:t>    { </a:t>
            </a:r>
            <a:r>
              <a:rPr sz="1000" b="0" i="0">
                <a:solidFill>
                  <a:srgbClr val="A64B00"/>
                </a:solidFill>
                <a:latin typeface="Consolas"/>
              </a:rPr>
              <a:t>"id"</a:t>
            </a:r>
            <a:r>
              <a:rPr sz="1000" b="0" i="0">
                <a:solidFill>
                  <a:srgbClr val="222831"/>
                </a:solidFill>
                <a:latin typeface="Consolas"/>
              </a:rPr>
              <a:t>: </a:t>
            </a:r>
            <a:r>
              <a:rPr sz="1000" b="0" i="0">
                <a:solidFill>
                  <a:srgbClr val="A64B00"/>
                </a:solidFill>
                <a:latin typeface="Consolas"/>
              </a:rPr>
              <a:t>"Patient.identifier"</a:t>
            </a:r>
            <a:r>
              <a:rPr sz="1000" b="0" i="0">
                <a:solidFill>
                  <a:srgbClr val="222831"/>
                </a:solidFill>
                <a:latin typeface="Consolas"/>
              </a:rPr>
              <a:t>, </a:t>
            </a:r>
            <a:r>
              <a:rPr sz="1000" b="0" i="0">
                <a:solidFill>
                  <a:srgbClr val="A64B00"/>
                </a:solidFill>
                <a:latin typeface="Consolas"/>
              </a:rPr>
              <a:t>"path"</a:t>
            </a:r>
            <a:r>
              <a:rPr sz="1000" b="0" i="0">
                <a:solidFill>
                  <a:srgbClr val="222831"/>
                </a:solidFill>
                <a:latin typeface="Consolas"/>
              </a:rPr>
              <a:t>: </a:t>
            </a:r>
            <a:r>
              <a:rPr sz="1000" b="0" i="0">
                <a:solidFill>
                  <a:srgbClr val="A64B00"/>
                </a:solidFill>
                <a:latin typeface="Consolas"/>
              </a:rPr>
              <a:t>"Patient.identifier"</a:t>
            </a:r>
            <a:r>
              <a:rPr sz="1000" b="0" i="0">
                <a:solidFill>
                  <a:srgbClr val="222831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222831"/>
                </a:solidFill>
                <a:latin typeface="Consolas"/>
              </a:rPr>
              <a:t>      </a:t>
            </a:r>
            <a:r>
              <a:rPr sz="1000" b="0" i="0">
                <a:solidFill>
                  <a:srgbClr val="0E6B74"/>
                </a:solidFill>
                <a:latin typeface="Consolas"/>
              </a:rPr>
              <a:t>"min"</a:t>
            </a:r>
            <a:r>
              <a:rPr sz="1000" b="0" i="0">
                <a:solidFill>
                  <a:srgbClr val="222831"/>
                </a:solidFill>
                <a:latin typeface="Consolas"/>
              </a:rPr>
              <a:t>:</a:t>
            </a:r>
            <a:r>
              <a:rPr sz="1000" b="0" i="0">
                <a:solidFill>
                  <a:srgbClr val="222831"/>
                </a:solidFill>
                <a:latin typeface="Consolas"/>
              </a:rPr>
              <a:t> 1, </a:t>
            </a:r>
            <a:r>
              <a:rPr sz="1000" b="0" i="0">
                <a:solidFill>
                  <a:srgbClr val="A64B00"/>
                </a:solidFill>
                <a:latin typeface="Consolas"/>
              </a:rPr>
              <a:t>"mustSupport"</a:t>
            </a:r>
            <a:r>
              <a:rPr sz="1000" b="0" i="0">
                <a:solidFill>
                  <a:srgbClr val="222831"/>
                </a:solidFill>
                <a:latin typeface="Consolas"/>
              </a:rPr>
              <a:t>: true },</a:t>
            </a:r>
          </a:p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222831"/>
                </a:solidFill>
                <a:latin typeface="Consolas"/>
              </a:rPr>
              <a:t>    { </a:t>
            </a:r>
            <a:r>
              <a:rPr sz="1000" b="0" i="0">
                <a:solidFill>
                  <a:srgbClr val="A64B00"/>
                </a:solidFill>
                <a:latin typeface="Consolas"/>
              </a:rPr>
              <a:t>"id"</a:t>
            </a:r>
            <a:r>
              <a:rPr sz="1000" b="0" i="0">
                <a:solidFill>
                  <a:srgbClr val="222831"/>
                </a:solidFill>
                <a:latin typeface="Consolas"/>
              </a:rPr>
              <a:t>: </a:t>
            </a:r>
            <a:r>
              <a:rPr sz="1000" b="0" i="0">
                <a:solidFill>
                  <a:srgbClr val="A64B00"/>
                </a:solidFill>
                <a:latin typeface="Consolas"/>
              </a:rPr>
              <a:t>"Patient.name"</a:t>
            </a:r>
            <a:r>
              <a:rPr sz="1000" b="0" i="0">
                <a:solidFill>
                  <a:srgbClr val="222831"/>
                </a:solidFill>
                <a:latin typeface="Consolas"/>
              </a:rPr>
              <a:t>, </a:t>
            </a:r>
            <a:r>
              <a:rPr sz="1000" b="0" i="0">
                <a:solidFill>
                  <a:srgbClr val="A64B00"/>
                </a:solidFill>
                <a:latin typeface="Consolas"/>
              </a:rPr>
              <a:t>"path"</a:t>
            </a:r>
            <a:r>
              <a:rPr sz="1000" b="0" i="0">
                <a:solidFill>
                  <a:srgbClr val="222831"/>
                </a:solidFill>
                <a:latin typeface="Consolas"/>
              </a:rPr>
              <a:t>: </a:t>
            </a:r>
            <a:r>
              <a:rPr sz="1000" b="0" i="0">
                <a:solidFill>
                  <a:srgbClr val="A64B00"/>
                </a:solidFill>
                <a:latin typeface="Consolas"/>
              </a:rPr>
              <a:t>"Patient.name"</a:t>
            </a:r>
            <a:r>
              <a:rPr sz="1000" b="0" i="0">
                <a:solidFill>
                  <a:srgbClr val="222831"/>
                </a:solidFill>
                <a:latin typeface="Consolas"/>
              </a:rPr>
              <a:t>, ... 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35040" y="1664208"/>
            <a:ext cx="54864" cy="4462272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4343400"/>
            <a:ext cx="51206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700" b="1" i="0">
                <a:solidFill>
                  <a:srgbClr val="222831"/>
                </a:solidFill>
                <a:latin typeface="Calibri"/>
              </a:rPr>
              <a:t>Läsbart</a:t>
            </a:r>
            <a:r>
              <a:rPr sz="1700" b="0" i="0">
                <a:solidFill>
                  <a:srgbClr val="222831"/>
                </a:solidFill>
                <a:latin typeface="Calibri"/>
              </a:rPr>
              <a:t> och kompakt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700" b="1" i="0">
                <a:solidFill>
                  <a:srgbClr val="222831"/>
                </a:solidFill>
                <a:latin typeface="Calibri"/>
              </a:rPr>
              <a:t>Git</a:t>
            </a:r>
            <a:r>
              <a:rPr sz="1700" b="0" i="0">
                <a:solidFill>
                  <a:srgbClr val="222831"/>
                </a:solidFill>
                <a:latin typeface="Calibri"/>
              </a:rPr>
              <a:t>: diff, pull requests och granskning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700" b="1" i="0">
                <a:solidFill>
                  <a:srgbClr val="222831"/>
                </a:solidFill>
                <a:latin typeface="Calibri"/>
              </a:rPr>
              <a:t>CI</a:t>
            </a:r>
            <a:r>
              <a:rPr sz="1700" b="0" i="0">
                <a:solidFill>
                  <a:srgbClr val="222831"/>
                </a:solidFill>
                <a:latin typeface="Calibri"/>
              </a:rPr>
              <a:t>: bygg och validera automatiskt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700" b="1" i="0">
                <a:solidFill>
                  <a:srgbClr val="222831"/>
                </a:solidFill>
                <a:latin typeface="Calibri"/>
              </a:rPr>
              <a:t>HL7-standard</a:t>
            </a:r>
            <a:r>
              <a:rPr sz="1700" b="0" i="0">
                <a:solidFill>
                  <a:srgbClr val="222831"/>
                </a:solidFill>
                <a:latin typeface="Calibri"/>
              </a:rPr>
              <a:t> som används av de flesta nya IG:er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Byggkedjan i ditt repo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43584"/>
            <a:ext cx="11094415" cy="0"/>
          </a:xfrm>
          <a:prstGeom prst="line">
            <a:avLst/>
          </a:prstGeom>
          <a:ln w="12700">
            <a:solidFill>
              <a:srgbClr val="D5DA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B6577"/>
                </a:solidFill>
                <a:latin typeface="Calibri"/>
              </a:rPr>
              <a:t>FHIR i praktiken  ·  Modul 3 – FHIR Shorthand (FSH)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B6577"/>
                </a:solidFill>
                <a:latin typeface="Calibri"/>
              </a:rPr>
              <a:t>35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08760"/>
            <a:ext cx="1627632" cy="1005840"/>
          </a:xfrm>
          <a:prstGeom prst="roundRect">
            <a:avLst>
              <a:gd name="adj" fmla="val 12000"/>
            </a:avLst>
          </a:prstGeom>
          <a:solidFill>
            <a:srgbClr val="D9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0" i="0">
                <a:solidFill>
                  <a:srgbClr val="222831"/>
                </a:solidFill>
                <a:latin typeface="Calibri"/>
              </a:rPr>
              <a:t>FSH-filer</a:t>
            </a:r>
          </a:p>
          <a:p>
            <a:pPr algn="ctr"/>
            <a:r>
              <a:rPr sz="1500" b="0" i="0">
                <a:solidFill>
                  <a:srgbClr val="222831"/>
                </a:solidFill>
                <a:latin typeface="Calibri"/>
              </a:rPr>
              <a:t>input/fsh/*.fsh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194560" y="2011680"/>
            <a:ext cx="237744" cy="0"/>
          </a:xfrm>
          <a:prstGeom prst="line">
            <a:avLst/>
          </a:prstGeom>
          <a:ln w="25400">
            <a:solidFill>
              <a:srgbClr val="5B657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450592" y="1508760"/>
            <a:ext cx="1627632" cy="1005840"/>
          </a:xfrm>
          <a:prstGeom prst="roundRect">
            <a:avLst>
              <a:gd name="adj" fmla="val 12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SUSHI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096512" y="2011680"/>
            <a:ext cx="237744" cy="0"/>
          </a:xfrm>
          <a:prstGeom prst="line">
            <a:avLst/>
          </a:prstGeom>
          <a:ln w="25400">
            <a:solidFill>
              <a:srgbClr val="5B657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4352544" y="1508760"/>
            <a:ext cx="1627632" cy="1005840"/>
          </a:xfrm>
          <a:prstGeom prst="roundRect">
            <a:avLst>
              <a:gd name="adj" fmla="val 12000"/>
            </a:avLst>
          </a:prstGeom>
          <a:solidFill>
            <a:srgbClr val="D9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0" i="0">
                <a:solidFill>
                  <a:srgbClr val="222831"/>
                </a:solidFill>
                <a:latin typeface="Calibri"/>
              </a:rPr>
              <a:t>FHIR-JSON</a:t>
            </a:r>
          </a:p>
          <a:p>
            <a:pPr algn="ctr"/>
            <a:r>
              <a:rPr sz="1500" b="0" i="0">
                <a:solidFill>
                  <a:srgbClr val="222831"/>
                </a:solidFill>
                <a:latin typeface="Calibri"/>
              </a:rPr>
              <a:t>fsh-generated/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998464" y="2011680"/>
            <a:ext cx="237744" cy="0"/>
          </a:xfrm>
          <a:prstGeom prst="line">
            <a:avLst/>
          </a:prstGeom>
          <a:ln w="25400">
            <a:solidFill>
              <a:srgbClr val="5B657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254496" y="1508760"/>
            <a:ext cx="1627632" cy="1005840"/>
          </a:xfrm>
          <a:prstGeom prst="roundRect">
            <a:avLst>
              <a:gd name="adj" fmla="val 12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IG Publisher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900416" y="2011680"/>
            <a:ext cx="237744" cy="0"/>
          </a:xfrm>
          <a:prstGeom prst="line">
            <a:avLst/>
          </a:prstGeom>
          <a:ln w="25400">
            <a:solidFill>
              <a:srgbClr val="5B657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8156448" y="1508760"/>
            <a:ext cx="1627632" cy="1005840"/>
          </a:xfrm>
          <a:prstGeom prst="roundRect">
            <a:avLst>
              <a:gd name="adj" fmla="val 12000"/>
            </a:avLst>
          </a:prstGeom>
          <a:solidFill>
            <a:srgbClr val="D9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0" i="0">
                <a:solidFill>
                  <a:srgbClr val="222831"/>
                </a:solidFill>
                <a:latin typeface="Calibri"/>
              </a:rPr>
              <a:t>Webbplats</a:t>
            </a:r>
          </a:p>
          <a:p>
            <a:pPr algn="ctr"/>
            <a:r>
              <a:rPr sz="1500" b="0" i="0">
                <a:solidFill>
                  <a:srgbClr val="222831"/>
                </a:solidFill>
                <a:latin typeface="Calibri"/>
              </a:rPr>
              <a:t>output/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802368" y="2011680"/>
            <a:ext cx="237744" cy="0"/>
          </a:xfrm>
          <a:prstGeom prst="line">
            <a:avLst/>
          </a:prstGeom>
          <a:ln w="25400">
            <a:solidFill>
              <a:srgbClr val="5B657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10058400" y="1508760"/>
            <a:ext cx="1627632" cy="1005840"/>
          </a:xfrm>
          <a:prstGeom prst="roundRect">
            <a:avLst>
              <a:gd name="adj" fmla="val 12000"/>
            </a:avLst>
          </a:prstGeom>
          <a:solidFill>
            <a:srgbClr val="E87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GitHub Pages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2880360"/>
            <a:ext cx="7498079" cy="3291840"/>
          </a:xfrm>
          <a:prstGeom prst="rect">
            <a:avLst/>
          </a:prstGeom>
          <a:solidFill>
            <a:srgbClr val="F4F6F8"/>
          </a:solidFill>
          <a:ln w="9525">
            <a:solidFill>
              <a:srgbClr val="D5D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01168" tIns="91440"/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22831"/>
                </a:solidFill>
                <a:latin typeface="Consolas"/>
              </a:rPr>
              <a:t>test-ig/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22831"/>
                </a:solidFill>
                <a:latin typeface="Consolas"/>
              </a:rPr>
              <a:t>├── sushi-config.yaml        # id, canonical, namn, version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22831"/>
                </a:solidFill>
                <a:latin typeface="Consolas"/>
              </a:rPr>
              <a:t>├── ig.ini                   # pekar på IG-resursen och mallen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22831"/>
                </a:solidFill>
                <a:latin typeface="Consolas"/>
              </a:rPr>
              <a:t>└── input/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22831"/>
                </a:solidFill>
                <a:latin typeface="Consolas"/>
              </a:rPr>
              <a:t>    ├── fsh/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22831"/>
                </a:solidFill>
                <a:latin typeface="Consolas"/>
              </a:rPr>
              <a:t>    │   ├── aliases.fsh      # korta namn för URL:er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22831"/>
                </a:solidFill>
                <a:latin typeface="Consolas"/>
              </a:rPr>
              <a:t>    │   ├── profiles/        # EducationPatient.fsh …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22831"/>
                </a:solidFill>
                <a:latin typeface="Consolas"/>
              </a:rPr>
              <a:t>    │   ├── extensions/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22831"/>
                </a:solidFill>
                <a:latin typeface="Consolas"/>
              </a:rPr>
              <a:t>    │   ├── terminology/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22831"/>
                </a:solidFill>
                <a:latin typeface="Consolas"/>
              </a:rPr>
              <a:t>    │   └── examples/        # patient-tolvan.fsh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22831"/>
                </a:solidFill>
                <a:latin typeface="Consolas"/>
              </a:rPr>
              <a:t>    ├── pagecontent/index.md # startsidan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22831"/>
                </a:solidFill>
                <a:latin typeface="Consolas"/>
              </a:rPr>
              <a:t>    └── ignoreWarnings.txt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2880360"/>
            <a:ext cx="54864" cy="329184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321040" y="2880360"/>
            <a:ext cx="3291840" cy="3291840"/>
          </a:xfrm>
          <a:prstGeom prst="rect">
            <a:avLst/>
          </a:prstGeom>
          <a:solidFill>
            <a:srgbClr val="FC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/>
          <a:lstStyle/>
          <a:p>
            <a:pPr algn="l"/>
            <a:r>
              <a:rPr sz="1500" b="0" i="0">
                <a:solidFill>
                  <a:srgbClr val="222831"/>
                </a:solidFill>
                <a:latin typeface="Calibri"/>
              </a:rPr>
              <a:t>Fel i FSH?</a:t>
            </a:r>
          </a:p>
          <a:p>
            <a:pPr algn="l"/>
          </a:p>
          <a:p>
            <a:pPr algn="l"/>
            <a:r>
              <a:rPr sz="1500" b="0" i="0">
                <a:solidFill>
                  <a:srgbClr val="222831"/>
                </a:solidFill>
                <a:latin typeface="Calibri"/>
              </a:rPr>
              <a:t>Steget </a:t>
            </a:r>
            <a:r>
              <a:rPr sz="1500" b="1" i="0">
                <a:solidFill>
                  <a:srgbClr val="222831"/>
                </a:solidFill>
                <a:latin typeface="Calibri"/>
              </a:rPr>
              <a:t>Kör SUSHI</a:t>
            </a:r>
            <a:r>
              <a:rPr sz="1500" b="0" i="0">
                <a:solidFill>
                  <a:srgbClr val="222831"/>
                </a:solidFill>
                <a:latin typeface="Calibri"/>
              </a:rPr>
              <a:t> blir rött i Actions. Felet står med </a:t>
            </a:r>
            <a:r>
              <a:rPr sz="1500" b="1" i="0">
                <a:solidFill>
                  <a:srgbClr val="222831"/>
                </a:solidFill>
                <a:latin typeface="Calibri"/>
              </a:rPr>
              <a:t>fil och rad</a:t>
            </a:r>
            <a:r>
              <a:rPr sz="1500" b="0" i="0">
                <a:solidFill>
                  <a:srgbClr val="222831"/>
                </a:solidFill>
                <a:latin typeface="Calibri"/>
              </a:rPr>
              <a:t> i loggen.</a:t>
            </a:r>
          </a:p>
          <a:p>
            <a:pPr algn="l"/>
          </a:p>
          <a:p>
            <a:pPr algn="l"/>
            <a:r>
              <a:rPr sz="1500" b="0" i="0">
                <a:solidFill>
                  <a:srgbClr val="222831"/>
                </a:solidFill>
                <a:latin typeface="Calibri"/>
              </a:rPr>
              <a:t>Fel i profiler eller exempel?</a:t>
            </a:r>
          </a:p>
          <a:p>
            <a:pPr algn="l"/>
          </a:p>
          <a:p>
            <a:pPr algn="l"/>
            <a:r>
              <a:rPr sz="1500" b="0" i="0">
                <a:solidFill>
                  <a:srgbClr val="222831"/>
                </a:solidFill>
                <a:latin typeface="Calibri"/>
              </a:rPr>
              <a:t>Läs </a:t>
            </a:r>
            <a:r>
              <a:rPr sz="1500" b="1" i="0">
                <a:solidFill>
                  <a:srgbClr val="222831"/>
                </a:solidFill>
                <a:latin typeface="Calibri"/>
              </a:rPr>
              <a:t>qa.html</a:t>
            </a:r>
            <a:r>
              <a:rPr sz="1500" b="0" i="0">
                <a:solidFill>
                  <a:srgbClr val="222831"/>
                </a:solidFill>
                <a:latin typeface="Calibri"/>
              </a:rPr>
              <a:t> i den publicerade IG:n.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21040" y="2880360"/>
            <a:ext cx="64008" cy="3291840"/>
          </a:xfrm>
          <a:prstGeom prst="rect">
            <a:avLst/>
          </a:prstGeom>
          <a:solidFill>
            <a:srgbClr val="E87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FSH-syntax: entiteter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43584"/>
            <a:ext cx="11094415" cy="0"/>
          </a:xfrm>
          <a:prstGeom prst="line">
            <a:avLst/>
          </a:prstGeom>
          <a:ln w="12700">
            <a:solidFill>
              <a:srgbClr val="D5DA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B6577"/>
                </a:solidFill>
                <a:latin typeface="Calibri"/>
              </a:rPr>
              <a:t>FHIR i praktiken  ·  Modul 3 – FHIR Shorthand (FSH)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B6577"/>
                </a:solidFill>
                <a:latin typeface="Calibri"/>
              </a:rPr>
              <a:t>36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325880"/>
          <a:ext cx="7498077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19"/>
                <a:gridCol w="2743199"/>
                <a:gridCol w="3108959"/>
              </a:tblGrid>
              <a:tr h="438912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Nyckelord</a:t>
                      </a:r>
                    </a:p>
                  </a:txBody>
                  <a:tcPr marL="73152" marR="73152" marT="36576" marB="36576" anchor="ctr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Skapar</a:t>
                      </a:r>
                    </a:p>
                  </a:txBody>
                  <a:tcPr marL="73152" marR="73152" marT="36576" marB="36576" anchor="ctr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Används till</a:t>
                      </a:r>
                    </a:p>
                  </a:txBody>
                  <a:tcPr marL="73152" marR="73152" marT="36576" marB="36576" anchor="ctr">
                    <a:solidFill>
                      <a:srgbClr val="1B2A4A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0E6B74"/>
                          </a:solidFill>
                          <a:latin typeface="Consolas"/>
                        </a:rPr>
                        <a:t>Profile: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831"/>
                          </a:solidFill>
                          <a:latin typeface="Calibri"/>
                        </a:rPr>
                        <a:t>StructureDefinition (constraint)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831"/>
                          </a:solidFill>
                          <a:latin typeface="Calibri"/>
                        </a:rPr>
                        <a:t>Profiler på resurser och datatyper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0E6B74"/>
                          </a:solidFill>
                          <a:latin typeface="Consolas"/>
                        </a:rPr>
                        <a:t>Extension: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831"/>
                          </a:solidFill>
                          <a:latin typeface="Calibri"/>
                        </a:rPr>
                        <a:t>StructureDefinition (Extension)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831"/>
                          </a:solidFill>
                          <a:latin typeface="Calibri"/>
                        </a:rPr>
                        <a:t>Egna extensions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0E6B74"/>
                          </a:solidFill>
                          <a:latin typeface="Consolas"/>
                        </a:rPr>
                        <a:t>ValueSet: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831"/>
                          </a:solidFill>
                          <a:latin typeface="Calibri"/>
                        </a:rPr>
                        <a:t>ValueSet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831"/>
                          </a:solidFill>
                          <a:latin typeface="Calibri"/>
                        </a:rPr>
                        <a:t>Urval av koder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0E6B74"/>
                          </a:solidFill>
                          <a:latin typeface="Consolas"/>
                        </a:rPr>
                        <a:t>CodeSystem: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831"/>
                          </a:solidFill>
                          <a:latin typeface="Calibri"/>
                        </a:rPr>
                        <a:t>CodeSystem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831"/>
                          </a:solidFill>
                          <a:latin typeface="Calibri"/>
                        </a:rPr>
                        <a:t>Egna kodverk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0E6B74"/>
                          </a:solidFill>
                          <a:latin typeface="Consolas"/>
                        </a:rPr>
                        <a:t>Instance: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831"/>
                          </a:solidFill>
                          <a:latin typeface="Calibri"/>
                        </a:rPr>
                        <a:t>Valfri resurs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831"/>
                          </a:solidFill>
                          <a:latin typeface="Calibri"/>
                        </a:rPr>
                        <a:t>Exempel, CapabilityStatement m.m.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0E6B74"/>
                          </a:solidFill>
                          <a:latin typeface="Consolas"/>
                        </a:rPr>
                        <a:t>Invariant: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831"/>
                          </a:solidFill>
                          <a:latin typeface="Calibri"/>
                        </a:rPr>
                        <a:t>constraint i profilen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831"/>
                          </a:solidFill>
                          <a:latin typeface="Calibri"/>
                        </a:rPr>
                        <a:t>FHIRPath-regler (modul 4)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0E6B74"/>
                          </a:solidFill>
                          <a:latin typeface="Consolas"/>
                        </a:rPr>
                        <a:t>Logical: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831"/>
                          </a:solidFill>
                          <a:latin typeface="Calibri"/>
                        </a:rPr>
                        <a:t>StructureDefinition (logical)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831"/>
                          </a:solidFill>
                          <a:latin typeface="Calibri"/>
                        </a:rPr>
                        <a:t>Logiska modeller, t.ex. källsystemets struktur (modul 5)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0E6B74"/>
                          </a:solidFill>
                          <a:latin typeface="Consolas"/>
                        </a:rPr>
                        <a:t>Alias: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831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831"/>
                          </a:solidFill>
                          <a:latin typeface="Calibri"/>
                        </a:rPr>
                        <a:t>Korta namn för långa URL:er, t.ex. </a:t>
                      </a:r>
                      <a:r>
                        <a:rPr sz="1300" b="0" i="0">
                          <a:solidFill>
                            <a:srgbClr val="0E6B74"/>
                          </a:solidFill>
                          <a:latin typeface="Consolas"/>
                        </a:rPr>
                        <a:t>$personnummer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0E6B74"/>
                          </a:solidFill>
                          <a:latin typeface="Consolas"/>
                        </a:rPr>
                        <a:t>RuleSet: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831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831"/>
                          </a:solidFill>
                          <a:latin typeface="Calibri"/>
                        </a:rPr>
                        <a:t>Återanvändbara regler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8229600" y="1371600"/>
            <a:ext cx="3383280" cy="2468880"/>
          </a:xfrm>
          <a:prstGeom prst="rect">
            <a:avLst/>
          </a:prstGeom>
          <a:solidFill>
            <a:srgbClr val="F4F6F8"/>
          </a:solidFill>
          <a:ln w="9525">
            <a:solidFill>
              <a:srgbClr val="D5D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01168" tIns="91440"/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E6B74"/>
                </a:solidFill>
                <a:latin typeface="Consolas"/>
              </a:rPr>
              <a:t>Profile:</a:t>
            </a:r>
            <a:r>
              <a:rPr sz="1300" b="0" i="0">
                <a:solidFill>
                  <a:srgbClr val="222831"/>
                </a:solidFill>
                <a:latin typeface="Consolas"/>
              </a:rPr>
              <a:t> EducationPatient</a:t>
            </a:r>
          </a:p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E6B74"/>
                </a:solidFill>
                <a:latin typeface="Consolas"/>
              </a:rPr>
              <a:t>Parent:</a:t>
            </a:r>
            <a:r>
              <a:rPr sz="1300" b="0" i="0">
                <a:solidFill>
                  <a:srgbClr val="222831"/>
                </a:solidFill>
                <a:latin typeface="Consolas"/>
              </a:rPr>
              <a:t> Patient</a:t>
            </a:r>
          </a:p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E6B74"/>
                </a:solidFill>
                <a:latin typeface="Consolas"/>
              </a:rPr>
              <a:t>Id:</a:t>
            </a:r>
            <a:r>
              <a:rPr sz="1300" b="0" i="0">
                <a:solidFill>
                  <a:srgbClr val="222831"/>
                </a:solidFill>
                <a:latin typeface="Consolas"/>
              </a:rPr>
              <a:t> EducationPatient</a:t>
            </a:r>
          </a:p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E6B74"/>
                </a:solidFill>
                <a:latin typeface="Consolas"/>
              </a:rPr>
              <a:t>Title:</a:t>
            </a:r>
            <a:r>
              <a:rPr sz="1300" b="0" i="0">
                <a:solidFill>
                  <a:srgbClr val="222831"/>
                </a:solidFill>
                <a:latin typeface="Consolas"/>
              </a:rPr>
              <a:t> </a:t>
            </a:r>
            <a:r>
              <a:rPr sz="1300" b="0" i="0">
                <a:solidFill>
                  <a:srgbClr val="A64B00"/>
                </a:solidFill>
                <a:latin typeface="Consolas"/>
              </a:rPr>
              <a:t>"Education Patient"</a:t>
            </a:r>
          </a:p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E6B74"/>
                </a:solidFill>
                <a:latin typeface="Consolas"/>
              </a:rPr>
              <a:t>Description:</a:t>
            </a:r>
            <a:r>
              <a:rPr sz="1300" b="0" i="0">
                <a:solidFill>
                  <a:srgbClr val="222831"/>
                </a:solidFill>
                <a:latin typeface="Consolas"/>
              </a:rPr>
              <a:t> </a:t>
            </a:r>
            <a:r>
              <a:rPr sz="1300" b="0" i="0">
                <a:solidFill>
                  <a:srgbClr val="A64B00"/>
                </a:solidFill>
                <a:latin typeface="Consolas"/>
              </a:rPr>
              <a:t>"..."</a:t>
            </a:r>
          </a:p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222831"/>
                </a:solidFill>
                <a:latin typeface="Consolas"/>
              </a:rPr>
              <a:t>* ^status = #draft</a:t>
            </a:r>
          </a:p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222831"/>
                </a:solidFill>
                <a:latin typeface="Consolas"/>
              </a:rPr>
              <a:t>* name 1..* MS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0" y="1371600"/>
            <a:ext cx="54864" cy="246888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4023360"/>
            <a:ext cx="33832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5B6577"/>
                </a:solidFill>
                <a:latin typeface="Calibri"/>
              </a:rPr>
              <a:t>Id → canonical URL:</a:t>
            </a:r>
          </a:p>
          <a:p>
            <a:pPr algn="l"/>
            <a:r>
              <a:rPr sz="1400" b="0" i="0">
                <a:solidFill>
                  <a:srgbClr val="5B6577"/>
                </a:solidFill>
                <a:latin typeface="Calibri"/>
              </a:rPr>
              <a:t>…/StructureDefinition/</a:t>
            </a:r>
            <a:r>
              <a:rPr sz="1400" b="1" i="0">
                <a:solidFill>
                  <a:srgbClr val="5B6577"/>
                </a:solidFill>
                <a:latin typeface="Calibri"/>
              </a:rPr>
              <a:t>EducationPatient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FSH-syntax: regler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43584"/>
            <a:ext cx="11094415" cy="0"/>
          </a:xfrm>
          <a:prstGeom prst="line">
            <a:avLst/>
          </a:prstGeom>
          <a:ln w="12700">
            <a:solidFill>
              <a:srgbClr val="D5DA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B6577"/>
                </a:solidFill>
                <a:latin typeface="Calibri"/>
              </a:rPr>
              <a:t>FHIR i praktiken  ·  Modul 3 – FHIR Shorthand (FSH)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B6577"/>
                </a:solidFill>
                <a:latin typeface="Calibri"/>
              </a:rPr>
              <a:t>37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325880"/>
          <a:ext cx="11094415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8883"/>
                <a:gridCol w="8875532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Regel</a:t>
                      </a:r>
                    </a:p>
                  </a:txBody>
                  <a:tcPr marL="73152" marR="73152" marT="36576" marB="36576" anchor="ctr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Exempel</a:t>
                      </a:r>
                    </a:p>
                  </a:txBody>
                  <a:tcPr marL="73152" marR="73152" marT="36576" marB="36576" anchor="ctr">
                    <a:solidFill>
                      <a:srgbClr val="1B2A4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22831"/>
                          </a:solidFill>
                          <a:latin typeface="Calibri"/>
                        </a:rPr>
                        <a:t>Kardinalitet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0E6B74"/>
                          </a:solidFill>
                          <a:latin typeface="Consolas"/>
                        </a:rPr>
                        <a:t>* name 1..*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22831"/>
                          </a:solidFill>
                          <a:latin typeface="Calibri"/>
                        </a:rPr>
                        <a:t>Flaggor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0E6B74"/>
                          </a:solidFill>
                          <a:latin typeface="Consolas"/>
                        </a:rPr>
                        <a:t>* birthDate MS</a:t>
                      </a:r>
                      <a:r>
                        <a:rPr sz="1600" b="0" i="0">
                          <a:solidFill>
                            <a:srgbClr val="222831"/>
                          </a:solidFill>
                          <a:latin typeface="Calibri"/>
                        </a:rPr>
                        <a:t>   </a:t>
                      </a:r>
                      <a:r>
                        <a:rPr sz="1500" b="0" i="0">
                          <a:solidFill>
                            <a:srgbClr val="0E6B74"/>
                          </a:solidFill>
                          <a:latin typeface="Consolas"/>
                        </a:rPr>
                        <a:t>* gender 1..1 MS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22831"/>
                          </a:solidFill>
                          <a:latin typeface="Calibri"/>
                        </a:rPr>
                        <a:t>Bindning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0E6B74"/>
                          </a:solidFill>
                          <a:latin typeface="Consolas"/>
                        </a:rPr>
                        <a:t>* type from KontakttypVS (extensible)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22831"/>
                          </a:solidFill>
                          <a:latin typeface="Calibri"/>
                        </a:rPr>
                        <a:t>Tilldelning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0E6B74"/>
                          </a:solidFill>
                          <a:latin typeface="Consolas"/>
                        </a:rPr>
                        <a:t>* identifier.system = $personnummer</a:t>
                      </a:r>
                      <a:r>
                        <a:rPr sz="1600" b="0" i="0">
                          <a:solidFill>
                            <a:srgbClr val="222831"/>
                          </a:solidFill>
                          <a:latin typeface="Calibri"/>
                        </a:rPr>
                        <a:t>   </a:t>
                      </a:r>
                      <a:r>
                        <a:rPr sz="1500" b="0" i="0">
                          <a:solidFill>
                            <a:srgbClr val="0E6B74"/>
                          </a:solidFill>
                          <a:latin typeface="Consolas"/>
                        </a:rPr>
                        <a:t>* status = #finished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22831"/>
                          </a:solidFill>
                          <a:latin typeface="Calibri"/>
                        </a:rPr>
                        <a:t>Typbegränsning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0E6B74"/>
                          </a:solidFill>
                          <a:latin typeface="Consolas"/>
                        </a:rPr>
                        <a:t>* subject only Reference(EducationPatient)</a:t>
                      </a:r>
                      <a:r>
                        <a:rPr sz="1600" b="0" i="0">
                          <a:solidFill>
                            <a:srgbClr val="222831"/>
                          </a:solidFill>
                          <a:latin typeface="Calibri"/>
                        </a:rPr>
                        <a:t>   </a:t>
                      </a:r>
                      <a:r>
                        <a:rPr sz="1500" b="0" i="0">
                          <a:solidFill>
                            <a:srgbClr val="0E6B74"/>
                          </a:solidFill>
                          <a:latin typeface="Consolas"/>
                        </a:rPr>
                        <a:t>* value[x] only boolean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22831"/>
                          </a:solidFill>
                          <a:latin typeface="Calibri"/>
                        </a:rPr>
                        <a:t>Contains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0E6B74"/>
                          </a:solidFill>
                          <a:latin typeface="Consolas"/>
                        </a:rPr>
                        <a:t>* extension contains SkyddadIdentitet named skyddadIdentitet 0..1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22831"/>
                          </a:solidFill>
                          <a:latin typeface="Calibri"/>
                        </a:rPr>
                        <a:t>Invariant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0E6B74"/>
                          </a:solidFill>
                          <a:latin typeface="Consolas"/>
                        </a:rPr>
                        <a:t>* obeys edu-pat-1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22831"/>
                          </a:solidFill>
                          <a:latin typeface="Calibri"/>
                        </a:rPr>
                        <a:t>Caret (metadata)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0E6B74"/>
                          </a:solidFill>
                          <a:latin typeface="Consolas"/>
                        </a:rPr>
                        <a:t>* ^status = #draft</a:t>
                      </a:r>
                      <a:r>
                        <a:rPr sz="1600" b="0" i="0">
                          <a:solidFill>
                            <a:srgbClr val="222831"/>
                          </a:solidFill>
                          <a:latin typeface="Calibri"/>
                        </a:rPr>
                        <a:t>   </a:t>
                      </a:r>
                      <a:r>
                        <a:rPr sz="1500" b="0" i="0">
                          <a:solidFill>
                            <a:srgbClr val="0E6B74"/>
                          </a:solidFill>
                          <a:latin typeface="Consolas"/>
                        </a:rPr>
                        <a:t>* identifier ^short = "Identifierare"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22831"/>
                          </a:solidFill>
                          <a:latin typeface="Calibri"/>
                        </a:rPr>
                        <a:t>Kod och referens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0E6B74"/>
                          </a:solidFill>
                          <a:latin typeface="Consolas"/>
                        </a:rPr>
                        <a:t>$v3-ActCode#AMB "ambulatory"</a:t>
                      </a:r>
                      <a:r>
                        <a:rPr sz="1600" b="0" i="0">
                          <a:solidFill>
                            <a:srgbClr val="222831"/>
                          </a:solidFill>
                          <a:latin typeface="Calibri"/>
                        </a:rPr>
                        <a:t>   </a:t>
                      </a:r>
                      <a:r>
                        <a:rPr sz="1500" b="0" i="0">
                          <a:solidFill>
                            <a:srgbClr val="0E6B74"/>
                          </a:solidFill>
                          <a:latin typeface="Consolas"/>
                        </a:rPr>
                        <a:t>Reference(patient-tolvan)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Startprofilen i ditt repo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43584"/>
            <a:ext cx="11094415" cy="0"/>
          </a:xfrm>
          <a:prstGeom prst="line">
            <a:avLst/>
          </a:prstGeom>
          <a:ln w="12700">
            <a:solidFill>
              <a:srgbClr val="D5DA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B6577"/>
                </a:solidFill>
                <a:latin typeface="Calibri"/>
              </a:rPr>
              <a:t>FHIR i praktiken  ·  Modul 3 – FHIR Shorthand (FSH)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B6577"/>
                </a:solidFill>
                <a:latin typeface="Calibri"/>
              </a:rPr>
              <a:t>38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5B6577"/>
                </a:solidFill>
                <a:latin typeface="Calibri"/>
              </a:rPr>
              <a:t>input/fsh/profiles/EducationPatient.fsh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664208"/>
            <a:ext cx="5486400" cy="4462272"/>
          </a:xfrm>
          <a:prstGeom prst="rect">
            <a:avLst/>
          </a:prstGeom>
          <a:solidFill>
            <a:srgbClr val="F4F6F8"/>
          </a:solidFill>
          <a:ln w="9525">
            <a:solidFill>
              <a:srgbClr val="D5D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01168" tIns="91440"/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E6B74"/>
                </a:solidFill>
                <a:latin typeface="Consolas"/>
              </a:rPr>
              <a:t>Profile:</a:t>
            </a:r>
            <a:r>
              <a:rPr sz="1350" b="0" i="0">
                <a:solidFill>
                  <a:srgbClr val="222831"/>
                </a:solidFill>
                <a:latin typeface="Consolas"/>
              </a:rPr>
              <a:t> EducationPatient</a:t>
            </a:r>
          </a:p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E6B74"/>
                </a:solidFill>
                <a:latin typeface="Consolas"/>
              </a:rPr>
              <a:t>Parent:</a:t>
            </a:r>
            <a:r>
              <a:rPr sz="1350" b="0" i="0">
                <a:solidFill>
                  <a:srgbClr val="222831"/>
                </a:solidFill>
                <a:latin typeface="Consolas"/>
              </a:rPr>
              <a:t> Patient</a:t>
            </a:r>
          </a:p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E6B74"/>
                </a:solidFill>
                <a:latin typeface="Consolas"/>
              </a:rPr>
              <a:t>Id:</a:t>
            </a:r>
            <a:r>
              <a:rPr sz="1350" b="0" i="0">
                <a:solidFill>
                  <a:srgbClr val="222831"/>
                </a:solidFill>
                <a:latin typeface="Consolas"/>
              </a:rPr>
              <a:t> EducationPatient</a:t>
            </a:r>
          </a:p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E6B74"/>
                </a:solidFill>
                <a:latin typeface="Consolas"/>
              </a:rPr>
              <a:t>Title:</a:t>
            </a:r>
            <a:r>
              <a:rPr sz="1350" b="0" i="0">
                <a:solidFill>
                  <a:srgbClr val="222831"/>
                </a:solidFill>
                <a:latin typeface="Consolas"/>
              </a:rPr>
              <a:t> </a:t>
            </a:r>
            <a:r>
              <a:rPr sz="1350" b="0" i="0">
                <a:solidFill>
                  <a:srgbClr val="A64B00"/>
                </a:solidFill>
                <a:latin typeface="Consolas"/>
              </a:rPr>
              <a:t>"Education Patient"</a:t>
            </a:r>
          </a:p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E6B74"/>
                </a:solidFill>
                <a:latin typeface="Consolas"/>
              </a:rPr>
              <a:t>Description:</a:t>
            </a:r>
            <a:r>
              <a:rPr sz="1350" b="0" i="0">
                <a:solidFill>
                  <a:srgbClr val="222831"/>
                </a:solidFill>
                <a:latin typeface="Consolas"/>
              </a:rPr>
              <a:t> </a:t>
            </a:r>
            <a:r>
              <a:rPr sz="1350" b="0" i="0">
                <a:solidFill>
                  <a:srgbClr val="A64B00"/>
                </a:solidFill>
                <a:latin typeface="Consolas"/>
              </a:rPr>
              <a:t>"Patientprofil för FHIR-utbildningen."</a:t>
            </a:r>
          </a:p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222831"/>
                </a:solidFill>
                <a:latin typeface="Consolas"/>
              </a:rPr>
              <a:t>* ^status = #draft</a:t>
            </a:r>
          </a:p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222831"/>
                </a:solidFill>
                <a:latin typeface="Consolas"/>
              </a:rPr>
              <a:t>* identifier 1..* MS</a:t>
            </a:r>
          </a:p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222831"/>
                </a:solidFill>
                <a:latin typeface="Consolas"/>
              </a:rPr>
              <a:t>* identifier.system 1..1</a:t>
            </a:r>
          </a:p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222831"/>
                </a:solidFill>
                <a:latin typeface="Consolas"/>
              </a:rPr>
              <a:t>* identifier.value 1..1</a:t>
            </a:r>
          </a:p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222831"/>
                </a:solidFill>
                <a:latin typeface="Consolas"/>
              </a:rPr>
              <a:t>* name 1..* MS</a:t>
            </a:r>
          </a:p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222831"/>
                </a:solidFill>
                <a:latin typeface="Consolas"/>
              </a:rPr>
              <a:t>* name.family 1..1 MS</a:t>
            </a:r>
          </a:p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222831"/>
                </a:solidFill>
                <a:latin typeface="Consolas"/>
              </a:rPr>
              <a:t>* name.given MS</a:t>
            </a:r>
          </a:p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222831"/>
                </a:solidFill>
                <a:latin typeface="Consolas"/>
              </a:rPr>
              <a:t>* gender MS</a:t>
            </a:r>
          </a:p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222831"/>
                </a:solidFill>
                <a:latin typeface="Consolas"/>
              </a:rPr>
              <a:t>* birthDate 1..1 MS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664208"/>
            <a:ext cx="54864" cy="4462272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0" y="137160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5B6577"/>
                </a:solidFill>
                <a:latin typeface="Calibri"/>
              </a:rPr>
              <a:t>input/fsh/examples/patient-tolvan.fsh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1664208"/>
            <a:ext cx="5303520" cy="3547872"/>
          </a:xfrm>
          <a:prstGeom prst="rect">
            <a:avLst/>
          </a:prstGeom>
          <a:solidFill>
            <a:srgbClr val="F4F6F8"/>
          </a:solidFill>
          <a:ln w="9525">
            <a:solidFill>
              <a:srgbClr val="D5D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01168" tIns="91440"/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E6B74"/>
                </a:solidFill>
                <a:latin typeface="Consolas"/>
              </a:rPr>
              <a:t>Instance:</a:t>
            </a:r>
            <a:r>
              <a:rPr sz="1400" b="0" i="0">
                <a:solidFill>
                  <a:srgbClr val="222831"/>
                </a:solidFill>
                <a:latin typeface="Consolas"/>
              </a:rPr>
              <a:t> patient-tolvan</a:t>
            </a:r>
          </a:p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E6B74"/>
                </a:solidFill>
                <a:latin typeface="Consolas"/>
              </a:rPr>
              <a:t>InstanceOf:</a:t>
            </a:r>
            <a:r>
              <a:rPr sz="1400" b="0" i="0">
                <a:solidFill>
                  <a:srgbClr val="222831"/>
                </a:solidFill>
                <a:latin typeface="Consolas"/>
              </a:rPr>
              <a:t> EducationPatient</a:t>
            </a:r>
          </a:p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E6B74"/>
                </a:solidFill>
                <a:latin typeface="Consolas"/>
              </a:rPr>
              <a:t>Title:</a:t>
            </a:r>
            <a:r>
              <a:rPr sz="1400" b="0" i="0">
                <a:solidFill>
                  <a:srgbClr val="222831"/>
                </a:solidFill>
                <a:latin typeface="Consolas"/>
              </a:rPr>
              <a:t> </a:t>
            </a:r>
            <a:r>
              <a:rPr sz="1400" b="0" i="0">
                <a:solidFill>
                  <a:srgbClr val="A64B00"/>
                </a:solidFill>
                <a:latin typeface="Consolas"/>
              </a:rPr>
              <a:t>"Tolvan Tolvansson"</a:t>
            </a:r>
          </a:p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E6B74"/>
                </a:solidFill>
                <a:latin typeface="Consolas"/>
              </a:rPr>
              <a:t>Usage:</a:t>
            </a:r>
            <a:r>
              <a:rPr sz="1400" b="0" i="0">
                <a:solidFill>
                  <a:srgbClr val="222831"/>
                </a:solidFill>
                <a:latin typeface="Consolas"/>
              </a:rPr>
              <a:t> #example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22831"/>
                </a:solidFill>
                <a:latin typeface="Consolas"/>
              </a:rPr>
              <a:t>* identifier[0].system = $personnummer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22831"/>
                </a:solidFill>
                <a:latin typeface="Consolas"/>
              </a:rPr>
              <a:t>* identifier[0].value = </a:t>
            </a:r>
            <a:r>
              <a:rPr sz="1400" b="0" i="0">
                <a:solidFill>
                  <a:srgbClr val="A64B00"/>
                </a:solidFill>
                <a:latin typeface="Consolas"/>
              </a:rPr>
              <a:t>"191212121212"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22831"/>
                </a:solidFill>
                <a:latin typeface="Consolas"/>
              </a:rPr>
              <a:t>* name[0].use = #official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22831"/>
                </a:solidFill>
                <a:latin typeface="Consolas"/>
              </a:rPr>
              <a:t>* name[0].family = </a:t>
            </a:r>
            <a:r>
              <a:rPr sz="1400" b="0" i="0">
                <a:solidFill>
                  <a:srgbClr val="A64B00"/>
                </a:solidFill>
                <a:latin typeface="Consolas"/>
              </a:rPr>
              <a:t>"Tolvansson"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22831"/>
                </a:solidFill>
                <a:latin typeface="Consolas"/>
              </a:rPr>
              <a:t>* name[0].given[0] = </a:t>
            </a:r>
            <a:r>
              <a:rPr sz="1400" b="0" i="0">
                <a:solidFill>
                  <a:srgbClr val="A64B00"/>
                </a:solidFill>
                <a:latin typeface="Consolas"/>
              </a:rPr>
              <a:t>"Tolvan"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22831"/>
                </a:solidFill>
                <a:latin typeface="Consolas"/>
              </a:rPr>
              <a:t>* gender = #male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22831"/>
                </a:solidFill>
                <a:latin typeface="Consolas"/>
              </a:rPr>
              <a:t>* birthDate = </a:t>
            </a:r>
            <a:r>
              <a:rPr sz="1400" b="0" i="0">
                <a:solidFill>
                  <a:srgbClr val="A64B00"/>
                </a:solidFill>
                <a:latin typeface="Consolas"/>
              </a:rPr>
              <a:t>"1912-12-12"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1664208"/>
            <a:ext cx="54864" cy="3547872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0" y="5394960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>
                <a:solidFill>
                  <a:srgbClr val="5B6577"/>
                </a:solidFill>
                <a:latin typeface="Calibri"/>
              </a:rPr>
              <a:t>SUSHI sätter </a:t>
            </a:r>
            <a:r>
              <a:rPr sz="1400" b="0" i="0">
                <a:solidFill>
                  <a:srgbClr val="0E6B74"/>
                </a:solidFill>
                <a:latin typeface="Consolas"/>
              </a:rPr>
              <a:t>meta.profile</a:t>
            </a:r>
            <a:r>
              <a:rPr sz="1500" b="0" i="0">
                <a:solidFill>
                  <a:srgbClr val="5B6577"/>
                </a:solidFill>
                <a:latin typeface="Calibri"/>
              </a:rPr>
              <a:t> automatiskt utifrån </a:t>
            </a:r>
            <a:r>
              <a:rPr sz="1400" b="0" i="0">
                <a:solidFill>
                  <a:srgbClr val="0E6B74"/>
                </a:solidFill>
                <a:latin typeface="Consolas"/>
              </a:rPr>
              <a:t>InstanceOf</a:t>
            </a:r>
            <a:r>
              <a:rPr sz="1500" b="0" i="0">
                <a:solidFill>
                  <a:srgbClr val="5B6577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Ny profil: EducationEncounter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43584"/>
            <a:ext cx="11094415" cy="0"/>
          </a:xfrm>
          <a:prstGeom prst="line">
            <a:avLst/>
          </a:prstGeom>
          <a:ln w="12700">
            <a:solidFill>
              <a:srgbClr val="D5DA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B6577"/>
                </a:solidFill>
                <a:latin typeface="Calibri"/>
              </a:rPr>
              <a:t>FHIR i praktiken  ·  Modul 3 – FHIR Shorthand (FSH)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B6577"/>
                </a:solidFill>
                <a:latin typeface="Calibri"/>
              </a:rPr>
              <a:t>39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5B6577"/>
                </a:solidFill>
                <a:latin typeface="Calibri"/>
              </a:rPr>
              <a:t>input/fsh/profiles/EducationEncounter.fsh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664208"/>
            <a:ext cx="5029200" cy="4462272"/>
          </a:xfrm>
          <a:prstGeom prst="rect">
            <a:avLst/>
          </a:prstGeom>
          <a:solidFill>
            <a:srgbClr val="F4F6F8"/>
          </a:solidFill>
          <a:ln w="9525">
            <a:solidFill>
              <a:srgbClr val="D5D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01168" tIns="91440"/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E6B74"/>
                </a:solidFill>
                <a:latin typeface="Consolas"/>
              </a:rPr>
              <a:t>Profile:</a:t>
            </a:r>
            <a:r>
              <a:rPr sz="1400" b="0" i="0">
                <a:solidFill>
                  <a:srgbClr val="222831"/>
                </a:solidFill>
                <a:latin typeface="Consolas"/>
              </a:rPr>
              <a:t> EducationEncounter</a:t>
            </a:r>
          </a:p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E6B74"/>
                </a:solidFill>
                <a:latin typeface="Consolas"/>
              </a:rPr>
              <a:t>Parent:</a:t>
            </a:r>
            <a:r>
              <a:rPr sz="1400" b="0" i="0">
                <a:solidFill>
                  <a:srgbClr val="222831"/>
                </a:solidFill>
                <a:latin typeface="Consolas"/>
              </a:rPr>
              <a:t> Encounter</a:t>
            </a:r>
          </a:p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E6B74"/>
                </a:solidFill>
                <a:latin typeface="Consolas"/>
              </a:rPr>
              <a:t>Id:</a:t>
            </a:r>
            <a:r>
              <a:rPr sz="1400" b="0" i="0">
                <a:solidFill>
                  <a:srgbClr val="222831"/>
                </a:solidFill>
                <a:latin typeface="Consolas"/>
              </a:rPr>
              <a:t> EducationEncounter</a:t>
            </a:r>
          </a:p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E6B74"/>
                </a:solidFill>
                <a:latin typeface="Consolas"/>
              </a:rPr>
              <a:t>Title:</a:t>
            </a:r>
            <a:r>
              <a:rPr sz="1400" b="0" i="0">
                <a:solidFill>
                  <a:srgbClr val="222831"/>
                </a:solidFill>
                <a:latin typeface="Consolas"/>
              </a:rPr>
              <a:t> </a:t>
            </a:r>
            <a:r>
              <a:rPr sz="1400" b="0" i="0">
                <a:solidFill>
                  <a:srgbClr val="A64B00"/>
                </a:solidFill>
                <a:latin typeface="Consolas"/>
              </a:rPr>
              <a:t>"Education Encounter"</a:t>
            </a:r>
          </a:p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E6B74"/>
                </a:solidFill>
                <a:latin typeface="Consolas"/>
              </a:rPr>
              <a:t>Description:</a:t>
            </a:r>
            <a:r>
              <a:rPr sz="1400" b="0" i="0">
                <a:solidFill>
                  <a:srgbClr val="222831"/>
                </a:solidFill>
                <a:latin typeface="Consolas"/>
              </a:rPr>
              <a:t> </a:t>
            </a:r>
            <a:r>
              <a:rPr sz="1400" b="0" i="0">
                <a:solidFill>
                  <a:srgbClr val="A64B00"/>
                </a:solidFill>
                <a:latin typeface="Consolas"/>
              </a:rPr>
              <a:t>"Profil för en vårdkontakt."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22831"/>
                </a:solidFill>
                <a:latin typeface="Consolas"/>
              </a:rPr>
              <a:t>* status MS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22831"/>
                </a:solidFill>
                <a:latin typeface="Consolas"/>
              </a:rPr>
              <a:t>* class MS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22831"/>
                </a:solidFill>
                <a:latin typeface="Consolas"/>
              </a:rPr>
              <a:t>* type 1..1 MS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22831"/>
                </a:solidFill>
                <a:latin typeface="Consolas"/>
              </a:rPr>
              <a:t>* subject 1..1 MS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22831"/>
                </a:solidFill>
                <a:latin typeface="Consolas"/>
              </a:rPr>
              <a:t>* subject only Reference(EducationPatient)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22831"/>
                </a:solidFill>
                <a:latin typeface="Consolas"/>
              </a:rPr>
              <a:t>* period 1..1 MS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22831"/>
                </a:solidFill>
                <a:latin typeface="Consolas"/>
              </a:rPr>
              <a:t>* period.start 1..1 MS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22831"/>
                </a:solidFill>
                <a:latin typeface="Consolas"/>
              </a:rPr>
              <a:t>* reasonCode MS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22831"/>
                </a:solidFill>
                <a:latin typeface="Consolas"/>
              </a:rPr>
              <a:t>* serviceProvider 1..1 MS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22831"/>
                </a:solidFill>
                <a:latin typeface="Consolas"/>
              </a:rPr>
              <a:t>* serviceProvider.identifier 1..1 MS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22831"/>
                </a:solidFill>
                <a:latin typeface="Consolas"/>
              </a:rPr>
              <a:t>* serviceProvider.identifier.system = $hsaid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664208"/>
            <a:ext cx="54864" cy="4462272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0" y="1371600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5B6577"/>
                </a:solidFill>
                <a:latin typeface="Calibri"/>
              </a:rPr>
              <a:t>input/fsh/examples/encounter-tolvan-1.fsh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760720" y="1664208"/>
            <a:ext cx="5852160" cy="4462272"/>
          </a:xfrm>
          <a:prstGeom prst="rect">
            <a:avLst/>
          </a:prstGeom>
          <a:solidFill>
            <a:srgbClr val="F4F6F8"/>
          </a:solidFill>
          <a:ln w="9525">
            <a:solidFill>
              <a:srgbClr val="D5D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01168" tIns="91440"/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E6B74"/>
                </a:solidFill>
                <a:latin typeface="Consolas"/>
              </a:rPr>
              <a:t>Instance:</a:t>
            </a:r>
            <a:r>
              <a:rPr sz="1300" b="0" i="0">
                <a:solidFill>
                  <a:srgbClr val="222831"/>
                </a:solidFill>
                <a:latin typeface="Consolas"/>
              </a:rPr>
              <a:t> encounter-tolvan-1</a:t>
            </a:r>
          </a:p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E6B74"/>
                </a:solidFill>
                <a:latin typeface="Consolas"/>
              </a:rPr>
              <a:t>InstanceOf:</a:t>
            </a:r>
            <a:r>
              <a:rPr sz="1300" b="0" i="0">
                <a:solidFill>
                  <a:srgbClr val="222831"/>
                </a:solidFill>
                <a:latin typeface="Consolas"/>
              </a:rPr>
              <a:t> EducationEncounter</a:t>
            </a:r>
          </a:p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E6B74"/>
                </a:solidFill>
                <a:latin typeface="Consolas"/>
              </a:rPr>
              <a:t>Usage:</a:t>
            </a:r>
            <a:r>
              <a:rPr sz="1300" b="0" i="0">
                <a:solidFill>
                  <a:srgbClr val="222831"/>
                </a:solidFill>
                <a:latin typeface="Consolas"/>
              </a:rPr>
              <a:t> #example</a:t>
            </a:r>
          </a:p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222831"/>
                </a:solidFill>
                <a:latin typeface="Consolas"/>
              </a:rPr>
              <a:t>* status = #finished</a:t>
            </a:r>
          </a:p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222831"/>
                </a:solidFill>
                <a:latin typeface="Consolas"/>
              </a:rPr>
              <a:t>* class = $v3-ActCode#AMB </a:t>
            </a:r>
            <a:r>
              <a:rPr sz="1300" b="0" i="0">
                <a:solidFill>
                  <a:srgbClr val="A64B00"/>
                </a:solidFill>
                <a:latin typeface="Consolas"/>
              </a:rPr>
              <a:t>"ambulatory"</a:t>
            </a:r>
          </a:p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222831"/>
                </a:solidFill>
                <a:latin typeface="Consolas"/>
              </a:rPr>
              <a:t>* type.text = </a:t>
            </a:r>
            <a:r>
              <a:rPr sz="1300" b="0" i="0">
                <a:solidFill>
                  <a:srgbClr val="A64B00"/>
                </a:solidFill>
                <a:latin typeface="Consolas"/>
              </a:rPr>
              <a:t>"Besök"</a:t>
            </a:r>
            <a:r>
              <a:rPr sz="1300" b="0" i="0">
                <a:solidFill>
                  <a:srgbClr val="222831"/>
                </a:solidFill>
                <a:latin typeface="Consolas"/>
              </a:rPr>
              <a:t>   </a:t>
            </a:r>
            <a:r>
              <a:rPr sz="1300" b="0" i="0">
                <a:solidFill>
                  <a:srgbClr val="6A737D"/>
                </a:solidFill>
                <a:latin typeface="Consolas"/>
              </a:rPr>
              <a:t>// kod i övning 3.3</a:t>
            </a:r>
          </a:p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222831"/>
                </a:solidFill>
                <a:latin typeface="Consolas"/>
              </a:rPr>
              <a:t>* subject = Reference(patient-tolvan)</a:t>
            </a:r>
          </a:p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222831"/>
                </a:solidFill>
                <a:latin typeface="Consolas"/>
              </a:rPr>
              <a:t>* period.start = </a:t>
            </a:r>
            <a:r>
              <a:rPr sz="1300" b="0" i="0">
                <a:solidFill>
                  <a:srgbClr val="A64B00"/>
                </a:solidFill>
                <a:latin typeface="Consolas"/>
              </a:rPr>
              <a:t>"2026-10-01T09:00:00+02:00"</a:t>
            </a:r>
          </a:p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222831"/>
                </a:solidFill>
                <a:latin typeface="Consolas"/>
              </a:rPr>
              <a:t>* period.end = </a:t>
            </a:r>
            <a:r>
              <a:rPr sz="1300" b="0" i="0">
                <a:solidFill>
                  <a:srgbClr val="A64B00"/>
                </a:solidFill>
                <a:latin typeface="Consolas"/>
              </a:rPr>
              <a:t>"2026-10-01T09:30:00+02:00"</a:t>
            </a:r>
          </a:p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222831"/>
                </a:solidFill>
                <a:latin typeface="Consolas"/>
              </a:rPr>
              <a:t>* reasonCode = $ICD10#J45.9 </a:t>
            </a:r>
            <a:r>
              <a:rPr sz="1300" b="0" i="0">
                <a:solidFill>
                  <a:srgbClr val="A64B00"/>
                </a:solidFill>
                <a:latin typeface="Consolas"/>
              </a:rPr>
              <a:t>"Asthma, unspecified"</a:t>
            </a:r>
          </a:p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222831"/>
                </a:solidFill>
                <a:latin typeface="Consolas"/>
              </a:rPr>
              <a:t>* serviceProvider.identifier.system = $hsaid</a:t>
            </a:r>
          </a:p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222831"/>
                </a:solidFill>
                <a:latin typeface="Consolas"/>
              </a:rPr>
              <a:t>* serviceProvider.identifier.value = </a:t>
            </a:r>
            <a:r>
              <a:rPr sz="1300" b="0" i="0">
                <a:solidFill>
                  <a:srgbClr val="A64B00"/>
                </a:solidFill>
                <a:latin typeface="Consolas"/>
              </a:rPr>
              <a:t>"SE2321000016-KURS"</a:t>
            </a:r>
          </a:p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222831"/>
                </a:solidFill>
                <a:latin typeface="Consolas"/>
              </a:rPr>
              <a:t>* serviceProvider.display = </a:t>
            </a:r>
            <a:r>
              <a:rPr sz="1300" b="0" i="0">
                <a:solidFill>
                  <a:srgbClr val="A64B00"/>
                </a:solidFill>
                <a:latin typeface="Consolas"/>
              </a:rPr>
              <a:t>"Vårdcentralen Kursköping"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60720" y="1664208"/>
            <a:ext cx="54864" cy="4462272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Terminologi i FSH: include och referens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43584"/>
            <a:ext cx="11094415" cy="0"/>
          </a:xfrm>
          <a:prstGeom prst="line">
            <a:avLst/>
          </a:prstGeom>
          <a:ln w="12700">
            <a:solidFill>
              <a:srgbClr val="D5DA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B6577"/>
                </a:solidFill>
                <a:latin typeface="Calibri"/>
              </a:rPr>
              <a:t>FHIR i praktiken  ·  Modul 3 – FHIR Shorthand (FSH)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B6577"/>
                </a:solidFill>
                <a:latin typeface="Calibri"/>
              </a:rPr>
              <a:t>40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5B6577"/>
                </a:solidFill>
                <a:latin typeface="Calibri"/>
              </a:rPr>
              <a:t>a) Eget kodsystem – ValueSet med hela kodsystemet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664208"/>
            <a:ext cx="5394960" cy="2633472"/>
          </a:xfrm>
          <a:prstGeom prst="rect">
            <a:avLst/>
          </a:prstGeom>
          <a:solidFill>
            <a:srgbClr val="F4F6F8"/>
          </a:solidFill>
          <a:ln w="9525">
            <a:solidFill>
              <a:srgbClr val="D5D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01168" tIns="91440"/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E6B74"/>
                </a:solidFill>
                <a:latin typeface="Consolas"/>
              </a:rPr>
              <a:t>CodeSystem:</a:t>
            </a:r>
            <a:r>
              <a:rPr sz="1400" b="0" i="0">
                <a:solidFill>
                  <a:srgbClr val="222831"/>
                </a:solidFill>
                <a:latin typeface="Consolas"/>
              </a:rPr>
              <a:t> KontakttypCS</a:t>
            </a:r>
          </a:p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E6B74"/>
                </a:solidFill>
                <a:latin typeface="Consolas"/>
              </a:rPr>
              <a:t>Id:</a:t>
            </a:r>
            <a:r>
              <a:rPr sz="1400" b="0" i="0">
                <a:solidFill>
                  <a:srgbClr val="222831"/>
                </a:solidFill>
                <a:latin typeface="Consolas"/>
              </a:rPr>
              <a:t> kontakttyp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22831"/>
                </a:solidFill>
                <a:latin typeface="Consolas"/>
              </a:rPr>
              <a:t>* #besok </a:t>
            </a:r>
            <a:r>
              <a:rPr sz="1400" b="0" i="0">
                <a:solidFill>
                  <a:srgbClr val="A64B00"/>
                </a:solidFill>
                <a:latin typeface="Consolas"/>
              </a:rPr>
              <a:t>"Besök"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22831"/>
                </a:solidFill>
                <a:latin typeface="Consolas"/>
              </a:rPr>
              <a:t>* #hembesok </a:t>
            </a:r>
            <a:r>
              <a:rPr sz="1400" b="0" i="0">
                <a:solidFill>
                  <a:srgbClr val="A64B00"/>
                </a:solidFill>
                <a:latin typeface="Consolas"/>
              </a:rPr>
              <a:t>"Hembesök"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22831"/>
                </a:solidFill>
                <a:latin typeface="Consolas"/>
              </a:rPr>
              <a:t>* #video </a:t>
            </a:r>
            <a:r>
              <a:rPr sz="1400" b="0" i="0">
                <a:solidFill>
                  <a:srgbClr val="A64B00"/>
                </a:solidFill>
                <a:latin typeface="Consolas"/>
              </a:rPr>
              <a:t>"Videokontakt"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22831"/>
                </a:solidFill>
                <a:latin typeface="Consolas"/>
              </a:rPr>
              <a:t>* #telefon </a:t>
            </a:r>
            <a:r>
              <a:rPr sz="1400" b="0" i="0">
                <a:solidFill>
                  <a:srgbClr val="A64B00"/>
                </a:solidFill>
                <a:latin typeface="Consolas"/>
              </a:rPr>
              <a:t>"Telefonkontakt"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22831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E6B74"/>
                </a:solidFill>
                <a:latin typeface="Consolas"/>
              </a:rPr>
              <a:t>ValueSet:</a:t>
            </a:r>
            <a:r>
              <a:rPr sz="1400" b="0" i="0">
                <a:solidFill>
                  <a:srgbClr val="222831"/>
                </a:solidFill>
                <a:latin typeface="Consolas"/>
              </a:rPr>
              <a:t> KontakttypVS</a:t>
            </a:r>
          </a:p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E6B74"/>
                </a:solidFill>
                <a:latin typeface="Consolas"/>
              </a:rPr>
              <a:t>Id:</a:t>
            </a:r>
            <a:r>
              <a:rPr sz="1400" b="0" i="0">
                <a:solidFill>
                  <a:srgbClr val="222831"/>
                </a:solidFill>
                <a:latin typeface="Consolas"/>
              </a:rPr>
              <a:t> kontakttyp-vs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22831"/>
                </a:solidFill>
                <a:latin typeface="Consolas"/>
              </a:rPr>
              <a:t>* include codes from system KontakttypCS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664208"/>
            <a:ext cx="54864" cy="2633472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0" y="137160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5B6577"/>
                </a:solidFill>
                <a:latin typeface="Calibri"/>
              </a:rPr>
              <a:t>a) Befintligt kodsystem – enskilda koder med include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664208"/>
            <a:ext cx="5394960" cy="2633472"/>
          </a:xfrm>
          <a:prstGeom prst="rect">
            <a:avLst/>
          </a:prstGeom>
          <a:solidFill>
            <a:srgbClr val="F4F6F8"/>
          </a:solidFill>
          <a:ln w="9525">
            <a:solidFill>
              <a:srgbClr val="D5D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01168" tIns="91440"/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E6B74"/>
                </a:solidFill>
                <a:latin typeface="Consolas"/>
              </a:rPr>
              <a:t>ValueSet:</a:t>
            </a:r>
            <a:r>
              <a:rPr sz="1400" b="0" i="0">
                <a:solidFill>
                  <a:srgbClr val="222831"/>
                </a:solidFill>
                <a:latin typeface="Consolas"/>
              </a:rPr>
              <a:t> EducationEncounterClassVS</a:t>
            </a:r>
          </a:p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E6B74"/>
                </a:solidFill>
                <a:latin typeface="Consolas"/>
              </a:rPr>
              <a:t>Id:</a:t>
            </a:r>
            <a:r>
              <a:rPr sz="1400" b="0" i="0">
                <a:solidFill>
                  <a:srgbClr val="222831"/>
                </a:solidFill>
                <a:latin typeface="Consolas"/>
              </a:rPr>
              <a:t> education-encounter-class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22831"/>
                </a:solidFill>
                <a:latin typeface="Consolas"/>
              </a:rPr>
              <a:t>* include $v3-ActCode#AMB </a:t>
            </a:r>
            <a:r>
              <a:rPr sz="1400" b="0" i="0">
                <a:solidFill>
                  <a:srgbClr val="A64B00"/>
                </a:solidFill>
                <a:latin typeface="Consolas"/>
              </a:rPr>
              <a:t>"ambulatory"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22831"/>
                </a:solidFill>
                <a:latin typeface="Consolas"/>
              </a:rPr>
              <a:t>* include $v3-ActCode#IMP </a:t>
            </a:r>
            <a:r>
              <a:rPr sz="1400" b="0" i="0">
                <a:solidFill>
                  <a:srgbClr val="A64B00"/>
                </a:solidFill>
                <a:latin typeface="Consolas"/>
              </a:rPr>
              <a:t>"inpatient encounter"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22831"/>
                </a:solidFill>
                <a:latin typeface="Consolas"/>
              </a:rPr>
              <a:t>* include $v3-ActCode#EMER </a:t>
            </a:r>
            <a:r>
              <a:rPr sz="1400" b="0" i="0">
                <a:solidFill>
                  <a:srgbClr val="A64B00"/>
                </a:solidFill>
                <a:latin typeface="Consolas"/>
              </a:rPr>
              <a:t>"emergency"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22831"/>
                </a:solidFill>
                <a:latin typeface="Consolas"/>
              </a:rPr>
              <a:t>* include $v3-ActCode#HH </a:t>
            </a:r>
            <a:r>
              <a:rPr sz="1400" b="0" i="0">
                <a:solidFill>
                  <a:srgbClr val="A64B00"/>
                </a:solidFill>
                <a:latin typeface="Consolas"/>
              </a:rPr>
              <a:t>"home health"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22831"/>
                </a:solidFill>
                <a:latin typeface="Consolas"/>
              </a:rPr>
              <a:t>* include $v3-ActCode#VR </a:t>
            </a:r>
            <a:r>
              <a:rPr sz="1400" b="0" i="0">
                <a:solidFill>
                  <a:srgbClr val="A64B00"/>
                </a:solidFill>
                <a:latin typeface="Consolas"/>
              </a:rPr>
              <a:t>"virtual"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664208"/>
            <a:ext cx="54864" cy="2633472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4526280"/>
            <a:ext cx="110944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5B6577"/>
                </a:solidFill>
                <a:latin typeface="Calibri"/>
              </a:rPr>
              <a:t>b) Bindning med referens – och andra varianter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818888"/>
            <a:ext cx="11094415" cy="1490472"/>
          </a:xfrm>
          <a:prstGeom prst="rect">
            <a:avLst/>
          </a:prstGeom>
          <a:solidFill>
            <a:srgbClr val="F4F6F8"/>
          </a:solidFill>
          <a:ln w="9525">
            <a:solidFill>
              <a:srgbClr val="D5D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01168" tIns="91440"/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222831"/>
                </a:solidFill>
                <a:latin typeface="Consolas"/>
              </a:rPr>
              <a:t> </a:t>
            </a:r>
            <a:r>
              <a:rPr sz="950" b="0" i="0">
                <a:solidFill>
                  <a:srgbClr val="6A737D"/>
                </a:solidFill>
                <a:latin typeface="Consolas"/>
              </a:rPr>
              <a:t>// Bindningar i profilerna</a:t>
            </a:r>
          </a:p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222831"/>
                </a:solidFill>
                <a:latin typeface="Consolas"/>
              </a:rPr>
              <a:t>* class from EducationEncounterClassVS (required)</a:t>
            </a:r>
          </a:p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222831"/>
                </a:solidFill>
                <a:latin typeface="Consolas"/>
              </a:rPr>
              <a:t>* type from KontakttypVS (extensible)</a:t>
            </a:r>
          </a:p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222831"/>
                </a:solidFill>
                <a:latin typeface="Consolas"/>
              </a:rPr>
              <a:t>* maritalStatus from http://hl7.org/fhir/ValueSet/marital-status (required)  </a:t>
            </a:r>
            <a:r>
              <a:rPr sz="950" b="0" i="0">
                <a:solidFill>
                  <a:srgbClr val="6A737D"/>
                </a:solidFill>
                <a:latin typeface="Consolas"/>
              </a:rPr>
              <a:t>// b)</a:t>
            </a:r>
          </a:p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222831"/>
                </a:solidFill>
                <a:latin typeface="Consolas"/>
              </a:rPr>
              <a:t> </a:t>
            </a:r>
            <a:r>
              <a:rPr sz="950" b="0" i="0">
                <a:solidFill>
                  <a:srgbClr val="6A737D"/>
                </a:solidFill>
                <a:latin typeface="Consolas"/>
              </a:rPr>
              <a:t>// ... och i exemplet: * type = KontakttypCS#besok "Besök"</a:t>
            </a:r>
          </a:p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222831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222831"/>
                </a:solidFill>
                <a:latin typeface="Consolas"/>
              </a:rPr>
              <a:t> </a:t>
            </a:r>
            <a:r>
              <a:rPr sz="950" b="0" i="0">
                <a:solidFill>
                  <a:srgbClr val="6A737D"/>
                </a:solidFill>
                <a:latin typeface="Consolas"/>
              </a:rPr>
              <a:t>// Fler varianter i ett ValueSet</a:t>
            </a:r>
          </a:p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222831"/>
                </a:solidFill>
                <a:latin typeface="Consolas"/>
              </a:rPr>
              <a:t>* include codes from valueset http://...</a:t>
            </a:r>
          </a:p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222831"/>
                </a:solidFill>
                <a:latin typeface="Consolas"/>
              </a:rPr>
              <a:t>* include codes from system $SCT where concept is-a #308335008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818888"/>
            <a:ext cx="54864" cy="1490472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Extensions och slicing i FSH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43584"/>
            <a:ext cx="11094415" cy="0"/>
          </a:xfrm>
          <a:prstGeom prst="line">
            <a:avLst/>
          </a:prstGeom>
          <a:ln w="12700">
            <a:solidFill>
              <a:srgbClr val="D5DA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B6577"/>
                </a:solidFill>
                <a:latin typeface="Calibri"/>
              </a:rPr>
              <a:t>FHIR i praktiken  ·  Modul 3 – FHIR Shorthand (FSH)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B6577"/>
                </a:solidFill>
                <a:latin typeface="Calibri"/>
              </a:rPr>
              <a:t>41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5B6577"/>
                </a:solidFill>
                <a:latin typeface="Calibri"/>
              </a:rPr>
              <a:t>Extensions (övning 3.4)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664208"/>
            <a:ext cx="5486400" cy="4462272"/>
          </a:xfrm>
          <a:prstGeom prst="rect">
            <a:avLst/>
          </a:prstGeom>
          <a:solidFill>
            <a:srgbClr val="F4F6F8"/>
          </a:solidFill>
          <a:ln w="9525">
            <a:solidFill>
              <a:srgbClr val="D5D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01168" tIns="91440"/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E6B74"/>
                </a:solidFill>
                <a:latin typeface="Consolas"/>
              </a:rPr>
              <a:t>Extension:</a:t>
            </a:r>
            <a:r>
              <a:rPr sz="1150" b="0" i="0">
                <a:solidFill>
                  <a:srgbClr val="222831"/>
                </a:solidFill>
                <a:latin typeface="Consolas"/>
              </a:rPr>
              <a:t> SkyddadIdentitet</a:t>
            </a:r>
          </a:p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E6B74"/>
                </a:solidFill>
                <a:latin typeface="Consolas"/>
              </a:rPr>
              <a:t>Id:</a:t>
            </a:r>
            <a:r>
              <a:rPr sz="1150" b="0" i="0">
                <a:solidFill>
                  <a:srgbClr val="222831"/>
                </a:solidFill>
                <a:latin typeface="Consolas"/>
              </a:rPr>
              <a:t> SkyddadIdentitet</a:t>
            </a:r>
          </a:p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E6B74"/>
                </a:solidFill>
                <a:latin typeface="Consolas"/>
              </a:rPr>
              <a:t>Title:</a:t>
            </a:r>
            <a:r>
              <a:rPr sz="1150" b="0" i="0">
                <a:solidFill>
                  <a:srgbClr val="222831"/>
                </a:solidFill>
                <a:latin typeface="Consolas"/>
              </a:rPr>
              <a:t> </a:t>
            </a:r>
            <a:r>
              <a:rPr sz="1150" b="0" i="0">
                <a:solidFill>
                  <a:srgbClr val="A64B00"/>
                </a:solidFill>
                <a:latin typeface="Consolas"/>
              </a:rPr>
              <a:t>"Skyddad identitet"</a:t>
            </a:r>
          </a:p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E6B74"/>
                </a:solidFill>
                <a:latin typeface="Consolas"/>
              </a:rPr>
              <a:t>Context:</a:t>
            </a:r>
            <a:r>
              <a:rPr sz="1150" b="0" i="0">
                <a:solidFill>
                  <a:srgbClr val="222831"/>
                </a:solidFill>
                <a:latin typeface="Consolas"/>
              </a:rPr>
              <a:t> Patient</a:t>
            </a:r>
          </a:p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222831"/>
                </a:solidFill>
                <a:latin typeface="Consolas"/>
              </a:rPr>
              <a:t>* value[x] 1..1</a:t>
            </a:r>
          </a:p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222831"/>
                </a:solidFill>
                <a:latin typeface="Consolas"/>
              </a:rPr>
              <a:t>* value[x] only boolean</a:t>
            </a:r>
          </a:p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222831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222831"/>
                </a:solidFill>
                <a:latin typeface="Consolas"/>
              </a:rPr>
              <a:t> </a:t>
            </a:r>
            <a:r>
              <a:rPr sz="1150" b="0" i="0">
                <a:solidFill>
                  <a:srgbClr val="6A737D"/>
                </a:solidFill>
                <a:latin typeface="Consolas"/>
              </a:rPr>
              <a:t>// I EducationPatient:</a:t>
            </a:r>
          </a:p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222831"/>
                </a:solidFill>
                <a:latin typeface="Consolas"/>
              </a:rPr>
              <a:t>* extension contains</a:t>
            </a:r>
          </a:p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222831"/>
                </a:solidFill>
                <a:latin typeface="Consolas"/>
              </a:rPr>
              <a:t>    $patient-interpreterRequired named tolkbehov 0..1 MS and</a:t>
            </a:r>
          </a:p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222831"/>
                </a:solidFill>
                <a:latin typeface="Consolas"/>
              </a:rPr>
              <a:t>    SkyddadIdentitet named skyddadIdentitet 0..1 MS</a:t>
            </a:r>
          </a:p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222831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222831"/>
                </a:solidFill>
                <a:latin typeface="Consolas"/>
              </a:rPr>
              <a:t> </a:t>
            </a:r>
            <a:r>
              <a:rPr sz="1150" b="0" i="0">
                <a:solidFill>
                  <a:srgbClr val="6A737D"/>
                </a:solidFill>
                <a:latin typeface="Consolas"/>
              </a:rPr>
              <a:t>// I exemplet:</a:t>
            </a:r>
          </a:p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222831"/>
                </a:solidFill>
                <a:latin typeface="Consolas"/>
              </a:rPr>
              <a:t>* extension[tolkbehov].valueBoolean = false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664208"/>
            <a:ext cx="54864" cy="4462272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0" y="137160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5B6577"/>
                </a:solidFill>
                <a:latin typeface="Calibri"/>
              </a:rPr>
              <a:t>Slicing (övning 3.5)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1664208"/>
            <a:ext cx="5303520" cy="4462272"/>
          </a:xfrm>
          <a:prstGeom prst="rect">
            <a:avLst/>
          </a:prstGeom>
          <a:solidFill>
            <a:srgbClr val="F4F6F8"/>
          </a:solidFill>
          <a:ln w="9525">
            <a:solidFill>
              <a:srgbClr val="D5D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01168" tIns="91440"/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222831"/>
                </a:solidFill>
                <a:latin typeface="Consolas"/>
              </a:rPr>
              <a:t>* identifier ^slicing.discriminator.type = #value</a:t>
            </a:r>
          </a:p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222831"/>
                </a:solidFill>
                <a:latin typeface="Consolas"/>
              </a:rPr>
              <a:t>* identifier ^slicing.discriminator.path = </a:t>
            </a:r>
            <a:r>
              <a:rPr sz="1300" b="0" i="0">
                <a:solidFill>
                  <a:srgbClr val="A64B00"/>
                </a:solidFill>
                <a:latin typeface="Consolas"/>
              </a:rPr>
              <a:t>"system"</a:t>
            </a:r>
          </a:p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222831"/>
                </a:solidFill>
                <a:latin typeface="Consolas"/>
              </a:rPr>
              <a:t>* identifier ^slicing.rules = #open</a:t>
            </a:r>
          </a:p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222831"/>
                </a:solidFill>
                <a:latin typeface="Consolas"/>
              </a:rPr>
              <a:t>* identifier contains</a:t>
            </a:r>
          </a:p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222831"/>
                </a:solidFill>
                <a:latin typeface="Consolas"/>
              </a:rPr>
              <a:t>    personnummer 0..1 MS and</a:t>
            </a:r>
          </a:p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222831"/>
                </a:solidFill>
                <a:latin typeface="Consolas"/>
              </a:rPr>
              <a:t>    samordningsnummer 0..1 MS</a:t>
            </a:r>
          </a:p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222831"/>
                </a:solidFill>
                <a:latin typeface="Consolas"/>
              </a:rPr>
              <a:t>* identifier[personnummer].system = $personnummer</a:t>
            </a:r>
          </a:p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222831"/>
                </a:solidFill>
                <a:latin typeface="Consolas"/>
              </a:rPr>
              <a:t>* identifier[samordningsnummer].system =</a:t>
            </a:r>
          </a:p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222831"/>
                </a:solidFill>
                <a:latin typeface="Consolas"/>
              </a:rPr>
              <a:t>    $samordningsnummer</a:t>
            </a:r>
          </a:p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222831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222831"/>
                </a:solidFill>
                <a:latin typeface="Consolas"/>
              </a:rPr>
              <a:t> </a:t>
            </a:r>
            <a:r>
              <a:rPr sz="1300" b="0" i="0">
                <a:solidFill>
                  <a:srgbClr val="6A737D"/>
                </a:solidFill>
                <a:latin typeface="Consolas"/>
              </a:rPr>
              <a:t>// I exemplet:</a:t>
            </a:r>
          </a:p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222831"/>
                </a:solidFill>
                <a:latin typeface="Consolas"/>
              </a:rPr>
              <a:t>* identifier[personnummer].value = </a:t>
            </a:r>
            <a:r>
              <a:rPr sz="1300" b="0" i="0">
                <a:solidFill>
                  <a:srgbClr val="A64B00"/>
                </a:solidFill>
                <a:latin typeface="Consolas"/>
              </a:rPr>
              <a:t>"191212121212"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1664208"/>
            <a:ext cx="54864" cy="4462272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I verkligheten: bygg på HL7 Sveriges basprofiler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43584"/>
            <a:ext cx="11094415" cy="0"/>
          </a:xfrm>
          <a:prstGeom prst="line">
            <a:avLst/>
          </a:prstGeom>
          <a:ln w="12700">
            <a:solidFill>
              <a:srgbClr val="D5DA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B6577"/>
                </a:solidFill>
                <a:latin typeface="Calibri"/>
              </a:rPr>
              <a:t>FHIR i praktiken  ·  Modul 3 – FHIR Shorthand (FSH)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B6577"/>
                </a:solidFill>
                <a:latin typeface="Calibri"/>
              </a:rPr>
              <a:t>42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5B6577"/>
                </a:solidFill>
                <a:latin typeface="Calibri"/>
              </a:rPr>
              <a:t>1. Beroende till HL7 Sveriges paket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664208"/>
            <a:ext cx="4937760" cy="1033272"/>
          </a:xfrm>
          <a:prstGeom prst="rect">
            <a:avLst/>
          </a:prstGeom>
          <a:solidFill>
            <a:srgbClr val="F4F6F8"/>
          </a:solidFill>
          <a:ln w="9525">
            <a:solidFill>
              <a:srgbClr val="D5D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01168" tIns="91440"/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222831"/>
                </a:solidFill>
                <a:latin typeface="Consolas"/>
              </a:rPr>
              <a:t># test-ig/sushi-config.yaml</a:t>
            </a:r>
          </a:p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222831"/>
                </a:solidFill>
                <a:latin typeface="Consolas"/>
              </a:rPr>
              <a:t>dependencies:</a:t>
            </a:r>
          </a:p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222831"/>
                </a:solidFill>
                <a:latin typeface="Consolas"/>
              </a:rPr>
              <a:t>  hl7se.fhir.base: 1.1.0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664208"/>
            <a:ext cx="54864" cy="1033272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0" y="1371600"/>
            <a:ext cx="5943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5B6577"/>
                </a:solidFill>
                <a:latin typeface="Calibri"/>
              </a:rPr>
              <a:t>2. Profil och exempel på SEBasePatient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0" y="1664208"/>
            <a:ext cx="5943600" cy="4462272"/>
          </a:xfrm>
          <a:prstGeom prst="rect">
            <a:avLst/>
          </a:prstGeom>
          <a:solidFill>
            <a:srgbClr val="F4F6F8"/>
          </a:solidFill>
          <a:ln w="9525">
            <a:solidFill>
              <a:srgbClr val="D5D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01168" tIns="91440"/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0E6B74"/>
                </a:solidFill>
                <a:latin typeface="Consolas"/>
              </a:rPr>
              <a:t>Alias:</a:t>
            </a:r>
            <a:r>
              <a:rPr sz="1050" b="0" i="0">
                <a:solidFill>
                  <a:srgbClr val="222831"/>
                </a:solidFill>
                <a:latin typeface="Consolas"/>
              </a:rPr>
              <a:t> $SecLabel = http://hl7.se/fhir/ig/base/CodeSystem/SecurityLabel</a:t>
            </a:r>
          </a:p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222831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0E6B74"/>
                </a:solidFill>
                <a:latin typeface="Consolas"/>
              </a:rPr>
              <a:t>Profile:</a:t>
            </a:r>
            <a:r>
              <a:rPr sz="1050" b="0" i="0">
                <a:solidFill>
                  <a:srgbClr val="222831"/>
                </a:solidFill>
                <a:latin typeface="Consolas"/>
              </a:rPr>
              <a:t> EducationSEPatient</a:t>
            </a:r>
          </a:p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0E6B74"/>
                </a:solidFill>
                <a:latin typeface="Consolas"/>
              </a:rPr>
              <a:t>Parent:</a:t>
            </a:r>
            <a:r>
              <a:rPr sz="1050" b="0" i="0">
                <a:solidFill>
                  <a:srgbClr val="222831"/>
                </a:solidFill>
                <a:latin typeface="Consolas"/>
              </a:rPr>
              <a:t> SEBasePatient            </a:t>
            </a:r>
            <a:r>
              <a:rPr sz="1050" b="0" i="0">
                <a:solidFill>
                  <a:srgbClr val="6A737D"/>
                </a:solidFill>
                <a:latin typeface="Consolas"/>
              </a:rPr>
              <a:t>// från hl7se.fhir.base</a:t>
            </a:r>
          </a:p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0E6B74"/>
                </a:solidFill>
                <a:latin typeface="Consolas"/>
              </a:rPr>
              <a:t>Id:</a:t>
            </a:r>
            <a:r>
              <a:rPr sz="1050" b="0" i="0">
                <a:solidFill>
                  <a:srgbClr val="222831"/>
                </a:solidFill>
                <a:latin typeface="Consolas"/>
              </a:rPr>
              <a:t> EducationSEPatient</a:t>
            </a:r>
          </a:p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222831"/>
                </a:solidFill>
                <a:latin typeface="Consolas"/>
              </a:rPr>
              <a:t>* identifier 1..* MS</a:t>
            </a:r>
          </a:p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222831"/>
                </a:solidFill>
                <a:latin typeface="Consolas"/>
              </a:rPr>
              <a:t>* identifier[personnummer] MS    </a:t>
            </a:r>
            <a:r>
              <a:rPr sz="1050" b="0" i="0">
                <a:solidFill>
                  <a:srgbClr val="6A737D"/>
                </a:solidFill>
                <a:latin typeface="Consolas"/>
              </a:rPr>
              <a:t>// slicen ärvs!</a:t>
            </a:r>
          </a:p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222831"/>
                </a:solidFill>
                <a:latin typeface="Consolas"/>
              </a:rPr>
              <a:t>* name 1..1 MS                   </a:t>
            </a:r>
            <a:r>
              <a:rPr sz="1050" b="0" i="0">
                <a:solidFill>
                  <a:srgbClr val="6A737D"/>
                </a:solidFill>
                <a:latin typeface="Consolas"/>
              </a:rPr>
              <a:t>// basprofilen: 0..1</a:t>
            </a:r>
          </a:p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222831"/>
                </a:solidFill>
                <a:latin typeface="Consolas"/>
              </a:rPr>
              <a:t>* birthDate 1..1 MS</a:t>
            </a:r>
          </a:p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222831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0E6B74"/>
                </a:solidFill>
                <a:latin typeface="Consolas"/>
              </a:rPr>
              <a:t>Instance:</a:t>
            </a:r>
            <a:r>
              <a:rPr sz="1050" b="0" i="0">
                <a:solidFill>
                  <a:srgbClr val="222831"/>
                </a:solidFill>
                <a:latin typeface="Consolas"/>
              </a:rPr>
              <a:t> patient-tolvan-se</a:t>
            </a:r>
          </a:p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0E6B74"/>
                </a:solidFill>
                <a:latin typeface="Consolas"/>
              </a:rPr>
              <a:t>InstanceOf:</a:t>
            </a:r>
            <a:r>
              <a:rPr sz="1050" b="0" i="0">
                <a:solidFill>
                  <a:srgbClr val="222831"/>
                </a:solidFill>
                <a:latin typeface="Consolas"/>
              </a:rPr>
              <a:t> EducationSEPatient</a:t>
            </a:r>
          </a:p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222831"/>
                </a:solidFill>
                <a:latin typeface="Consolas"/>
              </a:rPr>
              <a:t>* meta.security = $SecLabel#sekretessmarkering</a:t>
            </a:r>
          </a:p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222831"/>
                </a:solidFill>
                <a:latin typeface="Consolas"/>
              </a:rPr>
              <a:t>* identifier[personnummer].value = </a:t>
            </a:r>
            <a:r>
              <a:rPr sz="1050" b="0" i="0">
                <a:solidFill>
                  <a:srgbClr val="A64B00"/>
                </a:solidFill>
                <a:latin typeface="Consolas"/>
              </a:rPr>
              <a:t>"191212121212"</a:t>
            </a:r>
          </a:p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222831"/>
                </a:solidFill>
                <a:latin typeface="Consolas"/>
              </a:rPr>
              <a:t>...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0" y="1664208"/>
            <a:ext cx="54864" cy="4462272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3017520"/>
            <a:ext cx="4937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600" b="1" i="0">
                <a:solidFill>
                  <a:srgbClr val="222831"/>
                </a:solidFill>
                <a:latin typeface="Calibri"/>
              </a:rPr>
              <a:t>Slicing</a:t>
            </a:r>
            <a:r>
              <a:rPr sz="1600" b="0" i="0">
                <a:solidFill>
                  <a:srgbClr val="222831"/>
                </a:solidFill>
                <a:latin typeface="Calibri"/>
              </a:rPr>
              <a:t> för personnummer, samordningsnummer och reservnummer finns redan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600" b="1" i="0">
                <a:solidFill>
                  <a:srgbClr val="222831"/>
                </a:solidFill>
                <a:latin typeface="Calibri"/>
              </a:rPr>
              <a:t>Svenska namnregler</a:t>
            </a:r>
            <a:r>
              <a:rPr sz="1600" b="0" i="0">
                <a:solidFill>
                  <a:srgbClr val="222831"/>
                </a:solidFill>
                <a:latin typeface="Calibri"/>
              </a:rPr>
              <a:t> och adresstyper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600" b="1" i="0">
                <a:solidFill>
                  <a:srgbClr val="222831"/>
                </a:solidFill>
                <a:latin typeface="Calibri"/>
              </a:rPr>
              <a:t>Skyddad identitet</a:t>
            </a:r>
            <a:r>
              <a:rPr sz="1600" b="0" i="0">
                <a:solidFill>
                  <a:srgbClr val="222831"/>
                </a:solidFill>
                <a:latin typeface="Calibri"/>
              </a:rPr>
              <a:t> via </a:t>
            </a:r>
            <a:r>
              <a:rPr sz="1500" b="0" i="0">
                <a:solidFill>
                  <a:srgbClr val="0E6B74"/>
                </a:solidFill>
                <a:latin typeface="Consolas"/>
              </a:rPr>
              <a:t>meta.security</a:t>
            </a:r>
            <a:r>
              <a:rPr sz="1600" b="0" i="0">
                <a:solidFill>
                  <a:srgbClr val="222831"/>
                </a:solidFill>
                <a:latin typeface="Calibri"/>
              </a:rPr>
              <a:t>, inte en egen extension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600" b="0" i="0">
                <a:solidFill>
                  <a:srgbClr val="222831"/>
                </a:solidFill>
                <a:latin typeface="Calibri"/>
              </a:rPr>
              <a:t>Peka ut </a:t>
            </a:r>
            <a:r>
              <a:rPr sz="1600" b="1" i="0">
                <a:solidFill>
                  <a:srgbClr val="222831"/>
                </a:solidFill>
                <a:latin typeface="Calibri"/>
              </a:rPr>
              <a:t>exakt version</a:t>
            </a:r>
            <a:r>
              <a:rPr sz="1600" b="0" i="0">
                <a:solidFill>
                  <a:srgbClr val="222831"/>
                </a:solidFill>
                <a:latin typeface="Calibri"/>
              </a:rPr>
              <a:t> av beroendet, som vid kravställning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E87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ÖVNING  ·  30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FSH: bygg ut kursens IG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17320"/>
            <a:ext cx="11094415" cy="502920"/>
          </a:xfrm>
          <a:prstGeom prst="roundRect">
            <a:avLst>
              <a:gd name="adj" fmla="val 20000"/>
            </a:avLst>
          </a:prstGeom>
          <a:solidFill>
            <a:srgbClr val="FC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wrap="square"/>
          <a:lstStyle/>
          <a:p>
            <a:pPr algn="l"/>
            <a:r>
              <a:rPr sz="1500" b="0" i="0">
                <a:solidFill>
                  <a:srgbClr val="222831"/>
                </a:solidFill>
                <a:latin typeface="Calibri"/>
              </a:rPr>
              <a:t>📂  test-ig/input/fsh/  ·  instruktioner: kursmaterial/modul-3-fsh/README.md  ·  lösning: kursmaterial/losningar/modul-3/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03120"/>
            <a:ext cx="11094415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900" b="1" i="0">
                <a:solidFill>
                  <a:srgbClr val="222831"/>
                </a:solidFill>
                <a:latin typeface="Calibri"/>
              </a:rPr>
              <a:t>3.1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Titta på startprofilen och jämför Differential och Snapshot i din IG  (5 min)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900" b="1" i="0">
                <a:solidFill>
                  <a:srgbClr val="222831"/>
                </a:solidFill>
                <a:latin typeface="Calibri"/>
              </a:rPr>
              <a:t>3.2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Skapa </a:t>
            </a:r>
            <a:r>
              <a:rPr sz="1800" b="0" i="0">
                <a:solidFill>
                  <a:srgbClr val="0E6B74"/>
                </a:solidFill>
                <a:latin typeface="Consolas"/>
              </a:rPr>
              <a:t>profiles/EducationEncounter.fsh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+ exemplet </a:t>
            </a:r>
            <a:r>
              <a:rPr sz="1800" b="0" i="0">
                <a:solidFill>
                  <a:srgbClr val="0E6B74"/>
                </a:solidFill>
                <a:latin typeface="Consolas"/>
              </a:rPr>
              <a:t>encounter-tolvan-1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 (10 min)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900" b="1" i="0">
                <a:solidFill>
                  <a:srgbClr val="222831"/>
                </a:solidFill>
                <a:latin typeface="Calibri"/>
              </a:rPr>
              <a:t>3.3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Terminologi: </a:t>
            </a:r>
            <a:r>
              <a:rPr sz="1800" b="0" i="0">
                <a:solidFill>
                  <a:srgbClr val="0E6B74"/>
                </a:solidFill>
                <a:latin typeface="Consolas"/>
              </a:rPr>
              <a:t>Kontakttyp.fsh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(CodeSystem + ValueSet med include), class-ValueSet, och bind </a:t>
            </a:r>
            <a:r>
              <a:rPr sz="1800" b="0" i="0">
                <a:solidFill>
                  <a:srgbClr val="0E6B74"/>
                </a:solidFill>
                <a:latin typeface="Consolas"/>
              </a:rPr>
              <a:t>maritalStatus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via referens  (10 min)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900" b="1" i="0">
                <a:solidFill>
                  <a:srgbClr val="222831"/>
                </a:solidFill>
                <a:latin typeface="Calibri"/>
              </a:rPr>
              <a:t>3.4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(om tid finns) Extensions: </a:t>
            </a:r>
            <a:r>
              <a:rPr sz="1800" b="0" i="0">
                <a:solidFill>
                  <a:srgbClr val="0E6B74"/>
                </a:solidFill>
                <a:latin typeface="Consolas"/>
              </a:rPr>
              <a:t>patient-interpreterRequired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och egen </a:t>
            </a:r>
            <a:r>
              <a:rPr sz="1800" b="0" i="0">
                <a:solidFill>
                  <a:srgbClr val="0E6B74"/>
                </a:solidFill>
                <a:latin typeface="Consolas"/>
              </a:rPr>
              <a:t>SkyddadIdentitet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900" b="1" i="0">
                <a:solidFill>
                  <a:srgbClr val="222831"/>
                </a:solidFill>
                <a:latin typeface="Calibri"/>
              </a:rPr>
              <a:t>3.5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(om tid finns) Slicing av </a:t>
            </a:r>
            <a:r>
              <a:rPr sz="1800" b="0" i="0">
                <a:solidFill>
                  <a:srgbClr val="0E6B74"/>
                </a:solidFill>
                <a:latin typeface="Consolas"/>
              </a:rPr>
              <a:t>identifier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: personnummer och samordningsnummer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900" b="1" i="0">
                <a:solidFill>
                  <a:srgbClr val="222831"/>
                </a:solidFill>
                <a:latin typeface="Calibri"/>
              </a:rPr>
              <a:t>3.6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(extra) Bygg på HL7 Sveriges </a:t>
            </a:r>
            <a:r>
              <a:rPr sz="1800" b="0" i="0">
                <a:solidFill>
                  <a:srgbClr val="0E6B74"/>
                </a:solidFill>
                <a:latin typeface="Consolas"/>
              </a:rPr>
              <a:t>SEBasePatient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, med beroende till </a:t>
            </a:r>
            <a:r>
              <a:rPr sz="1800" b="0" i="0">
                <a:solidFill>
                  <a:srgbClr val="0E6B74"/>
                </a:solidFill>
                <a:latin typeface="Consolas"/>
              </a:rPr>
              <a:t>hl7se.fhir.base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900" b="0" i="0">
                <a:solidFill>
                  <a:srgbClr val="222831"/>
                </a:solidFill>
                <a:latin typeface="Calibri"/>
              </a:rPr>
              <a:t>Efter varje steg: </a:t>
            </a:r>
            <a:r>
              <a:rPr sz="1900" b="1" i="0">
                <a:solidFill>
                  <a:srgbClr val="222831"/>
                </a:solidFill>
                <a:latin typeface="Calibri"/>
              </a:rPr>
              <a:t>Commit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→ steget </a:t>
            </a:r>
            <a:r>
              <a:rPr sz="1900" b="1" i="0">
                <a:solidFill>
                  <a:srgbClr val="222831"/>
                </a:solidFill>
                <a:latin typeface="Calibri"/>
              </a:rPr>
              <a:t>Kör SUSHI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är klart efter ~30 s → titta sedan i din IG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900" b="0" i="0">
                <a:solidFill>
                  <a:srgbClr val="222831"/>
                </a:solidFill>
                <a:latin typeface="Calibri"/>
              </a:rPr>
              <a:t>Hamnat efter? </a:t>
            </a:r>
            <a:r>
              <a:rPr sz="1900" b="1" i="0">
                <a:solidFill>
                  <a:srgbClr val="222831"/>
                </a:solidFill>
                <a:latin typeface="Calibri"/>
              </a:rPr>
              <a:t>Actions → Kom ikapp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→ </a:t>
            </a:r>
            <a:r>
              <a:rPr sz="1800" b="0" i="0">
                <a:solidFill>
                  <a:srgbClr val="0E6B74"/>
                </a:solidFill>
                <a:latin typeface="Consolas"/>
              </a:rPr>
              <a:t>3.2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eller </a:t>
            </a:r>
            <a:r>
              <a:rPr sz="1800" b="0" i="0">
                <a:solidFill>
                  <a:srgbClr val="0E6B74"/>
                </a:solidFill>
                <a:latin typeface="Consolas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B6577"/>
                </a:solidFill>
                <a:latin typeface="Calibri"/>
              </a:rPr>
              <a:t>FHIR i praktiken  ·  Modul 3 – FHIR Shorthand (FSH)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B6577"/>
                </a:solidFill>
                <a:latin typeface="Calibri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Sammanfattning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43584"/>
            <a:ext cx="11094415" cy="0"/>
          </a:xfrm>
          <a:prstGeom prst="line">
            <a:avLst/>
          </a:prstGeom>
          <a:ln w="12700">
            <a:solidFill>
              <a:srgbClr val="D5DA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B6577"/>
                </a:solidFill>
                <a:latin typeface="Calibri"/>
              </a:rPr>
              <a:t>FHIR i praktiken  ·  Modul 3 – FHIR Shorthand (FSH)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B6577"/>
                </a:solidFill>
                <a:latin typeface="Calibri"/>
              </a:rPr>
              <a:t>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900" b="1" i="0">
                <a:solidFill>
                  <a:srgbClr val="222831"/>
                </a:solidFill>
                <a:latin typeface="Calibri"/>
              </a:rPr>
              <a:t>FSH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är ett kompakt textformat för FHIR-artefakter, och </a:t>
            </a:r>
            <a:r>
              <a:rPr sz="1900" b="1" i="0">
                <a:solidFill>
                  <a:srgbClr val="222831"/>
                </a:solidFill>
                <a:latin typeface="Calibri"/>
              </a:rPr>
              <a:t>SUSHI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kompilerar till JSON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900" b="0" i="0">
                <a:solidFill>
                  <a:srgbClr val="222831"/>
                </a:solidFill>
                <a:latin typeface="Calibri"/>
              </a:rPr>
              <a:t>Byggkedjan: FSH → SUSHI → IG Publisher → GitHub Pages, automatiskt vid varje incheckning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900" b="0" i="0">
                <a:solidFill>
                  <a:srgbClr val="222831"/>
                </a:solidFill>
                <a:latin typeface="Calibri"/>
              </a:rPr>
              <a:t>Terminologi: eget ValueSet med </a:t>
            </a:r>
            <a:r>
              <a:rPr sz="1900" b="1" i="0">
                <a:solidFill>
                  <a:srgbClr val="222831"/>
                </a:solidFill>
                <a:latin typeface="Calibri"/>
              </a:rPr>
              <a:t>include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, eller </a:t>
            </a:r>
            <a:r>
              <a:rPr sz="1900" b="1" i="0">
                <a:solidFill>
                  <a:srgbClr val="222831"/>
                </a:solidFill>
                <a:latin typeface="Calibri"/>
              </a:rPr>
              <a:t>referens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till ett befintligt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900" b="0" i="0">
                <a:solidFill>
                  <a:srgbClr val="222831"/>
                </a:solidFill>
                <a:latin typeface="Calibri"/>
              </a:rPr>
              <a:t>Extensions och slicing använder samma </a:t>
            </a:r>
            <a:r>
              <a:rPr sz="1800" b="0" i="0">
                <a:solidFill>
                  <a:srgbClr val="0E6B74"/>
                </a:solidFill>
                <a:latin typeface="Consolas"/>
              </a:rPr>
              <a:t>contains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-syntax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900" b="0" i="0">
                <a:solidFill>
                  <a:srgbClr val="222831"/>
                </a:solidFill>
                <a:latin typeface="Calibri"/>
              </a:rPr>
              <a:t>Slice-namn används i FSH-exemplen men syns inte i JSON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03920" y="1508760"/>
            <a:ext cx="3108960" cy="2377440"/>
          </a:xfrm>
          <a:prstGeom prst="roundRect">
            <a:avLst>
              <a:gd name="adj" fmla="val 12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0" i="0">
                <a:solidFill>
                  <a:srgbClr val="FFFFFF"/>
                </a:solidFill>
                <a:latin typeface="Calibri"/>
              </a:rPr>
              <a:t>Härnäst</a:t>
            </a:r>
          </a:p>
          <a:p>
            <a:pPr algn="ctr"/>
          </a:p>
          <a:p>
            <a:pPr algn="ctr"/>
            <a:r>
              <a:rPr sz="1600" b="0" i="0">
                <a:solidFill>
                  <a:srgbClr val="FFFFFF"/>
                </a:solidFill>
                <a:latin typeface="Calibri"/>
              </a:rPr>
              <a:t>Lunch!</a:t>
            </a:r>
          </a:p>
          <a:p>
            <a:pPr algn="ctr"/>
          </a:p>
          <a:p>
            <a:pPr algn="ctr"/>
            <a:r>
              <a:rPr sz="1600" b="0" i="0">
                <a:solidFill>
                  <a:srgbClr val="FFFFFF"/>
                </a:solidFill>
                <a:latin typeface="Calibri"/>
              </a:rPr>
              <a:t>Sedan modul 4</a:t>
            </a:r>
          </a:p>
          <a:p>
            <a:pPr algn="ctr"/>
            <a:r>
              <a:rPr sz="1600" b="0" i="0">
                <a:solidFill>
                  <a:srgbClr val="FFFFFF"/>
                </a:solidFill>
                <a:latin typeface="Calibri"/>
              </a:rPr>
              <a:t>FHIRPath och invarianter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600" b="1" i="0">
                <a:solidFill>
                  <a:srgbClr val="E8772E"/>
                </a:solidFill>
                <a:latin typeface="Calibri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574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FHIRPath och invarianter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154680"/>
            <a:ext cx="67665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D9EEEF"/>
                </a:solidFill>
                <a:latin typeface="Calibri"/>
              </a:rPr>
              <a:t>Efter modulen kan du …</a:t>
            </a:r>
          </a:p>
          <a:p>
            <a:pPr>
              <a:spcBef>
                <a:spcPts val="600"/>
              </a:spcBef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›  skriva FHIRPath-uttryck för att navigera och filtrera</a:t>
            </a:r>
          </a:p>
          <a:p>
            <a:pPr>
              <a:spcBef>
                <a:spcPts val="600"/>
              </a:spcBef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›  läsa invarianter i FHIR-specifikationen</a:t>
            </a:r>
          </a:p>
          <a:p>
            <a:pPr>
              <a:spcBef>
                <a:spcPts val="600"/>
              </a:spcBef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›  lägga till en egen invariant i en profil</a:t>
            </a:r>
          </a:p>
          <a:p>
            <a:pPr>
              <a:spcBef>
                <a:spcPts val="600"/>
              </a:spcBef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›  se invarianten slå till vid validering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46720" y="3154680"/>
            <a:ext cx="3566160" cy="2651760"/>
          </a:xfrm>
          <a:prstGeom prst="roundRect">
            <a:avLst>
              <a:gd name="adj" fmla="val 6000"/>
            </a:avLst>
          </a:prstGeom>
          <a:solidFill>
            <a:srgbClr val="263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28600" rIns="228600" tIns="182880" wrap="square"/>
          <a:lstStyle/>
          <a:p>
            <a:pPr algn="l"/>
            <a:r>
              <a:rPr sz="1600" b="1" i="0">
                <a:solidFill>
                  <a:srgbClr val="E8772E"/>
                </a:solidFill>
                <a:latin typeface="Calibri"/>
              </a:rPr>
              <a:t>50 minuter</a:t>
            </a:r>
          </a:p>
          <a:p>
            <a:pPr>
              <a:spcBef>
                <a:spcPts val="800"/>
              </a:spcBef>
            </a:pPr>
            <a:r>
              <a:rPr sz="1500" b="1" i="0">
                <a:solidFill>
                  <a:srgbClr val="FFFFFF"/>
                </a:solidFill>
                <a:latin typeface="Calibri"/>
              </a:rPr>
              <a:t>20 min  </a:t>
            </a:r>
            <a:r>
              <a:rPr sz="1500" b="0" i="0">
                <a:solidFill>
                  <a:srgbClr val="D5DAE1"/>
                </a:solidFill>
                <a:latin typeface="Calibri"/>
              </a:rPr>
              <a:t>Genomgång</a:t>
            </a:r>
          </a:p>
          <a:p>
            <a:pPr>
              <a:spcBef>
                <a:spcPts val="800"/>
              </a:spcBef>
            </a:pPr>
            <a:r>
              <a:rPr sz="1500" b="1" i="0">
                <a:solidFill>
                  <a:srgbClr val="FFFFFF"/>
                </a:solidFill>
                <a:latin typeface="Calibri"/>
              </a:rPr>
              <a:t>25 min  </a:t>
            </a:r>
            <a:r>
              <a:rPr sz="1500" b="0" i="0">
                <a:solidFill>
                  <a:srgbClr val="D5DAE1"/>
                </a:solidFill>
                <a:latin typeface="Calibri"/>
              </a:rPr>
              <a:t>Övningar 4.1–4.3</a:t>
            </a:r>
          </a:p>
          <a:p>
            <a:pPr>
              <a:spcBef>
                <a:spcPts val="800"/>
              </a:spcBef>
            </a:pPr>
            <a:r>
              <a:rPr sz="1500" b="1" i="0">
                <a:solidFill>
                  <a:srgbClr val="FFFFFF"/>
                </a:solidFill>
                <a:latin typeface="Calibri"/>
              </a:rPr>
              <a:t> 5 min  </a:t>
            </a:r>
            <a:r>
              <a:rPr sz="1500" b="0" i="0">
                <a:solidFill>
                  <a:srgbClr val="D5DAE1"/>
                </a:solidFill>
                <a:latin typeface="Calibri"/>
              </a:rPr>
              <a:t>Summering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5DAE1"/>
                </a:solidFill>
                <a:latin typeface="Calibri"/>
              </a:rPr>
              <a:t>FHIR i praktiken  ·  Modul 4 – FHIRPath och invarianter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41908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D5DAE1"/>
                </a:solidFill>
                <a:latin typeface="Calibri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Vad är FHIRPath?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43584"/>
            <a:ext cx="11094415" cy="0"/>
          </a:xfrm>
          <a:prstGeom prst="line">
            <a:avLst/>
          </a:prstGeom>
          <a:ln w="12700">
            <a:solidFill>
              <a:srgbClr val="D5DA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B6577"/>
                </a:solidFill>
                <a:latin typeface="Calibri"/>
              </a:rPr>
              <a:t>FHIR i praktiken  ·  Modul 4 – FHIRPath och invarianter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B6577"/>
                </a:solidFill>
                <a:latin typeface="Calibri"/>
              </a:rPr>
              <a:t>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6675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900" b="0" i="0">
                <a:solidFill>
                  <a:srgbClr val="222831"/>
                </a:solidFill>
                <a:latin typeface="Calibri"/>
              </a:rPr>
              <a:t>Ett </a:t>
            </a:r>
            <a:r>
              <a:rPr sz="1900" b="1" i="0">
                <a:solidFill>
                  <a:srgbClr val="222831"/>
                </a:solidFill>
                <a:latin typeface="Calibri"/>
              </a:rPr>
              <a:t>uttrycksspråk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för att navigera i och välja ut data ur FHIR-resurser (jfr XPath)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900" b="0" i="0">
                <a:solidFill>
                  <a:srgbClr val="222831"/>
                </a:solidFill>
                <a:latin typeface="Calibri"/>
              </a:rPr>
              <a:t>Används i FHIR för:</a:t>
            </a:r>
          </a:p>
          <a:p>
            <a:pPr marL="612647" indent="-256032">
              <a:spcBef>
                <a:spcPts val="300"/>
              </a:spcBef>
              <a:buClr>
                <a:srgbClr val="5B6577"/>
              </a:buClr>
              <a:buChar char="–"/>
            </a:pPr>
            <a:r>
              <a:rPr sz="1700" b="1" i="0">
                <a:solidFill>
                  <a:srgbClr val="5B6577"/>
                </a:solidFill>
                <a:latin typeface="Calibri"/>
              </a:rPr>
              <a:t>invarianter</a:t>
            </a:r>
            <a:r>
              <a:rPr sz="1700" b="0" i="0">
                <a:solidFill>
                  <a:srgbClr val="5B6577"/>
                </a:solidFill>
                <a:latin typeface="Calibri"/>
              </a:rPr>
              <a:t> (constraints) i resurser och profiler</a:t>
            </a:r>
          </a:p>
          <a:p>
            <a:pPr marL="612647" indent="-256032">
              <a:spcBef>
                <a:spcPts val="300"/>
              </a:spcBef>
              <a:buClr>
                <a:srgbClr val="5B6577"/>
              </a:buClr>
              <a:buChar char="–"/>
            </a:pPr>
            <a:r>
              <a:rPr sz="1700" b="1" i="0">
                <a:solidFill>
                  <a:srgbClr val="5B6577"/>
                </a:solidFill>
                <a:latin typeface="Calibri"/>
              </a:rPr>
              <a:t>sökparametrar</a:t>
            </a:r>
            <a:r>
              <a:rPr sz="1700" b="0" i="0">
                <a:solidFill>
                  <a:srgbClr val="5B6577"/>
                </a:solidFill>
                <a:latin typeface="Calibri"/>
              </a:rPr>
              <a:t>, t.ex. </a:t>
            </a:r>
            <a:r>
              <a:rPr sz="1600" b="0" i="0">
                <a:solidFill>
                  <a:srgbClr val="0E6B74"/>
                </a:solidFill>
                <a:latin typeface="Consolas"/>
              </a:rPr>
              <a:t>Patient.name.family</a:t>
            </a:r>
          </a:p>
          <a:p>
            <a:pPr marL="612647" indent="-256032">
              <a:spcBef>
                <a:spcPts val="300"/>
              </a:spcBef>
              <a:buClr>
                <a:srgbClr val="5B6577"/>
              </a:buClr>
              <a:buChar char="–"/>
            </a:pPr>
            <a:r>
              <a:rPr sz="1700" b="1" i="0">
                <a:solidFill>
                  <a:srgbClr val="5B6577"/>
                </a:solidFill>
                <a:latin typeface="Calibri"/>
              </a:rPr>
              <a:t>slicing</a:t>
            </a:r>
            <a:r>
              <a:rPr sz="1700" b="0" i="0">
                <a:solidFill>
                  <a:srgbClr val="5B6577"/>
                </a:solidFill>
                <a:latin typeface="Calibri"/>
              </a:rPr>
              <a:t>-diskriminatorer, mappningar, SQL on FHIR, CQL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900" b="0" i="0">
                <a:solidFill>
                  <a:srgbClr val="222831"/>
                </a:solidFill>
                <a:latin typeface="Calibri"/>
              </a:rPr>
              <a:t>Allt är </a:t>
            </a:r>
            <a:r>
              <a:rPr sz="1900" b="1" i="0">
                <a:solidFill>
                  <a:srgbClr val="222831"/>
                </a:solidFill>
                <a:latin typeface="Calibri"/>
              </a:rPr>
              <a:t>samlingar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: ett uttryck kan ge noll, ett eller flera värden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900" b="0" i="0">
                <a:solidFill>
                  <a:srgbClr val="222831"/>
                </a:solidFill>
                <a:latin typeface="Calibri"/>
              </a:rPr>
              <a:t>Hittar uttrycket inget blir resultatet </a:t>
            </a:r>
            <a:r>
              <a:rPr sz="1900" b="1" i="0">
                <a:solidFill>
                  <a:srgbClr val="222831"/>
                </a:solidFill>
                <a:latin typeface="Calibri"/>
              </a:rPr>
              <a:t>tomt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, inte fel</a:t>
            </a:r>
          </a:p>
        </p:txBody>
      </p:sp>
      <p:sp>
        <p:nvSpPr>
          <p:cNvPr id="8" name="Rectangle 7"/>
          <p:cNvSpPr/>
          <p:nvPr/>
        </p:nvSpPr>
        <p:spPr>
          <a:xfrm>
            <a:off x="7406640" y="1417320"/>
            <a:ext cx="4206240" cy="4206240"/>
          </a:xfrm>
          <a:prstGeom prst="rect">
            <a:avLst/>
          </a:prstGeom>
          <a:solidFill>
            <a:srgbClr val="F4F6F8"/>
          </a:solidFill>
          <a:ln w="9525">
            <a:solidFill>
              <a:srgbClr val="D5D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01168" tIns="91440"/>
          <a:lstStyle/>
          <a:p>
            <a:pPr algn="l">
              <a:lnSpc>
                <a:spcPct val="100000"/>
              </a:lnSpc>
            </a:pPr>
            <a:r>
              <a:rPr sz="1450" b="0" i="0">
                <a:solidFill>
                  <a:srgbClr val="222831"/>
                </a:solidFill>
                <a:latin typeface="Consolas"/>
              </a:rPr>
              <a:t>Patient.name.given</a:t>
            </a:r>
          </a:p>
          <a:p>
            <a:pPr algn="l">
              <a:lnSpc>
                <a:spcPct val="100000"/>
              </a:lnSpc>
            </a:pPr>
            <a:r>
              <a:rPr sz="1450" b="0" i="0">
                <a:solidFill>
                  <a:srgbClr val="222831"/>
                </a:solidFill>
                <a:latin typeface="Consolas"/>
              </a:rPr>
              <a:t>→ [</a:t>
            </a:r>
            <a:r>
              <a:rPr sz="1450" b="0" i="0">
                <a:solidFill>
                  <a:srgbClr val="A64B00"/>
                </a:solidFill>
                <a:latin typeface="Consolas"/>
              </a:rPr>
              <a:t>"Tolvan"</a:t>
            </a:r>
            <a:r>
              <a:rPr sz="1450" b="0" i="0">
                <a:solidFill>
                  <a:srgbClr val="222831"/>
                </a:solidFill>
                <a:latin typeface="Consolas"/>
              </a:rPr>
              <a:t>, </a:t>
            </a:r>
            <a:r>
              <a:rPr sz="1450" b="0" i="0">
                <a:solidFill>
                  <a:srgbClr val="A64B00"/>
                </a:solidFill>
                <a:latin typeface="Consolas"/>
              </a:rPr>
              <a:t>"Bertil"</a:t>
            </a:r>
            <a:r>
              <a:rPr sz="1450" b="0" i="0">
                <a:solidFill>
                  <a:srgbClr val="222831"/>
                </a:solidFill>
                <a:latin typeface="Consolas"/>
              </a:rPr>
              <a:t>, </a:t>
            </a:r>
            <a:r>
              <a:rPr sz="1450" b="0" i="0">
                <a:solidFill>
                  <a:srgbClr val="A64B00"/>
                </a:solidFill>
                <a:latin typeface="Consolas"/>
              </a:rPr>
              <a:t>"Tolle"</a:t>
            </a:r>
            <a:r>
              <a:rPr sz="1450" b="0" i="0">
                <a:solidFill>
                  <a:srgbClr val="222831"/>
                </a:solidFill>
                <a:latin typeface="Consolas"/>
              </a:rPr>
              <a:t>]</a:t>
            </a:r>
          </a:p>
          <a:p>
            <a:pPr algn="l">
              <a:lnSpc>
                <a:spcPct val="100000"/>
              </a:lnSpc>
            </a:pPr>
            <a:r>
              <a:rPr sz="1450" b="0" i="0">
                <a:solidFill>
                  <a:srgbClr val="222831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</a:pPr>
            <a:r>
              <a:rPr sz="1450" b="0" i="0">
                <a:solidFill>
                  <a:srgbClr val="222831"/>
                </a:solidFill>
                <a:latin typeface="Consolas"/>
              </a:rPr>
              <a:t>name.where(use = 'official').family</a:t>
            </a:r>
          </a:p>
          <a:p>
            <a:pPr algn="l">
              <a:lnSpc>
                <a:spcPct val="100000"/>
              </a:lnSpc>
            </a:pPr>
            <a:r>
              <a:rPr sz="1450" b="0" i="0">
                <a:solidFill>
                  <a:srgbClr val="222831"/>
                </a:solidFill>
                <a:latin typeface="Consolas"/>
              </a:rPr>
              <a:t>→ [</a:t>
            </a:r>
            <a:r>
              <a:rPr sz="1450" b="0" i="0">
                <a:solidFill>
                  <a:srgbClr val="A64B00"/>
                </a:solidFill>
                <a:latin typeface="Consolas"/>
              </a:rPr>
              <a:t>"Tolvansson"</a:t>
            </a:r>
            <a:r>
              <a:rPr sz="1450" b="0" i="0">
                <a:solidFill>
                  <a:srgbClr val="222831"/>
                </a:solidFill>
                <a:latin typeface="Consolas"/>
              </a:rPr>
              <a:t>]</a:t>
            </a:r>
          </a:p>
          <a:p>
            <a:pPr algn="l">
              <a:lnSpc>
                <a:spcPct val="100000"/>
              </a:lnSpc>
            </a:pPr>
            <a:r>
              <a:rPr sz="1450" b="0" i="0">
                <a:solidFill>
                  <a:srgbClr val="222831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</a:pPr>
            <a:r>
              <a:rPr sz="1450" b="0" i="0">
                <a:solidFill>
                  <a:srgbClr val="222831"/>
                </a:solidFill>
                <a:latin typeface="Consolas"/>
              </a:rPr>
              <a:t>telecom.where(system = 'email')</a:t>
            </a:r>
          </a:p>
          <a:p>
            <a:pPr algn="l">
              <a:lnSpc>
                <a:spcPct val="100000"/>
              </a:lnSpc>
            </a:pPr>
            <a:r>
              <a:rPr sz="1450" b="0" i="0">
                <a:solidFill>
                  <a:srgbClr val="222831"/>
                </a:solidFill>
                <a:latin typeface="Consolas"/>
              </a:rPr>
              <a:t>→ [ ]   (tom samling)</a:t>
            </a:r>
          </a:p>
          <a:p>
            <a:pPr algn="l">
              <a:lnSpc>
                <a:spcPct val="100000"/>
              </a:lnSpc>
            </a:pPr>
            <a:r>
              <a:rPr sz="1450" b="0" i="0">
                <a:solidFill>
                  <a:srgbClr val="222831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</a:pPr>
            <a:r>
              <a:rPr sz="1450" b="0" i="0">
                <a:solidFill>
                  <a:srgbClr val="222831"/>
                </a:solidFill>
                <a:latin typeface="Consolas"/>
              </a:rPr>
              <a:t>birthDate &lt; @1950-01-01</a:t>
            </a:r>
          </a:p>
          <a:p>
            <a:pPr algn="l">
              <a:lnSpc>
                <a:spcPct val="100000"/>
              </a:lnSpc>
            </a:pPr>
            <a:r>
              <a:rPr sz="1450" b="0" i="0">
                <a:solidFill>
                  <a:srgbClr val="222831"/>
                </a:solidFill>
                <a:latin typeface="Consolas"/>
              </a:rPr>
              <a:t>→ [true]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6640" y="1417320"/>
            <a:ext cx="54864" cy="420624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Grundsyntax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43584"/>
            <a:ext cx="11094415" cy="0"/>
          </a:xfrm>
          <a:prstGeom prst="line">
            <a:avLst/>
          </a:prstGeom>
          <a:ln w="12700">
            <a:solidFill>
              <a:srgbClr val="D5DA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B6577"/>
                </a:solidFill>
                <a:latin typeface="Calibri"/>
              </a:rPr>
              <a:t>FHIR i praktiken  ·  Modul 4 – FHIRPath och invarianter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B6577"/>
                </a:solidFill>
                <a:latin typeface="Calibri"/>
              </a:rPr>
              <a:t>47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325880"/>
          <a:ext cx="11094414" cy="47274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32114"/>
                <a:gridCol w="5362300"/>
              </a:tblGrid>
              <a:tr h="429768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Uttryck</a:t>
                      </a:r>
                    </a:p>
                  </a:txBody>
                  <a:tcPr marL="73152" marR="73152" marT="36576" marB="36576" anchor="ctr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Betydelse</a:t>
                      </a:r>
                    </a:p>
                  </a:txBody>
                  <a:tcPr marL="73152" marR="73152" marT="36576" marB="36576" anchor="ctr">
                    <a:solidFill>
                      <a:srgbClr val="1B2A4A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name.given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Navigera: alla förnamn i alla namn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name.where(use = 'official')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Filtrera en samling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identifier.exists()</a:t>
                      </a:r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   </a:t>
                      </a:r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telecom.empty()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Finns det något? / Är det tomt?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identifier.count() = 1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Antal element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telecom.all(system.exists())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Gäller villkoret för alla element?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status = 'finished' implies period.end.exists()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Om A så B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value.matches('^[0-9]{12}$')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Reguljärt uttryck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birthDate &lt;= today()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Datumjämförelse (</a:t>
                      </a:r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@1912-12-12</a:t>
                      </a:r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 är ett datumvärde)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extension('http://…/patient-interpreterRequired').value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Värdet i en viss extension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and</a:t>
                      </a:r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  </a:t>
                      </a:r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or</a:t>
                      </a:r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  </a:t>
                      </a:r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not()</a:t>
                      </a:r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  </a:t>
                      </a:r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|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Logik och union av samlingar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Invarianter i specifikationen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43584"/>
            <a:ext cx="11094415" cy="0"/>
          </a:xfrm>
          <a:prstGeom prst="line">
            <a:avLst/>
          </a:prstGeom>
          <a:ln w="12700">
            <a:solidFill>
              <a:srgbClr val="D5DA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B6577"/>
                </a:solidFill>
                <a:latin typeface="Calibri"/>
              </a:rPr>
              <a:t>FHIR i praktiken  ·  Modul 4 – FHIRPath och invarianter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B6577"/>
                </a:solidFill>
                <a:latin typeface="Calibri"/>
              </a:rPr>
              <a:t>48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325880"/>
          <a:ext cx="11094414" cy="3886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6988"/>
                <a:gridCol w="1016988"/>
                <a:gridCol w="3698138"/>
                <a:gridCol w="5362300"/>
              </a:tblGrid>
              <a:tr h="777240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Nyckel</a:t>
                      </a:r>
                    </a:p>
                  </a:txBody>
                  <a:tcPr marL="73152" marR="73152" marT="36576" marB="36576" anchor="ctr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Nivå</a:t>
                      </a:r>
                    </a:p>
                  </a:txBody>
                  <a:tcPr marL="73152" marR="73152" marT="36576" marB="36576" anchor="ctr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Beskrivning</a:t>
                      </a:r>
                    </a:p>
                  </a:txBody>
                  <a:tcPr marL="73152" marR="73152" marT="36576" marB="36576" anchor="ctr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Uttryck</a:t>
                      </a:r>
                    </a:p>
                  </a:txBody>
                  <a:tcPr marL="73152" marR="73152" marT="36576" marB="36576" anchor="ctr">
                    <a:solidFill>
                      <a:srgbClr val="1B2A4A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0E6B74"/>
                          </a:solidFill>
                          <a:latin typeface="Consolas"/>
                        </a:rPr>
                        <a:t>pat-1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831"/>
                          </a:solidFill>
                          <a:latin typeface="Calibri"/>
                        </a:rPr>
                        <a:t>error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831"/>
                          </a:solidFill>
                          <a:latin typeface="Calibri"/>
                        </a:rPr>
                        <a:t>En kontaktperson ska ha namn, telecom, adress eller organisation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0E6B74"/>
                          </a:solidFill>
                          <a:latin typeface="Consolas"/>
                        </a:rPr>
                        <a:t>name.exists() or telecom.exists() or address.exists() or organization.exists()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0E6B74"/>
                          </a:solidFill>
                          <a:latin typeface="Consolas"/>
                        </a:rPr>
                        <a:t>ele-1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831"/>
                          </a:solidFill>
                          <a:latin typeface="Calibri"/>
                        </a:rPr>
                        <a:t>error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831"/>
                          </a:solidFill>
                          <a:latin typeface="Calibri"/>
                        </a:rPr>
                        <a:t>Alla element ska ha ett värde eller barn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0E6B74"/>
                          </a:solidFill>
                          <a:latin typeface="Consolas"/>
                        </a:rPr>
                        <a:t>hasValue() or (children().count() &gt; id.count())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0E6B74"/>
                          </a:solidFill>
                          <a:latin typeface="Consolas"/>
                        </a:rPr>
                        <a:t>ext-1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831"/>
                          </a:solidFill>
                          <a:latin typeface="Calibri"/>
                        </a:rPr>
                        <a:t>error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831"/>
                          </a:solidFill>
                          <a:latin typeface="Calibri"/>
                        </a:rPr>
                        <a:t>En extension har antingen värde eller nästlade extensions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0E6B74"/>
                          </a:solidFill>
                          <a:latin typeface="Consolas"/>
                        </a:rPr>
                        <a:t>extension.exists() != value.exists()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0E6B74"/>
                          </a:solidFill>
                          <a:latin typeface="Consolas"/>
                        </a:rPr>
                        <a:t>dom-6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831"/>
                          </a:solidFill>
                          <a:latin typeface="Calibri"/>
                        </a:rPr>
                        <a:t>warning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831"/>
                          </a:solidFill>
                          <a:latin typeface="Calibri"/>
                        </a:rPr>
                        <a:t>En resurs bör ha en narrativ (best practice)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831"/>
                          </a:solidFill>
                          <a:latin typeface="Calibri"/>
                        </a:rPr>
                        <a:t>text.</a:t>
                      </a:r>
                      <a:r>
                        <a:rPr sz="1300" b="0" i="0">
                          <a:solidFill>
                            <a:srgbClr val="0E6B74"/>
                          </a:solidFill>
                          <a:latin typeface="Consolas"/>
                        </a:rPr>
                        <a:t>div</a:t>
                      </a:r>
                      <a:r>
                        <a:rPr sz="1400" b="0" i="0">
                          <a:solidFill>
                            <a:srgbClr val="222831"/>
                          </a:solidFill>
                          <a:latin typeface="Calibri"/>
                        </a:rPr>
                        <a:t>.exists()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48640" y="5349240"/>
            <a:ext cx="11094415" cy="777240"/>
          </a:xfrm>
          <a:prstGeom prst="rect">
            <a:avLst/>
          </a:prstGeom>
          <a:solidFill>
            <a:srgbClr val="D9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/>
          <a:lstStyle/>
          <a:p>
            <a:pPr algn="l"/>
            <a:r>
              <a:rPr sz="1600" b="0" i="0">
                <a:solidFill>
                  <a:srgbClr val="222831"/>
                </a:solidFill>
                <a:latin typeface="Calibri"/>
              </a:rPr>
              <a:t>Ett invariant-uttryck ska ge </a:t>
            </a:r>
            <a:r>
              <a:rPr sz="1600" b="1" i="0">
                <a:solidFill>
                  <a:srgbClr val="222831"/>
                </a:solidFill>
                <a:latin typeface="Calibri"/>
              </a:rPr>
              <a:t>true</a:t>
            </a:r>
            <a:r>
              <a:rPr sz="1600" b="0" i="0">
                <a:solidFill>
                  <a:srgbClr val="222831"/>
                </a:solidFill>
                <a:latin typeface="Calibri"/>
              </a:rPr>
              <a:t> för att instansen ska vara giltig. Varje invariant har en </a:t>
            </a:r>
            <a:r>
              <a:rPr sz="1600" b="1" i="0">
                <a:solidFill>
                  <a:srgbClr val="222831"/>
                </a:solidFill>
                <a:latin typeface="Calibri"/>
              </a:rPr>
              <a:t>nyckel</a:t>
            </a:r>
            <a:r>
              <a:rPr sz="1600" b="0" i="0">
                <a:solidFill>
                  <a:srgbClr val="222831"/>
                </a:solidFill>
                <a:latin typeface="Calibri"/>
              </a:rPr>
              <a:t>, en </a:t>
            </a:r>
            <a:r>
              <a:rPr sz="1600" b="1" i="0">
                <a:solidFill>
                  <a:srgbClr val="222831"/>
                </a:solidFill>
                <a:latin typeface="Calibri"/>
              </a:rPr>
              <a:t>nivå</a:t>
            </a:r>
            <a:r>
              <a:rPr sz="1600" b="0" i="0">
                <a:solidFill>
                  <a:srgbClr val="222831"/>
                </a:solidFill>
                <a:latin typeface="Calibri"/>
              </a:rPr>
              <a:t> (error/warning), en </a:t>
            </a:r>
            <a:r>
              <a:rPr sz="1600" b="1" i="0">
                <a:solidFill>
                  <a:srgbClr val="222831"/>
                </a:solidFill>
                <a:latin typeface="Calibri"/>
              </a:rPr>
              <a:t>beskrivning</a:t>
            </a:r>
            <a:r>
              <a:rPr sz="1600" b="0" i="0">
                <a:solidFill>
                  <a:srgbClr val="222831"/>
                </a:solidFill>
                <a:latin typeface="Calibri"/>
              </a:rPr>
              <a:t> och ett </a:t>
            </a:r>
            <a:r>
              <a:rPr sz="1600" b="1" i="0">
                <a:solidFill>
                  <a:srgbClr val="222831"/>
                </a:solidFill>
                <a:latin typeface="Calibri"/>
              </a:rPr>
              <a:t>uttryck</a:t>
            </a:r>
            <a:r>
              <a:rPr sz="1600" b="0" i="0">
                <a:solidFill>
                  <a:srgbClr val="222831"/>
                </a:solidFill>
                <a:latin typeface="Calibri"/>
              </a:rPr>
              <a:t>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5349240"/>
            <a:ext cx="64008" cy="77724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Egna invarianter i FSH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43584"/>
            <a:ext cx="11094415" cy="0"/>
          </a:xfrm>
          <a:prstGeom prst="line">
            <a:avLst/>
          </a:prstGeom>
          <a:ln w="12700">
            <a:solidFill>
              <a:srgbClr val="D5DA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B6577"/>
                </a:solidFill>
                <a:latin typeface="Calibri"/>
              </a:rPr>
              <a:t>FHIR i praktiken  ·  Modul 4 – FHIRPath och invarianter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B6577"/>
                </a:solidFill>
                <a:latin typeface="Calibri"/>
              </a:rPr>
              <a:t>49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7589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5B6577"/>
                </a:solidFill>
                <a:latin typeface="Calibri"/>
              </a:rPr>
              <a:t>input/fsh/invariants.fsh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664208"/>
            <a:ext cx="7589520" cy="2999232"/>
          </a:xfrm>
          <a:prstGeom prst="rect">
            <a:avLst/>
          </a:prstGeom>
          <a:solidFill>
            <a:srgbClr val="F4F6F8"/>
          </a:solidFill>
          <a:ln w="9525">
            <a:solidFill>
              <a:srgbClr val="D5D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01168" tIns="91440"/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E6B74"/>
                </a:solidFill>
                <a:latin typeface="Consolas"/>
              </a:rPr>
              <a:t>Invariant:</a:t>
            </a:r>
            <a:r>
              <a:rPr sz="1300" b="0" i="0">
                <a:solidFill>
                  <a:srgbClr val="222831"/>
                </a:solidFill>
                <a:latin typeface="Consolas"/>
              </a:rPr>
              <a:t> edu-pat-1</a:t>
            </a:r>
          </a:p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E6B74"/>
                </a:solidFill>
                <a:latin typeface="Consolas"/>
              </a:rPr>
              <a:t>Description:</a:t>
            </a:r>
            <a:r>
              <a:rPr sz="1300" b="0" i="0">
                <a:solidFill>
                  <a:srgbClr val="222831"/>
                </a:solidFill>
                <a:latin typeface="Consolas"/>
              </a:rPr>
              <a:t> </a:t>
            </a:r>
            <a:r>
              <a:rPr sz="1300" b="0" i="0">
                <a:solidFill>
                  <a:srgbClr val="A64B00"/>
                </a:solidFill>
                <a:latin typeface="Consolas"/>
              </a:rPr>
              <a:t>"Ett personnummer ska bestå av exakt 12 siffror."</a:t>
            </a:r>
          </a:p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E6B74"/>
                </a:solidFill>
                <a:latin typeface="Consolas"/>
              </a:rPr>
              <a:t>Expression:</a:t>
            </a:r>
            <a:r>
              <a:rPr sz="1300" b="0" i="0">
                <a:solidFill>
                  <a:srgbClr val="222831"/>
                </a:solidFill>
                <a:latin typeface="Consolas"/>
              </a:rPr>
              <a:t> "identifier</a:t>
            </a:r>
          </a:p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222831"/>
                </a:solidFill>
                <a:latin typeface="Consolas"/>
              </a:rPr>
              <a:t>  .where(system = 'http://electronichealth.se/identifier/personnummer')</a:t>
            </a:r>
          </a:p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222831"/>
                </a:solidFill>
                <a:latin typeface="Consolas"/>
              </a:rPr>
              <a:t>  .all(value.matches('^[0-9]{12}$'))"</a:t>
            </a:r>
          </a:p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E6B74"/>
                </a:solidFill>
                <a:latin typeface="Consolas"/>
              </a:rPr>
              <a:t>Severity:</a:t>
            </a:r>
            <a:r>
              <a:rPr sz="1300" b="0" i="0">
                <a:solidFill>
                  <a:srgbClr val="222831"/>
                </a:solidFill>
                <a:latin typeface="Consolas"/>
              </a:rPr>
              <a:t> #error</a:t>
            </a:r>
          </a:p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222831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E6B74"/>
                </a:solidFill>
                <a:latin typeface="Consolas"/>
              </a:rPr>
              <a:t>Invariant:</a:t>
            </a:r>
            <a:r>
              <a:rPr sz="1300" b="0" i="0">
                <a:solidFill>
                  <a:srgbClr val="222831"/>
                </a:solidFill>
                <a:latin typeface="Consolas"/>
              </a:rPr>
              <a:t> edu-enc-1</a:t>
            </a:r>
          </a:p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E6B74"/>
                </a:solidFill>
                <a:latin typeface="Consolas"/>
              </a:rPr>
              <a:t>Description:</a:t>
            </a:r>
            <a:r>
              <a:rPr sz="1300" b="0" i="0">
                <a:solidFill>
                  <a:srgbClr val="222831"/>
                </a:solidFill>
                <a:latin typeface="Consolas"/>
              </a:rPr>
              <a:t> </a:t>
            </a:r>
            <a:r>
              <a:rPr sz="1300" b="0" i="0">
                <a:solidFill>
                  <a:srgbClr val="A64B00"/>
                </a:solidFill>
                <a:latin typeface="Consolas"/>
              </a:rPr>
              <a:t>"En avslutad vårdkontakt ska ha en sluttid."</a:t>
            </a:r>
          </a:p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E6B74"/>
                </a:solidFill>
                <a:latin typeface="Consolas"/>
              </a:rPr>
              <a:t>Expression:</a:t>
            </a:r>
            <a:r>
              <a:rPr sz="1300" b="0" i="0">
                <a:solidFill>
                  <a:srgbClr val="222831"/>
                </a:solidFill>
                <a:latin typeface="Consolas"/>
              </a:rPr>
              <a:t> </a:t>
            </a:r>
            <a:r>
              <a:rPr sz="1300" b="0" i="0">
                <a:solidFill>
                  <a:srgbClr val="A64B00"/>
                </a:solidFill>
                <a:latin typeface="Consolas"/>
              </a:rPr>
              <a:t>"status = 'finished' implies period.end.exists()"</a:t>
            </a:r>
          </a:p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E6B74"/>
                </a:solidFill>
                <a:latin typeface="Consolas"/>
              </a:rPr>
              <a:t>Severity:</a:t>
            </a:r>
            <a:r>
              <a:rPr sz="1300" b="0" i="0">
                <a:solidFill>
                  <a:srgbClr val="222831"/>
                </a:solidFill>
                <a:latin typeface="Consolas"/>
              </a:rPr>
              <a:t> #error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664208"/>
            <a:ext cx="54864" cy="2999232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66760" y="1371600"/>
            <a:ext cx="3246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5B6577"/>
                </a:solidFill>
                <a:latin typeface="Calibri"/>
              </a:rPr>
              <a:t>Koppla till profilen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366760" y="1664208"/>
            <a:ext cx="3246120" cy="1810512"/>
          </a:xfrm>
          <a:prstGeom prst="rect">
            <a:avLst/>
          </a:prstGeom>
          <a:solidFill>
            <a:srgbClr val="F4F6F8"/>
          </a:solidFill>
          <a:ln w="9525">
            <a:solidFill>
              <a:srgbClr val="D5D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01168" tIns="91440"/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22831"/>
                </a:solidFill>
                <a:latin typeface="Consolas"/>
              </a:rPr>
              <a:t> </a:t>
            </a:r>
            <a:r>
              <a:rPr sz="1400" b="0" i="0">
                <a:solidFill>
                  <a:srgbClr val="6A737D"/>
                </a:solidFill>
                <a:latin typeface="Consolas"/>
              </a:rPr>
              <a:t>// i EducationPatient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22831"/>
                </a:solidFill>
                <a:latin typeface="Consolas"/>
              </a:rPr>
              <a:t>* obeys edu-pat-1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22831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22831"/>
                </a:solidFill>
                <a:latin typeface="Consolas"/>
              </a:rPr>
              <a:t> </a:t>
            </a:r>
            <a:r>
              <a:rPr sz="1400" b="0" i="0">
                <a:solidFill>
                  <a:srgbClr val="6A737D"/>
                </a:solidFill>
                <a:latin typeface="Consolas"/>
              </a:rPr>
              <a:t>// i EducationEncounter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22831"/>
                </a:solidFill>
                <a:latin typeface="Consolas"/>
              </a:rPr>
              <a:t>* obeys edu-enc-1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366760" y="1664208"/>
            <a:ext cx="54864" cy="1810512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4937760"/>
            <a:ext cx="11094415" cy="1005840"/>
          </a:xfrm>
          <a:prstGeom prst="rect">
            <a:avLst/>
          </a:prstGeom>
          <a:solidFill>
            <a:srgbClr val="FC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/>
          <a:lstStyle/>
          <a:p>
            <a:pPr algn="l"/>
            <a:r>
              <a:rPr sz="1600" b="1" i="0">
                <a:solidFill>
                  <a:srgbClr val="222831"/>
                </a:solidFill>
                <a:latin typeface="Calibri"/>
              </a:rPr>
              <a:t>Testa!</a:t>
            </a:r>
            <a:r>
              <a:rPr sz="1600" b="0" i="0">
                <a:solidFill>
                  <a:srgbClr val="222831"/>
                </a:solidFill>
                <a:latin typeface="Calibri"/>
              </a:rPr>
              <a:t> Ändra personnumret i exemplet till </a:t>
            </a:r>
            <a:r>
              <a:rPr sz="1500" b="0" i="0">
                <a:solidFill>
                  <a:srgbClr val="0E6B74"/>
                </a:solidFill>
                <a:latin typeface="Consolas"/>
              </a:rPr>
              <a:t>19121212-1212</a:t>
            </a:r>
            <a:r>
              <a:rPr sz="1600" b="0" i="0">
                <a:solidFill>
                  <a:srgbClr val="222831"/>
                </a:solidFill>
                <a:latin typeface="Calibri"/>
              </a:rPr>
              <a:t> och bygg. Felet syns i </a:t>
            </a:r>
            <a:r>
              <a:rPr sz="1600" b="1" i="0">
                <a:solidFill>
                  <a:srgbClr val="222831"/>
                </a:solidFill>
                <a:latin typeface="Calibri"/>
              </a:rPr>
              <a:t>qa.html</a:t>
            </a:r>
            <a:r>
              <a:rPr sz="1600" b="0" i="0">
                <a:solidFill>
                  <a:srgbClr val="222831"/>
                </a:solidFill>
                <a:latin typeface="Calibri"/>
              </a:rPr>
              <a:t>:</a:t>
            </a:r>
          </a:p>
          <a:p>
            <a:pPr algn="l"/>
            <a:r>
              <a:rPr sz="1500" b="0" i="0">
                <a:solidFill>
                  <a:srgbClr val="0E6B74"/>
                </a:solidFill>
                <a:latin typeface="Consolas"/>
              </a:rPr>
              <a:t>Constraint failed: edu-pat-1: 'Ett personnummer ska bestå av exakt 12 siffror'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937760"/>
            <a:ext cx="64008" cy="1005840"/>
          </a:xfrm>
          <a:prstGeom prst="rect">
            <a:avLst/>
          </a:prstGeom>
          <a:solidFill>
            <a:srgbClr val="E87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Fallgropar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43584"/>
            <a:ext cx="11094415" cy="0"/>
          </a:xfrm>
          <a:prstGeom prst="line">
            <a:avLst/>
          </a:prstGeom>
          <a:ln w="12700">
            <a:solidFill>
              <a:srgbClr val="D5DA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B6577"/>
                </a:solidFill>
                <a:latin typeface="Calibri"/>
              </a:rPr>
              <a:t>FHIR i praktiken  ·  Modul 4 – FHIRPath och invarianter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B6577"/>
                </a:solidFill>
                <a:latin typeface="Calibri"/>
              </a:rPr>
              <a:t>50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325880"/>
          <a:ext cx="11094413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26429"/>
                <a:gridCol w="4992486"/>
                <a:gridCol w="3975498"/>
              </a:tblGrid>
              <a:tr h="59436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Fallgrop</a:t>
                      </a:r>
                    </a:p>
                  </a:txBody>
                  <a:tcPr marL="73152" marR="73152" marT="36576" marB="36576" anchor="ctr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Exempel</a:t>
                      </a:r>
                    </a:p>
                  </a:txBody>
                  <a:tcPr marL="73152" marR="73152" marT="36576" marB="36576" anchor="ctr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Tips</a:t>
                      </a:r>
                    </a:p>
                  </a:txBody>
                  <a:tcPr marL="73152" marR="73152" marT="36576" marB="36576" anchor="ctr">
                    <a:solidFill>
                      <a:srgbClr val="1B2A4A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Tomma samlingar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{}.all(…)</a:t>
                      </a:r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 är </a:t>
                      </a:r>
                      <a:r>
                        <a:rPr sz="1500" b="1" i="0">
                          <a:solidFill>
                            <a:srgbClr val="222831"/>
                          </a:solidFill>
                          <a:latin typeface="Calibri"/>
                        </a:rPr>
                        <a:t>true</a:t>
                      </a:r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, men </a:t>
                      </a:r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{}.exists()</a:t>
                      </a:r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 är </a:t>
                      </a:r>
                      <a:r>
                        <a:rPr sz="1500" b="1" i="0">
                          <a:solidFill>
                            <a:srgbClr val="222831"/>
                          </a:solidFill>
                          <a:latin typeface="Calibri"/>
                        </a:rPr>
                        <a:t>false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Kombinera med kardinalitet eller </a:t>
                      </a:r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exists()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Jämförelse med tomt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period.end &gt; period.start</a:t>
                      </a:r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 ger tomt om end saknas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Skriv </a:t>
                      </a:r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period.end.empty() or …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Flera värden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name.family = 'X'</a:t>
                      </a:r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 när det finns flera namn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Använd </a:t>
                      </a:r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where(…)</a:t>
                      </a:r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 och </a:t>
                      </a:r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exists()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Reguljära uttryck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matches('[0-9]{12}')</a:t>
                      </a:r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 matchar även 13 siffror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Förankra med </a:t>
                      </a:r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^…$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Datumprecision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@1912</a:t>
                      </a:r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 jämfört med </a:t>
                      </a:r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@1912-12-12</a:t>
                      </a:r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 blir tomt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Var medveten om precisionen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Sträng eller kod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gender = 'Male'</a:t>
                      </a:r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 är </a:t>
                      </a:r>
                      <a:r>
                        <a:rPr sz="1500" b="1" i="0">
                          <a:solidFill>
                            <a:srgbClr val="222831"/>
                          </a:solidFill>
                          <a:latin typeface="Calibri"/>
                        </a:rPr>
                        <a:t>false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Skiftlägeskänsligt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E87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ÖVNING  ·  25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FHIRPath och invarianter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17320"/>
            <a:ext cx="11094415" cy="502920"/>
          </a:xfrm>
          <a:prstGeom prst="roundRect">
            <a:avLst>
              <a:gd name="adj" fmla="val 20000"/>
            </a:avLst>
          </a:prstGeom>
          <a:solidFill>
            <a:srgbClr val="FC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wrap="square"/>
          <a:lstStyle/>
          <a:p>
            <a:pPr algn="l"/>
            <a:r>
              <a:rPr sz="1500" b="0" i="0">
                <a:solidFill>
                  <a:srgbClr val="222831"/>
                </a:solidFill>
                <a:latin typeface="Calibri"/>
              </a:rPr>
              <a:t>📂  kursmaterial/modul-4-fhirpath/README.md  ·  facit: facit.md  ·  lösning: kursmaterial/losningar/modul-4/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03120"/>
            <a:ext cx="11094415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900" b="1" i="0">
                <a:solidFill>
                  <a:srgbClr val="222831"/>
                </a:solidFill>
                <a:latin typeface="Calibri"/>
              </a:rPr>
              <a:t>4.0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Läs invarianterna </a:t>
            </a:r>
            <a:r>
              <a:rPr sz="1800" b="0" i="0">
                <a:solidFill>
                  <a:srgbClr val="0E6B74"/>
                </a:solidFill>
                <a:latin typeface="Consolas"/>
              </a:rPr>
              <a:t>edu-pat-1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och </a:t>
            </a:r>
            <a:r>
              <a:rPr sz="1800" b="0" i="0">
                <a:solidFill>
                  <a:srgbClr val="0E6B74"/>
                </a:solidFill>
                <a:latin typeface="Consolas"/>
              </a:rPr>
              <a:t>edu-pat-2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i </a:t>
            </a:r>
            <a:r>
              <a:rPr sz="1900" b="1" i="0">
                <a:solidFill>
                  <a:srgbClr val="222831"/>
                </a:solidFill>
                <a:latin typeface="Calibri"/>
              </a:rPr>
              <a:t>facit-IG:n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(EducationPatient). Vad kontrollerar de?  (3 min)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900" b="1" i="0">
                <a:solidFill>
                  <a:srgbClr val="222831"/>
                </a:solidFill>
                <a:latin typeface="Calibri"/>
              </a:rPr>
              <a:t>4.1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Öppna </a:t>
            </a:r>
            <a:r>
              <a:rPr sz="1900" b="1" i="0">
                <a:solidFill>
                  <a:srgbClr val="222831"/>
                </a:solidFill>
                <a:latin typeface="Calibri"/>
              </a:rPr>
              <a:t>fhirpath-lab.com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, klistra in </a:t>
            </a:r>
            <a:r>
              <a:rPr sz="1800" b="0" i="0">
                <a:solidFill>
                  <a:srgbClr val="0E6B74"/>
                </a:solidFill>
                <a:latin typeface="Consolas"/>
              </a:rPr>
              <a:t>Patient-tolvan.json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(modul 1) och testa uttrycken i README  (7 min)</a:t>
            </a:r>
          </a:p>
          <a:p>
            <a:pPr marL="612647" indent="-256032">
              <a:spcBef>
                <a:spcPts val="300"/>
              </a:spcBef>
              <a:buClr>
                <a:srgbClr val="5B6577"/>
              </a:buClr>
              <a:buChar char="–"/>
            </a:pPr>
            <a:r>
              <a:rPr sz="1700" b="0" i="0">
                <a:solidFill>
                  <a:srgbClr val="5B6577"/>
                </a:solidFill>
                <a:latin typeface="Calibri"/>
              </a:rPr>
              <a:t>Skriv ett eget uttryck som är sant om patienten har ett personnummer med exakt 12 siffror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900" b="1" i="0">
                <a:solidFill>
                  <a:srgbClr val="222831"/>
                </a:solidFill>
                <a:latin typeface="Calibri"/>
              </a:rPr>
              <a:t>4.2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Skapa </a:t>
            </a:r>
            <a:r>
              <a:rPr sz="1800" b="0" i="0">
                <a:solidFill>
                  <a:srgbClr val="0E6B74"/>
                </a:solidFill>
                <a:latin typeface="Consolas"/>
              </a:rPr>
              <a:t>test-ig/input/fsh/invariants.fsh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med </a:t>
            </a:r>
            <a:r>
              <a:rPr sz="1800" b="0" i="0">
                <a:solidFill>
                  <a:srgbClr val="0E6B74"/>
                </a:solidFill>
                <a:latin typeface="Consolas"/>
              </a:rPr>
              <a:t>edu-pat-1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och </a:t>
            </a:r>
            <a:r>
              <a:rPr sz="1800" b="0" i="0">
                <a:solidFill>
                  <a:srgbClr val="0E6B74"/>
                </a:solidFill>
                <a:latin typeface="Consolas"/>
              </a:rPr>
              <a:t>edu-enc-1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, och koppla dem med </a:t>
            </a:r>
            <a:r>
              <a:rPr sz="1800" b="0" i="0">
                <a:solidFill>
                  <a:srgbClr val="0E6B74"/>
                </a:solidFill>
                <a:latin typeface="Consolas"/>
              </a:rPr>
              <a:t>obeys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 (10 min)</a:t>
            </a:r>
          </a:p>
          <a:p>
            <a:pPr marL="612647" indent="-256032">
              <a:spcBef>
                <a:spcPts val="300"/>
              </a:spcBef>
              <a:buClr>
                <a:srgbClr val="5B6577"/>
              </a:buClr>
              <a:buChar char="–"/>
            </a:pPr>
            <a:r>
              <a:rPr sz="1700" b="0" i="0">
                <a:solidFill>
                  <a:srgbClr val="5B6577"/>
                </a:solidFill>
                <a:latin typeface="Calibri"/>
              </a:rPr>
              <a:t>Bygg, och kontrollera fliken Constraints på profilsidan</a:t>
            </a:r>
          </a:p>
          <a:p>
            <a:pPr marL="612647" indent="-256032">
              <a:spcBef>
                <a:spcPts val="300"/>
              </a:spcBef>
              <a:buClr>
                <a:srgbClr val="5B6577"/>
              </a:buClr>
              <a:buChar char="–"/>
            </a:pPr>
            <a:r>
              <a:rPr sz="1700" b="0" i="0">
                <a:solidFill>
                  <a:srgbClr val="5B6577"/>
                </a:solidFill>
                <a:latin typeface="Calibri"/>
              </a:rPr>
              <a:t>Ändra personnumret i exemplet så att det blir fel, och läs felet i </a:t>
            </a:r>
            <a:r>
              <a:rPr sz="1700" b="1" i="0">
                <a:solidFill>
                  <a:srgbClr val="5B6577"/>
                </a:solidFill>
                <a:latin typeface="Calibri"/>
              </a:rPr>
              <a:t>qa.html</a:t>
            </a:r>
            <a:r>
              <a:rPr sz="1700" b="0" i="0">
                <a:solidFill>
                  <a:srgbClr val="5B6577"/>
                </a:solidFill>
                <a:latin typeface="Calibri"/>
              </a:rPr>
              <a:t>. Ändra sedan tillbaka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900" b="1" i="0">
                <a:solidFill>
                  <a:srgbClr val="222831"/>
                </a:solidFill>
                <a:latin typeface="Calibri"/>
              </a:rPr>
              <a:t>4.3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(extra) Skriv själv </a:t>
            </a:r>
            <a:r>
              <a:rPr sz="1800" b="0" i="0">
                <a:solidFill>
                  <a:srgbClr val="0E6B74"/>
                </a:solidFill>
                <a:latin typeface="Consolas"/>
              </a:rPr>
              <a:t>edu-pat-2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(födelsedatum ej i framtiden) och </a:t>
            </a:r>
            <a:r>
              <a:rPr sz="1800" b="0" i="0">
                <a:solidFill>
                  <a:srgbClr val="0E6B74"/>
                </a:solidFill>
                <a:latin typeface="Consolas"/>
              </a:rPr>
              <a:t>edu-enc-2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(slut efter start, varning)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900" b="0" i="0">
                <a:solidFill>
                  <a:srgbClr val="222831"/>
                </a:solidFill>
                <a:latin typeface="Calibri"/>
              </a:rPr>
              <a:t>Hamnat efter? </a:t>
            </a:r>
            <a:r>
              <a:rPr sz="1900" b="1" i="0">
                <a:solidFill>
                  <a:srgbClr val="222831"/>
                </a:solidFill>
                <a:latin typeface="Calibri"/>
              </a:rPr>
              <a:t>Actions → Kom ikapp → modul 3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innan du börjar (eller </a:t>
            </a:r>
            <a:r>
              <a:rPr sz="1900" b="1" i="0">
                <a:solidFill>
                  <a:srgbClr val="222831"/>
                </a:solidFill>
                <a:latin typeface="Calibri"/>
              </a:rPr>
              <a:t>modul 4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för lösningen)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B6577"/>
                </a:solidFill>
                <a:latin typeface="Calibri"/>
              </a:rPr>
              <a:t>FHIR i praktiken  ·  Modul 4 – FHIRPath och invarianter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B6577"/>
                </a:solidFill>
                <a:latin typeface="Calibri"/>
              </a:rP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Sammanfattning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43584"/>
            <a:ext cx="11094415" cy="0"/>
          </a:xfrm>
          <a:prstGeom prst="line">
            <a:avLst/>
          </a:prstGeom>
          <a:ln w="12700">
            <a:solidFill>
              <a:srgbClr val="D5DA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B6577"/>
                </a:solidFill>
                <a:latin typeface="Calibri"/>
              </a:rPr>
              <a:t>FHIR i praktiken  ·  Modul 4 – FHIRPath och invarianter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B6577"/>
                </a:solidFill>
                <a:latin typeface="Calibri"/>
              </a:rPr>
              <a:t>52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900" b="1" i="0">
                <a:solidFill>
                  <a:srgbClr val="222831"/>
                </a:solidFill>
                <a:latin typeface="Calibri"/>
              </a:rPr>
              <a:t>FHIRPath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navigerar, filtrerar och testar data. Allt är samlingar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900" b="1" i="0">
                <a:solidFill>
                  <a:srgbClr val="222831"/>
                </a:solidFill>
                <a:latin typeface="Calibri"/>
              </a:rPr>
              <a:t>Invarianter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= nyckel + nivå + beskrivning + FHIRPath-uttryck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900" b="0" i="0">
                <a:solidFill>
                  <a:srgbClr val="222831"/>
                </a:solidFill>
                <a:latin typeface="Calibri"/>
              </a:rPr>
              <a:t>I FSH: </a:t>
            </a:r>
            <a:r>
              <a:rPr sz="1800" b="0" i="0">
                <a:solidFill>
                  <a:srgbClr val="0E6B74"/>
                </a:solidFill>
                <a:latin typeface="Consolas"/>
              </a:rPr>
              <a:t>Invariant: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definieras och kopplas med </a:t>
            </a:r>
            <a:r>
              <a:rPr sz="1800" b="0" i="0">
                <a:solidFill>
                  <a:srgbClr val="0E6B74"/>
                </a:solidFill>
                <a:latin typeface="Consolas"/>
              </a:rPr>
              <a:t>obeys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900" b="0" i="0">
                <a:solidFill>
                  <a:srgbClr val="222831"/>
                </a:solidFill>
                <a:latin typeface="Calibri"/>
              </a:rPr>
              <a:t>Se upp med </a:t>
            </a:r>
            <a:r>
              <a:rPr sz="1900" b="1" i="0">
                <a:solidFill>
                  <a:srgbClr val="222831"/>
                </a:solidFill>
                <a:latin typeface="Calibri"/>
              </a:rPr>
              <a:t>tomma samlingar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, flera värden och oförankrade reguljära uttryck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900" b="0" i="0">
                <a:solidFill>
                  <a:srgbClr val="222831"/>
                </a:solidFill>
                <a:latin typeface="Calibri"/>
              </a:rPr>
              <a:t>Kardinaliteten styr </a:t>
            </a:r>
            <a:r>
              <a:rPr sz="1900" b="1" i="0">
                <a:solidFill>
                  <a:srgbClr val="222831"/>
                </a:solidFill>
                <a:latin typeface="Calibri"/>
              </a:rPr>
              <a:t>om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något krävs, och invarianten </a:t>
            </a:r>
            <a:r>
              <a:rPr sz="1900" b="1" i="0">
                <a:solidFill>
                  <a:srgbClr val="222831"/>
                </a:solidFill>
                <a:latin typeface="Calibri"/>
              </a:rPr>
              <a:t>hur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det ser ut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03920" y="1508760"/>
            <a:ext cx="3108960" cy="2377440"/>
          </a:xfrm>
          <a:prstGeom prst="roundRect">
            <a:avLst>
              <a:gd name="adj" fmla="val 12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0" i="0">
                <a:solidFill>
                  <a:srgbClr val="FFFFFF"/>
                </a:solidFill>
                <a:latin typeface="Calibri"/>
              </a:rPr>
              <a:t>Härnäst</a:t>
            </a:r>
          </a:p>
          <a:p>
            <a:pPr algn="ctr"/>
          </a:p>
          <a:p>
            <a:pPr algn="ctr"/>
            <a:r>
              <a:rPr sz="1600" b="0" i="0">
                <a:solidFill>
                  <a:srgbClr val="FFFFFF"/>
                </a:solidFill>
                <a:latin typeface="Calibri"/>
              </a:rPr>
              <a:t>Modul 5</a:t>
            </a:r>
          </a:p>
          <a:p>
            <a:pPr algn="ctr"/>
            <a:r>
              <a:rPr sz="1600" b="0" i="0">
                <a:solidFill>
                  <a:srgbClr val="FFFFFF"/>
                </a:solidFill>
                <a:latin typeface="Calibri"/>
              </a:rPr>
              <a:t>Utveckling med HAPI FHIR och API-säkerhet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600" b="1" i="0">
                <a:solidFill>
                  <a:srgbClr val="E8772E"/>
                </a:solidFill>
                <a:latin typeface="Calibri"/>
              </a:rP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574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Utveckling med HAPI FHIR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154680"/>
            <a:ext cx="67665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D9EEEF"/>
                </a:solidFill>
                <a:latin typeface="Calibri"/>
              </a:rPr>
              <a:t>Efter modulen kan du …</a:t>
            </a:r>
          </a:p>
          <a:p>
            <a:pPr>
              <a:spcBef>
                <a:spcPts val="600"/>
              </a:spcBef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›  beskriva FHIR:s REST-API: interaktioner och sökning</a:t>
            </a:r>
          </a:p>
          <a:p>
            <a:pPr>
              <a:spcBef>
                <a:spcPts val="600"/>
              </a:spcBef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›  förstå hur en FHIR-fasad ovanpå ett befintligt system byggs med HAPI</a:t>
            </a:r>
          </a:p>
          <a:p>
            <a:pPr>
              <a:spcBef>
                <a:spcPts val="600"/>
              </a:spcBef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›  läsa och ändra en mappning i FHIR Mapping Language (FML)</a:t>
            </a:r>
          </a:p>
          <a:p>
            <a:pPr>
              <a:spcBef>
                <a:spcPts val="600"/>
              </a:spcBef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›  känna till grunderna i API-säkerhet: OAuth 2.0 och SMART on FHIR</a:t>
            </a:r>
          </a:p>
          <a:p>
            <a:pPr>
              <a:spcBef>
                <a:spcPts val="600"/>
              </a:spcBef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›  känna till relevanta IHE-profiler för integration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46720" y="3154680"/>
            <a:ext cx="3566160" cy="2651760"/>
          </a:xfrm>
          <a:prstGeom prst="roundRect">
            <a:avLst>
              <a:gd name="adj" fmla="val 6000"/>
            </a:avLst>
          </a:prstGeom>
          <a:solidFill>
            <a:srgbClr val="263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28600" rIns="228600" tIns="182880" wrap="square"/>
          <a:lstStyle/>
          <a:p>
            <a:pPr algn="l"/>
            <a:r>
              <a:rPr sz="1600" b="1" i="0">
                <a:solidFill>
                  <a:srgbClr val="E8772E"/>
                </a:solidFill>
                <a:latin typeface="Calibri"/>
              </a:rPr>
              <a:t>50 minuter</a:t>
            </a:r>
          </a:p>
          <a:p>
            <a:pPr>
              <a:spcBef>
                <a:spcPts val="800"/>
              </a:spcBef>
            </a:pPr>
            <a:r>
              <a:rPr sz="1500" b="1" i="0">
                <a:solidFill>
                  <a:srgbClr val="FFFFFF"/>
                </a:solidFill>
                <a:latin typeface="Calibri"/>
              </a:rPr>
              <a:t>25 min  </a:t>
            </a:r>
            <a:r>
              <a:rPr sz="1500" b="0" i="0">
                <a:solidFill>
                  <a:srgbClr val="D5DAE1"/>
                </a:solidFill>
                <a:latin typeface="Calibri"/>
              </a:rPr>
              <a:t>Genomgång och demo</a:t>
            </a:r>
          </a:p>
          <a:p>
            <a:pPr>
              <a:spcBef>
                <a:spcPts val="800"/>
              </a:spcBef>
            </a:pPr>
            <a:r>
              <a:rPr sz="1500" b="1" i="0">
                <a:solidFill>
                  <a:srgbClr val="FFFFFF"/>
                </a:solidFill>
                <a:latin typeface="Calibri"/>
              </a:rPr>
              <a:t>20 min  </a:t>
            </a:r>
            <a:r>
              <a:rPr sz="1500" b="0" i="0">
                <a:solidFill>
                  <a:srgbClr val="D5DAE1"/>
                </a:solidFill>
                <a:latin typeface="Calibri"/>
              </a:rPr>
              <a:t>Övningar 5.1–5.3</a:t>
            </a:r>
          </a:p>
          <a:p>
            <a:pPr>
              <a:spcBef>
                <a:spcPts val="800"/>
              </a:spcBef>
            </a:pPr>
            <a:r>
              <a:rPr sz="1500" b="1" i="0">
                <a:solidFill>
                  <a:srgbClr val="FFFFFF"/>
                </a:solidFill>
                <a:latin typeface="Calibri"/>
              </a:rPr>
              <a:t> 5 min  </a:t>
            </a:r>
            <a:r>
              <a:rPr sz="1500" b="0" i="0">
                <a:solidFill>
                  <a:srgbClr val="D5DAE1"/>
                </a:solidFill>
                <a:latin typeface="Calibri"/>
              </a:rPr>
              <a:t>Summering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5DAE1"/>
                </a:solidFill>
                <a:latin typeface="Calibri"/>
              </a:rPr>
              <a:t>FHIR i praktiken  ·  Modul 5 – Utveckling med HAPI FHIR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41908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D5DAE1"/>
                </a:solidFill>
                <a:latin typeface="Calibri"/>
              </a:rPr>
              <a:t>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FHIR:s REST-API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43584"/>
            <a:ext cx="11094415" cy="0"/>
          </a:xfrm>
          <a:prstGeom prst="line">
            <a:avLst/>
          </a:prstGeom>
          <a:ln w="12700">
            <a:solidFill>
              <a:srgbClr val="D5DA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B6577"/>
                </a:solidFill>
                <a:latin typeface="Calibri"/>
              </a:rPr>
              <a:t>FHIR i praktiken  ·  Modul 5 – Utveckling med HAPI FHIR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B6577"/>
                </a:solidFill>
                <a:latin typeface="Calibri"/>
              </a:rPr>
              <a:t>54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325880"/>
          <a:ext cx="11094413" cy="47274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3789"/>
                <a:gridCol w="1664162"/>
                <a:gridCol w="7026462"/>
              </a:tblGrid>
              <a:tr h="429768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Interaktion</a:t>
                      </a:r>
                    </a:p>
                  </a:txBody>
                  <a:tcPr marL="73152" marR="73152" marT="36576" marB="36576" anchor="ctr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HTTP</a:t>
                      </a:r>
                    </a:p>
                  </a:txBody>
                  <a:tcPr marL="73152" marR="73152" marT="36576" marB="36576" anchor="ctr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Exempel</a:t>
                      </a:r>
                    </a:p>
                  </a:txBody>
                  <a:tcPr marL="73152" marR="73152" marT="36576" marB="36576" anchor="ctr">
                    <a:solidFill>
                      <a:srgbClr val="1B2A4A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read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GET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[bas]/Patient/191212121212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vread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GET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[bas]/Patient/123/_history/2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search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GET/POST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[bas]/Encounter?patient=191212121212&amp;date=ge2026-10-01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create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POST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[bas]/Patient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update / patch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PUT / PATCH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[bas]/Patient/123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delete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DELETE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[bas]/Patient/123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history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GET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[bas]/Patient/123/_history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capabilities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GET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[bas]/metadata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transaction / batch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POST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[bas]</a:t>
                      </a:r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 med en Bundle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operation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GET/POST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[bas]/Patient/$validate</a:t>
                      </a:r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,  </a:t>
                      </a:r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[bas]/Patient/123/$everything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Sökning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43584"/>
            <a:ext cx="11094415" cy="0"/>
          </a:xfrm>
          <a:prstGeom prst="line">
            <a:avLst/>
          </a:prstGeom>
          <a:ln w="12700">
            <a:solidFill>
              <a:srgbClr val="D5DA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B6577"/>
                </a:solidFill>
                <a:latin typeface="Calibri"/>
              </a:rPr>
              <a:t>FHIR i praktiken  ·  Modul 5 – Utveckling med HAPI FHIR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B6577"/>
                </a:solidFill>
                <a:latin typeface="Calibri"/>
              </a:rPr>
              <a:t>55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71600"/>
            <a:ext cx="11094415" cy="1920240"/>
          </a:xfrm>
          <a:prstGeom prst="rect">
            <a:avLst/>
          </a:prstGeom>
          <a:solidFill>
            <a:srgbClr val="F4F6F8"/>
          </a:solidFill>
          <a:ln w="9525">
            <a:solidFill>
              <a:srgbClr val="D5D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01168" tIns="91440"/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E6B74"/>
                </a:solidFill>
                <a:latin typeface="Consolas"/>
              </a:rPr>
              <a:t>GET</a:t>
            </a:r>
            <a:r>
              <a:rPr sz="1500" b="0" i="0">
                <a:solidFill>
                  <a:srgbClr val="222831"/>
                </a:solidFill>
                <a:latin typeface="Consolas"/>
              </a:rPr>
              <a:t> [bas]/Patient?identifier=http://electronichealth.se/identifier/personnummer|191212121212</a:t>
            </a:r>
          </a:p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E6B74"/>
                </a:solidFill>
                <a:latin typeface="Consolas"/>
              </a:rPr>
              <a:t>GET</a:t>
            </a:r>
            <a:r>
              <a:rPr sz="1500" b="0" i="0">
                <a:solidFill>
                  <a:srgbClr val="222831"/>
                </a:solidFill>
                <a:latin typeface="Consolas"/>
              </a:rPr>
              <a:t> [bas]/Encounter?patient=191212121212&amp;date=ge2026-10-01&amp;_sort=-date</a:t>
            </a:r>
          </a:p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E6B74"/>
                </a:solidFill>
                <a:latin typeface="Consolas"/>
              </a:rPr>
              <a:t>GET</a:t>
            </a:r>
            <a:r>
              <a:rPr sz="1500" b="0" i="0">
                <a:solidFill>
                  <a:srgbClr val="222831"/>
                </a:solidFill>
                <a:latin typeface="Consolas"/>
              </a:rPr>
              <a:t> [bas]/Encounter?patient=191212121212&amp;_include=Encounter:subject</a:t>
            </a:r>
          </a:p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E6B74"/>
                </a:solidFill>
                <a:latin typeface="Consolas"/>
              </a:rPr>
              <a:t>GET</a:t>
            </a:r>
            <a:r>
              <a:rPr sz="1500" b="0" i="0">
                <a:solidFill>
                  <a:srgbClr val="222831"/>
                </a:solidFill>
                <a:latin typeface="Consolas"/>
              </a:rPr>
              <a:t> [bas]/Patient?family=Tolvansson&amp;_count=10&amp;_summary=true</a:t>
            </a:r>
          </a:p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E6B74"/>
                </a:solidFill>
                <a:latin typeface="Consolas"/>
              </a:rPr>
              <a:t>GET</a:t>
            </a:r>
            <a:r>
              <a:rPr sz="1500" b="0" i="0">
                <a:solidFill>
                  <a:srgbClr val="222831"/>
                </a:solidFill>
                <a:latin typeface="Consolas"/>
              </a:rPr>
              <a:t> [bas]/Patient?_has:Encounter:patient:status=in-progress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371600"/>
            <a:ext cx="54864" cy="192024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3566160"/>
          <a:ext cx="5852159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59"/>
                <a:gridCol w="457200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Typ</a:t>
                      </a:r>
                    </a:p>
                  </a:txBody>
                  <a:tcPr marL="73152" marR="73152" marT="36576" marB="36576" anchor="ctr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Exempel</a:t>
                      </a:r>
                    </a:p>
                  </a:txBody>
                  <a:tcPr marL="73152" marR="73152" marT="36576" marB="36576" anchor="ctr">
                    <a:solidFill>
                      <a:srgbClr val="1B2A4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token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identifier=system|värde</a:t>
                      </a:r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,  </a:t>
                      </a:r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gender=male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reference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patient=191212121212</a:t>
                      </a:r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,  </a:t>
                      </a:r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subject=Patient/123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date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date=ge2026-10-01</a:t>
                      </a:r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  (eq, ne, lt, le, gt, ge …)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string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family=Tolv</a:t>
                      </a:r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,  </a:t>
                      </a:r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name:exact=Tolvan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583680" y="3566160"/>
          <a:ext cx="50292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65176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Resultatparameter</a:t>
                      </a:r>
                    </a:p>
                  </a:txBody>
                  <a:tcPr marL="73152" marR="73152" marT="36576" marB="36576" anchor="ctr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Gör</a:t>
                      </a:r>
                    </a:p>
                  </a:txBody>
                  <a:tcPr marL="73152" marR="73152" marT="36576" marB="36576" anchor="ctr">
                    <a:solidFill>
                      <a:srgbClr val="1B2A4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_count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Antal per sida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_include</a:t>
                      </a:r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 / </a:t>
                      </a:r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_revinclude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Ta med refererade resurser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_summary</a:t>
                      </a:r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 / </a:t>
                      </a:r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_elements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Begränsa innehållet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_sort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Sortering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Tre sätt att erbjuda ett FHIR-API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43584"/>
            <a:ext cx="11094415" cy="0"/>
          </a:xfrm>
          <a:prstGeom prst="line">
            <a:avLst/>
          </a:prstGeom>
          <a:ln w="12700">
            <a:solidFill>
              <a:srgbClr val="D5DA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B6577"/>
                </a:solidFill>
                <a:latin typeface="Calibri"/>
              </a:rPr>
              <a:t>FHIR i praktiken  ·  Modul 5 – Utveckling med HAPI FHIR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B6577"/>
                </a:solidFill>
                <a:latin typeface="Calibri"/>
              </a:rPr>
              <a:t>56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3566160" cy="1188720"/>
          </a:xfrm>
          <a:prstGeom prst="roundRect">
            <a:avLst>
              <a:gd name="adj" fmla="val 12000"/>
            </a:avLst>
          </a:prstGeom>
          <a:solidFill>
            <a:srgbClr val="D9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222831"/>
                </a:solidFill>
                <a:latin typeface="Calibri"/>
              </a:rPr>
              <a:t>FHIR-server med lagring</a:t>
            </a:r>
          </a:p>
          <a:p>
            <a:pPr algn="ctr"/>
            <a:r>
              <a:rPr sz="1600" b="0" i="0">
                <a:solidFill>
                  <a:srgbClr val="222831"/>
                </a:solidFill>
                <a:latin typeface="Calibri"/>
              </a:rPr>
              <a:t>HAPI JPA Server, Firely,</a:t>
            </a:r>
          </a:p>
          <a:p>
            <a:pPr algn="ctr"/>
            <a:r>
              <a:rPr sz="1600" b="0" i="0">
                <a:solidFill>
                  <a:srgbClr val="222831"/>
                </a:solidFill>
                <a:latin typeface="Calibri"/>
              </a:rPr>
              <a:t>molntjänster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788920"/>
            <a:ext cx="35661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600" b="0" i="0">
                <a:solidFill>
                  <a:srgbClr val="222831"/>
                </a:solidFill>
                <a:latin typeface="Calibri"/>
              </a:rPr>
              <a:t>Full sökning och CRUD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600" b="0" i="0">
                <a:solidFill>
                  <a:srgbClr val="222831"/>
                </a:solidFill>
                <a:latin typeface="Calibri"/>
              </a:rPr>
              <a:t>Versionshistorik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600" b="0" i="0">
                <a:solidFill>
                  <a:srgbClr val="222831"/>
                </a:solidFill>
                <a:latin typeface="Calibri"/>
              </a:rPr>
              <a:t>Data måste synkas/kopieras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79" y="1417320"/>
            <a:ext cx="3566160" cy="1188720"/>
          </a:xfrm>
          <a:prstGeom prst="roundRect">
            <a:avLst>
              <a:gd name="adj" fmla="val 12000"/>
            </a:avLst>
          </a:prstGeom>
          <a:solidFill>
            <a:srgbClr val="FC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222831"/>
                </a:solidFill>
                <a:latin typeface="Calibri"/>
              </a:rPr>
              <a:t>FHIR-fasad</a:t>
            </a:r>
          </a:p>
          <a:p>
            <a:pPr algn="ctr"/>
            <a:r>
              <a:rPr sz="1600" b="0" i="0">
                <a:solidFill>
                  <a:srgbClr val="222831"/>
                </a:solidFill>
                <a:latin typeface="Calibri"/>
              </a:rPr>
              <a:t>HAPI Plain Server +</a:t>
            </a:r>
          </a:p>
          <a:p>
            <a:pPr algn="ctr"/>
            <a:r>
              <a:rPr sz="1600" b="0" i="0">
                <a:solidFill>
                  <a:srgbClr val="222831"/>
                </a:solidFill>
                <a:latin typeface="Calibri"/>
              </a:rPr>
              <a:t>FML eller egen kod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79" y="2788920"/>
            <a:ext cx="35661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600" b="0" i="0">
                <a:solidFill>
                  <a:srgbClr val="222831"/>
                </a:solidFill>
                <a:latin typeface="Calibri"/>
              </a:rPr>
              <a:t>Data stannar i källsystemet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600" b="0" i="0">
                <a:solidFill>
                  <a:srgbClr val="222831"/>
                </a:solidFill>
                <a:latin typeface="Calibri"/>
              </a:rPr>
              <a:t>Alltid aktuellt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600" b="0" i="0">
                <a:solidFill>
                  <a:srgbClr val="222831"/>
                </a:solidFill>
                <a:latin typeface="Calibri"/>
              </a:rPr>
              <a:t>Bara det du implementerar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18" y="1417320"/>
            <a:ext cx="3566160" cy="1188720"/>
          </a:xfrm>
          <a:prstGeom prst="roundRect">
            <a:avLst>
              <a:gd name="adj" fmla="val 12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222831"/>
                </a:solidFill>
                <a:latin typeface="Calibri"/>
              </a:rPr>
              <a:t>Integrationsplattform</a:t>
            </a:r>
          </a:p>
          <a:p>
            <a:pPr algn="ctr"/>
            <a:r>
              <a:rPr sz="1600" b="0" i="0">
                <a:solidFill>
                  <a:srgbClr val="222831"/>
                </a:solidFill>
                <a:latin typeface="Calibri"/>
              </a:rPr>
              <a:t>Integrationsmotor,</a:t>
            </a:r>
          </a:p>
          <a:p>
            <a:pPr algn="ctr"/>
            <a:r>
              <a:rPr sz="1600" b="0" i="0">
                <a:solidFill>
                  <a:srgbClr val="222831"/>
                </a:solidFill>
                <a:latin typeface="Calibri"/>
              </a:rPr>
              <a:t>tjänsteplattform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8" y="2788920"/>
            <a:ext cx="35661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600" b="0" i="0">
                <a:solidFill>
                  <a:srgbClr val="222831"/>
                </a:solidFill>
                <a:latin typeface="Calibri"/>
              </a:rPr>
              <a:t>Återanvänder befintlig integration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600" b="0" i="0">
                <a:solidFill>
                  <a:srgbClr val="222831"/>
                </a:solidFill>
                <a:latin typeface="Calibri"/>
              </a:rPr>
              <a:t>Transformering av meddelanden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600" b="0" i="0">
                <a:solidFill>
                  <a:srgbClr val="222831"/>
                </a:solidFill>
                <a:latin typeface="Calibri"/>
              </a:rPr>
              <a:t>Ofta asynkront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892040"/>
            <a:ext cx="11094415" cy="777240"/>
          </a:xfrm>
          <a:prstGeom prst="rect">
            <a:avLst/>
          </a:prstGeom>
          <a:solidFill>
            <a:srgbClr val="D9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/>
          <a:lstStyle/>
          <a:p>
            <a:pPr algn="l"/>
            <a:r>
              <a:rPr sz="1600" b="0" i="0">
                <a:solidFill>
                  <a:srgbClr val="222831"/>
                </a:solidFill>
                <a:latin typeface="Calibri"/>
              </a:rPr>
              <a:t>Kursens exempel </a:t>
            </a:r>
            <a:r>
              <a:rPr sz="1500" b="0" i="0">
                <a:solidFill>
                  <a:srgbClr val="0E6B74"/>
                </a:solidFill>
                <a:latin typeface="Consolas"/>
              </a:rPr>
              <a:t>hapi-fasad/</a:t>
            </a:r>
            <a:r>
              <a:rPr sz="1600" b="0" i="0">
                <a:solidFill>
                  <a:srgbClr val="222831"/>
                </a:solidFill>
                <a:latin typeface="Calibri"/>
              </a:rPr>
              <a:t> är en </a:t>
            </a:r>
            <a:r>
              <a:rPr sz="1600" b="1" i="0">
                <a:solidFill>
                  <a:srgbClr val="222831"/>
                </a:solidFill>
                <a:latin typeface="Calibri"/>
              </a:rPr>
              <a:t>fasad</a:t>
            </a:r>
            <a:r>
              <a:rPr sz="1600" b="0" i="0">
                <a:solidFill>
                  <a:srgbClr val="222831"/>
                </a:solidFill>
                <a:latin typeface="Calibri"/>
              </a:rPr>
              <a:t>: ett FHIR-API ovanpå ett journalsystems proprietära REST-API, med mappningar i </a:t>
            </a:r>
            <a:r>
              <a:rPr sz="1600" b="1" i="0">
                <a:solidFill>
                  <a:srgbClr val="222831"/>
                </a:solidFill>
                <a:latin typeface="Calibri"/>
              </a:rPr>
              <a:t>FHIR Mapping Language</a:t>
            </a:r>
            <a:r>
              <a:rPr sz="1600" b="0" i="0">
                <a:solidFill>
                  <a:srgbClr val="222831"/>
                </a:solidFill>
                <a:latin typeface="Calibri"/>
              </a:rPr>
              <a:t>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892040"/>
            <a:ext cx="64008" cy="77724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Kursens FHIR-fasad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43584"/>
            <a:ext cx="11094415" cy="0"/>
          </a:xfrm>
          <a:prstGeom prst="line">
            <a:avLst/>
          </a:prstGeom>
          <a:ln w="12700">
            <a:solidFill>
              <a:srgbClr val="D5DA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B6577"/>
                </a:solidFill>
                <a:latin typeface="Calibri"/>
              </a:rPr>
              <a:t>FHIR i praktiken  ·  Modul 5 – Utveckling med HAPI FHIR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B6577"/>
                </a:solidFill>
                <a:latin typeface="Calibri"/>
              </a:rPr>
              <a:t>57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08760"/>
            <a:ext cx="1920240" cy="1188720"/>
          </a:xfrm>
          <a:prstGeom prst="roundRect">
            <a:avLst>
              <a:gd name="adj" fmla="val 12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i="0">
                <a:solidFill>
                  <a:srgbClr val="222831"/>
                </a:solidFill>
                <a:latin typeface="Calibri"/>
              </a:rPr>
              <a:t>Klient</a:t>
            </a:r>
          </a:p>
          <a:p>
            <a:pPr algn="ctr"/>
            <a:r>
              <a:rPr sz="1500" b="0" i="0">
                <a:solidFill>
                  <a:srgbClr val="222831"/>
                </a:solidFill>
                <a:latin typeface="Calibri"/>
              </a:rPr>
              <a:t>app, annat system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46120" y="1371600"/>
            <a:ext cx="4206240" cy="1463040"/>
          </a:xfrm>
          <a:prstGeom prst="roundRect">
            <a:avLst>
              <a:gd name="adj" fmla="val 12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FHIR-fasad (HAPI)</a:t>
            </a:r>
          </a:p>
          <a:p>
            <a:pPr algn="ctr"/>
            <a:r>
              <a:rPr sz="1400" b="0" i="0">
                <a:solidFill>
                  <a:srgbClr val="FFFFFF"/>
                </a:solidFill>
                <a:latin typeface="Calibri"/>
              </a:rPr>
              <a:t>PatientProvider · EncounterProvider</a:t>
            </a:r>
          </a:p>
          <a:p>
            <a:pPr algn="ctr"/>
            <a:r>
              <a:rPr sz="1400" b="0" i="0">
                <a:solidFill>
                  <a:srgbClr val="FFFFFF"/>
                </a:solidFill>
                <a:latin typeface="Calibri"/>
              </a:rPr>
              <a:t>FmlMotor: patient.map, besok.map</a:t>
            </a:r>
          </a:p>
          <a:p>
            <a:pPr algn="ctr"/>
            <a:r>
              <a:rPr sz="1400" b="0" i="0">
                <a:solidFill>
                  <a:srgbClr val="FFFFFF"/>
                </a:solidFill>
                <a:latin typeface="Calibri"/>
              </a:rPr>
              <a:t>CapabilityStatement (auto)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03920" y="1508760"/>
            <a:ext cx="3108960" cy="1188720"/>
          </a:xfrm>
          <a:prstGeom prst="roundRect">
            <a:avLst>
              <a:gd name="adj" fmla="val 12000"/>
            </a:avLst>
          </a:prstGeom>
          <a:solidFill>
            <a:srgbClr val="FC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 i="0">
                <a:solidFill>
                  <a:srgbClr val="222831"/>
                </a:solidFill>
                <a:latin typeface="Calibri"/>
              </a:rPr>
              <a:t>Journalsystemets REST-API</a:t>
            </a:r>
          </a:p>
          <a:p>
            <a:pPr algn="ctr"/>
            <a:r>
              <a:rPr sz="1400" b="0" i="0">
                <a:solidFill>
                  <a:srgbClr val="222831"/>
                </a:solidFill>
                <a:latin typeface="Calibri"/>
              </a:rPr>
              <a:t>proprietär JSON</a:t>
            </a:r>
          </a:p>
          <a:p>
            <a:pPr algn="ctr"/>
            <a:r>
              <a:rPr sz="1400" b="0" i="0">
                <a:solidFill>
                  <a:srgbClr val="222831"/>
                </a:solidFill>
                <a:latin typeface="Calibri"/>
              </a:rPr>
              <a:t>egna koder: M/K, AVSL, BES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14600" y="2103120"/>
            <a:ext cx="685800" cy="0"/>
          </a:xfrm>
          <a:prstGeom prst="line">
            <a:avLst/>
          </a:prstGeom>
          <a:ln w="25400">
            <a:solidFill>
              <a:srgbClr val="5B657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498079" y="2103120"/>
            <a:ext cx="960121" cy="0"/>
          </a:xfrm>
          <a:prstGeom prst="line">
            <a:avLst/>
          </a:prstGeom>
          <a:ln w="25400">
            <a:solidFill>
              <a:srgbClr val="5B657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2423160" y="173736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>
                <a:solidFill>
                  <a:srgbClr val="5B6577"/>
                </a:solidFill>
                <a:latin typeface="Calibri"/>
              </a:rPr>
              <a:t>FHIR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79" y="173736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>
                <a:solidFill>
                  <a:srgbClr val="5B6577"/>
                </a:solidFill>
                <a:latin typeface="Calibri"/>
              </a:rPr>
              <a:t>JSON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1089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5B6577"/>
                </a:solidFill>
                <a:latin typeface="Calibri"/>
              </a:rPr>
              <a:t>Källa: journalsystemets API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401568"/>
            <a:ext cx="4572000" cy="2770632"/>
          </a:xfrm>
          <a:prstGeom prst="rect">
            <a:avLst/>
          </a:prstGeom>
          <a:solidFill>
            <a:srgbClr val="F4F6F8"/>
          </a:solidFill>
          <a:ln w="9525">
            <a:solidFill>
              <a:srgbClr val="D5D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01168" tIns="91440"/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222831"/>
                </a:solidFill>
                <a:latin typeface="Consolas"/>
              </a:rPr>
              <a:t>GET /journalsystem-api/</a:t>
            </a:r>
          </a:p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222831"/>
                </a:solidFill>
                <a:latin typeface="Consolas"/>
              </a:rPr>
              <a:t>    patienter/191212121212</a:t>
            </a:r>
          </a:p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222831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222831"/>
                </a:solidFill>
                <a:latin typeface="Consolas"/>
              </a:rPr>
              <a:t>{</a:t>
            </a:r>
          </a:p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222831"/>
                </a:solidFill>
                <a:latin typeface="Consolas"/>
              </a:rPr>
              <a:t>  </a:t>
            </a:r>
            <a:r>
              <a:rPr sz="1300" b="0" i="0">
                <a:solidFill>
                  <a:srgbClr val="0E6B74"/>
                </a:solidFill>
                <a:latin typeface="Consolas"/>
              </a:rPr>
              <a:t>"personnummer"</a:t>
            </a:r>
            <a:r>
              <a:rPr sz="1300" b="0" i="0">
                <a:solidFill>
                  <a:srgbClr val="222831"/>
                </a:solidFill>
                <a:latin typeface="Consolas"/>
              </a:rPr>
              <a:t>:</a:t>
            </a:r>
            <a:r>
              <a:rPr sz="1300" b="0" i="0">
                <a:solidFill>
                  <a:srgbClr val="222831"/>
                </a:solidFill>
                <a:latin typeface="Consolas"/>
              </a:rPr>
              <a:t> </a:t>
            </a:r>
            <a:r>
              <a:rPr sz="1300" b="0" i="0">
                <a:solidFill>
                  <a:srgbClr val="A64B00"/>
                </a:solidFill>
                <a:latin typeface="Consolas"/>
              </a:rPr>
              <a:t>"191212121212"</a:t>
            </a:r>
            <a:r>
              <a:rPr sz="1300" b="0" i="0">
                <a:solidFill>
                  <a:srgbClr val="222831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222831"/>
                </a:solidFill>
                <a:latin typeface="Consolas"/>
              </a:rPr>
              <a:t>  </a:t>
            </a:r>
            <a:r>
              <a:rPr sz="1300" b="0" i="0">
                <a:solidFill>
                  <a:srgbClr val="0E6B74"/>
                </a:solidFill>
                <a:latin typeface="Consolas"/>
              </a:rPr>
              <a:t>"fornamn"</a:t>
            </a:r>
            <a:r>
              <a:rPr sz="1300" b="0" i="0">
                <a:solidFill>
                  <a:srgbClr val="222831"/>
                </a:solidFill>
                <a:latin typeface="Consolas"/>
              </a:rPr>
              <a:t>:</a:t>
            </a:r>
            <a:r>
              <a:rPr sz="1300" b="0" i="0">
                <a:solidFill>
                  <a:srgbClr val="222831"/>
                </a:solidFill>
                <a:latin typeface="Consolas"/>
              </a:rPr>
              <a:t> </a:t>
            </a:r>
            <a:r>
              <a:rPr sz="1300" b="0" i="0">
                <a:solidFill>
                  <a:srgbClr val="A64B00"/>
                </a:solidFill>
                <a:latin typeface="Consolas"/>
              </a:rPr>
              <a:t>"Tolvan"</a:t>
            </a:r>
            <a:r>
              <a:rPr sz="1300" b="0" i="0">
                <a:solidFill>
                  <a:srgbClr val="222831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222831"/>
                </a:solidFill>
                <a:latin typeface="Consolas"/>
              </a:rPr>
              <a:t>  </a:t>
            </a:r>
            <a:r>
              <a:rPr sz="1300" b="0" i="0">
                <a:solidFill>
                  <a:srgbClr val="0E6B74"/>
                </a:solidFill>
                <a:latin typeface="Consolas"/>
              </a:rPr>
              <a:t>"efternamn"</a:t>
            </a:r>
            <a:r>
              <a:rPr sz="1300" b="0" i="0">
                <a:solidFill>
                  <a:srgbClr val="222831"/>
                </a:solidFill>
                <a:latin typeface="Consolas"/>
              </a:rPr>
              <a:t>:</a:t>
            </a:r>
            <a:r>
              <a:rPr sz="1300" b="0" i="0">
                <a:solidFill>
                  <a:srgbClr val="222831"/>
                </a:solidFill>
                <a:latin typeface="Consolas"/>
              </a:rPr>
              <a:t> </a:t>
            </a:r>
            <a:r>
              <a:rPr sz="1300" b="0" i="0">
                <a:solidFill>
                  <a:srgbClr val="A64B00"/>
                </a:solidFill>
                <a:latin typeface="Consolas"/>
              </a:rPr>
              <a:t>"Tolvansson"</a:t>
            </a:r>
            <a:r>
              <a:rPr sz="1300" b="0" i="0">
                <a:solidFill>
                  <a:srgbClr val="222831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222831"/>
                </a:solidFill>
                <a:latin typeface="Consolas"/>
              </a:rPr>
              <a:t>  </a:t>
            </a:r>
            <a:r>
              <a:rPr sz="1300" b="0" i="0">
                <a:solidFill>
                  <a:srgbClr val="0E6B74"/>
                </a:solidFill>
                <a:latin typeface="Consolas"/>
              </a:rPr>
              <a:t>"kon"</a:t>
            </a:r>
            <a:r>
              <a:rPr sz="1300" b="0" i="0">
                <a:solidFill>
                  <a:srgbClr val="222831"/>
                </a:solidFill>
                <a:latin typeface="Consolas"/>
              </a:rPr>
              <a:t>:</a:t>
            </a:r>
            <a:r>
              <a:rPr sz="1300" b="0" i="0">
                <a:solidFill>
                  <a:srgbClr val="222831"/>
                </a:solidFill>
                <a:latin typeface="Consolas"/>
              </a:rPr>
              <a:t> </a:t>
            </a:r>
            <a:r>
              <a:rPr sz="1300" b="0" i="0">
                <a:solidFill>
                  <a:srgbClr val="A64B00"/>
                </a:solidFill>
                <a:latin typeface="Consolas"/>
              </a:rPr>
              <a:t>"M"</a:t>
            </a:r>
            <a:r>
              <a:rPr sz="1300" b="0" i="0">
                <a:solidFill>
                  <a:srgbClr val="222831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222831"/>
                </a:solidFill>
                <a:latin typeface="Consolas"/>
              </a:rPr>
              <a:t>  </a:t>
            </a:r>
            <a:r>
              <a:rPr sz="1300" b="0" i="0">
                <a:solidFill>
                  <a:srgbClr val="0E6B74"/>
                </a:solidFill>
                <a:latin typeface="Consolas"/>
              </a:rPr>
              <a:t>"fodelsedatum"</a:t>
            </a:r>
            <a:r>
              <a:rPr sz="1300" b="0" i="0">
                <a:solidFill>
                  <a:srgbClr val="222831"/>
                </a:solidFill>
                <a:latin typeface="Consolas"/>
              </a:rPr>
              <a:t>:</a:t>
            </a:r>
            <a:r>
              <a:rPr sz="1300" b="0" i="0">
                <a:solidFill>
                  <a:srgbClr val="222831"/>
                </a:solidFill>
                <a:latin typeface="Consolas"/>
              </a:rPr>
              <a:t> </a:t>
            </a:r>
            <a:r>
              <a:rPr sz="1300" b="0" i="0">
                <a:solidFill>
                  <a:srgbClr val="A64B00"/>
                </a:solidFill>
                <a:latin typeface="Consolas"/>
              </a:rPr>
              <a:t>"1912-12-12"</a:t>
            </a:r>
            <a:r>
              <a:rPr sz="1300" b="0" i="0">
                <a:solidFill>
                  <a:srgbClr val="222831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222831"/>
                </a:solidFill>
                <a:latin typeface="Consolas"/>
              </a:rPr>
              <a:t>  </a:t>
            </a:r>
            <a:r>
              <a:rPr sz="1300" b="0" i="0">
                <a:solidFill>
                  <a:srgbClr val="0E6B74"/>
                </a:solidFill>
                <a:latin typeface="Consolas"/>
              </a:rPr>
              <a:t>"telefon"</a:t>
            </a:r>
            <a:r>
              <a:rPr sz="1300" b="0" i="0">
                <a:solidFill>
                  <a:srgbClr val="222831"/>
                </a:solidFill>
                <a:latin typeface="Consolas"/>
              </a:rPr>
              <a:t>:</a:t>
            </a:r>
            <a:r>
              <a:rPr sz="1300" b="0" i="0">
                <a:solidFill>
                  <a:srgbClr val="222831"/>
                </a:solidFill>
                <a:latin typeface="Consolas"/>
              </a:rPr>
              <a:t> </a:t>
            </a:r>
            <a:r>
              <a:rPr sz="1300" b="0" i="0">
                <a:solidFill>
                  <a:srgbClr val="A64B00"/>
                </a:solidFill>
                <a:latin typeface="Consolas"/>
              </a:rPr>
              <a:t>"070-1234567"</a:t>
            </a:r>
          </a:p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222831"/>
                </a:solidFill>
                <a:latin typeface="Consolas"/>
              </a:rPr>
              <a:t>}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401568"/>
            <a:ext cx="54864" cy="2770632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12080" y="4251960"/>
            <a:ext cx="822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 i="0">
                <a:solidFill>
                  <a:srgbClr val="E8772E"/>
                </a:solidFill>
                <a:latin typeface="Calibri"/>
              </a:rPr>
              <a:t>FML</a:t>
            </a:r>
          </a:p>
          <a:p>
            <a:pPr algn="ctr"/>
            <a:r>
              <a:rPr sz="1800" b="1" i="0">
                <a:solidFill>
                  <a:srgbClr val="E8772E"/>
                </a:solidFill>
                <a:latin typeface="Calibri"/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0" y="3108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5B6577"/>
                </a:solidFill>
                <a:latin typeface="Calibri"/>
              </a:rPr>
              <a:t>Resultat: FHIR (telefon saknas – övning 5.2)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26480" y="3401568"/>
            <a:ext cx="5486400" cy="2770632"/>
          </a:xfrm>
          <a:prstGeom prst="rect">
            <a:avLst/>
          </a:prstGeom>
          <a:solidFill>
            <a:srgbClr val="F4F6F8"/>
          </a:solidFill>
          <a:ln w="9525">
            <a:solidFill>
              <a:srgbClr val="D5D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01168" tIns="91440"/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22831"/>
                </a:solidFill>
                <a:latin typeface="Consolas"/>
              </a:rPr>
              <a:t>GET /fhir/Patient/191212121212</a:t>
            </a:r>
          </a:p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22831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22831"/>
                </a:solidFill>
                <a:latin typeface="Consolas"/>
              </a:rPr>
              <a:t>{ </a:t>
            </a:r>
            <a:r>
              <a:rPr sz="1200" b="0" i="0">
                <a:solidFill>
                  <a:srgbClr val="A64B00"/>
                </a:solidFill>
                <a:latin typeface="Consolas"/>
              </a:rPr>
              <a:t>"resourceType"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: </a:t>
            </a:r>
            <a:r>
              <a:rPr sz="1200" b="0" i="0">
                <a:solidFill>
                  <a:srgbClr val="A64B00"/>
                </a:solidFill>
                <a:latin typeface="Consolas"/>
              </a:rPr>
              <a:t>"Patient"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, </a:t>
            </a:r>
            <a:r>
              <a:rPr sz="1200" b="0" i="0">
                <a:solidFill>
                  <a:srgbClr val="A64B00"/>
                </a:solidFill>
                <a:latin typeface="Consolas"/>
              </a:rPr>
              <a:t>"id"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: </a:t>
            </a:r>
            <a:r>
              <a:rPr sz="1200" b="0" i="0">
                <a:solidFill>
                  <a:srgbClr val="A64B00"/>
                </a:solidFill>
                <a:latin typeface="Consolas"/>
              </a:rPr>
              <a:t>"191212121212"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22831"/>
                </a:solidFill>
                <a:latin typeface="Consolas"/>
              </a:rPr>
              <a:t>  </a:t>
            </a:r>
            <a:r>
              <a:rPr sz="1200" b="0" i="0">
                <a:solidFill>
                  <a:srgbClr val="0E6B74"/>
                </a:solidFill>
                <a:latin typeface="Consolas"/>
              </a:rPr>
              <a:t>"meta"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: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 { </a:t>
            </a:r>
            <a:r>
              <a:rPr sz="1200" b="0" i="0">
                <a:solidFill>
                  <a:srgbClr val="A64B00"/>
                </a:solidFill>
                <a:latin typeface="Consolas"/>
              </a:rPr>
              <a:t>"profile"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: [ </a:t>
            </a:r>
            <a:r>
              <a:rPr sz="1200" b="0" i="0">
                <a:solidFill>
                  <a:srgbClr val="A64B00"/>
                </a:solidFill>
                <a:latin typeface="Consolas"/>
              </a:rPr>
              <a:t>".../EducationPatient"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 ] },</a:t>
            </a:r>
          </a:p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22831"/>
                </a:solidFill>
                <a:latin typeface="Consolas"/>
              </a:rPr>
              <a:t>  </a:t>
            </a:r>
            <a:r>
              <a:rPr sz="1200" b="0" i="0">
                <a:solidFill>
                  <a:srgbClr val="0E6B74"/>
                </a:solidFill>
                <a:latin typeface="Consolas"/>
              </a:rPr>
              <a:t>"identifier"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: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 [ { </a:t>
            </a:r>
            <a:r>
              <a:rPr sz="1200" b="0" i="0">
                <a:solidFill>
                  <a:srgbClr val="A64B00"/>
                </a:solidFill>
                <a:latin typeface="Consolas"/>
              </a:rPr>
              <a:t>"system"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: </a:t>
            </a:r>
            <a:r>
              <a:rPr sz="1200" b="0" i="0">
                <a:solidFill>
                  <a:srgbClr val="A64B00"/>
                </a:solidFill>
                <a:latin typeface="Consolas"/>
              </a:rPr>
              <a:t>".../personnummer"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22831"/>
                </a:solidFill>
                <a:latin typeface="Consolas"/>
              </a:rPr>
              <a:t>                    </a:t>
            </a:r>
            <a:r>
              <a:rPr sz="1200" b="0" i="0">
                <a:solidFill>
                  <a:srgbClr val="0E6B74"/>
                </a:solidFill>
                <a:latin typeface="Consolas"/>
              </a:rPr>
              <a:t>"value"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: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 </a:t>
            </a:r>
            <a:r>
              <a:rPr sz="1200" b="0" i="0">
                <a:solidFill>
                  <a:srgbClr val="A64B00"/>
                </a:solidFill>
                <a:latin typeface="Consolas"/>
              </a:rPr>
              <a:t>"191212121212"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 } ],</a:t>
            </a:r>
          </a:p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22831"/>
                </a:solidFill>
                <a:latin typeface="Consolas"/>
              </a:rPr>
              <a:t>  </a:t>
            </a:r>
            <a:r>
              <a:rPr sz="1200" b="0" i="0">
                <a:solidFill>
                  <a:srgbClr val="0E6B74"/>
                </a:solidFill>
                <a:latin typeface="Consolas"/>
              </a:rPr>
              <a:t>"name"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: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 [ { </a:t>
            </a:r>
            <a:r>
              <a:rPr sz="1200" b="0" i="0">
                <a:solidFill>
                  <a:srgbClr val="A64B00"/>
                </a:solidFill>
                <a:latin typeface="Consolas"/>
              </a:rPr>
              <a:t>"use"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: </a:t>
            </a:r>
            <a:r>
              <a:rPr sz="1200" b="0" i="0">
                <a:solidFill>
                  <a:srgbClr val="A64B00"/>
                </a:solidFill>
                <a:latin typeface="Consolas"/>
              </a:rPr>
              <a:t>"official"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, </a:t>
            </a:r>
            <a:r>
              <a:rPr sz="1200" b="0" i="0">
                <a:solidFill>
                  <a:srgbClr val="A64B00"/>
                </a:solidFill>
                <a:latin typeface="Consolas"/>
              </a:rPr>
              <a:t>"family"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: </a:t>
            </a:r>
            <a:r>
              <a:rPr sz="1200" b="0" i="0">
                <a:solidFill>
                  <a:srgbClr val="A64B00"/>
                </a:solidFill>
                <a:latin typeface="Consolas"/>
              </a:rPr>
              <a:t>"Tolvansson"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22831"/>
                </a:solidFill>
                <a:latin typeface="Consolas"/>
              </a:rPr>
              <a:t>              </a:t>
            </a:r>
            <a:r>
              <a:rPr sz="1200" b="0" i="0">
                <a:solidFill>
                  <a:srgbClr val="0E6B74"/>
                </a:solidFill>
                <a:latin typeface="Consolas"/>
              </a:rPr>
              <a:t>"given"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: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 [ </a:t>
            </a:r>
            <a:r>
              <a:rPr sz="1200" b="0" i="0">
                <a:solidFill>
                  <a:srgbClr val="A64B00"/>
                </a:solidFill>
                <a:latin typeface="Consolas"/>
              </a:rPr>
              <a:t>"Tolvan"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 ] } ],</a:t>
            </a:r>
          </a:p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22831"/>
                </a:solidFill>
                <a:latin typeface="Consolas"/>
              </a:rPr>
              <a:t>  </a:t>
            </a:r>
            <a:r>
              <a:rPr sz="1200" b="0" i="0">
                <a:solidFill>
                  <a:srgbClr val="0E6B74"/>
                </a:solidFill>
                <a:latin typeface="Consolas"/>
              </a:rPr>
              <a:t>"gender"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: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 </a:t>
            </a:r>
            <a:r>
              <a:rPr sz="1200" b="0" i="0">
                <a:solidFill>
                  <a:srgbClr val="A64B00"/>
                </a:solidFill>
                <a:latin typeface="Consolas"/>
              </a:rPr>
              <a:t>"male"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22831"/>
                </a:solidFill>
                <a:latin typeface="Consolas"/>
              </a:rPr>
              <a:t>  </a:t>
            </a:r>
            <a:r>
              <a:rPr sz="1200" b="0" i="0">
                <a:solidFill>
                  <a:srgbClr val="0E6B74"/>
                </a:solidFill>
                <a:latin typeface="Consolas"/>
              </a:rPr>
              <a:t>"birthDate"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: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 </a:t>
            </a:r>
            <a:r>
              <a:rPr sz="1200" b="0" i="0">
                <a:solidFill>
                  <a:srgbClr val="A64B00"/>
                </a:solidFill>
                <a:latin typeface="Consolas"/>
              </a:rPr>
              <a:t>"1912-12-12"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 }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26480" y="3401568"/>
            <a:ext cx="54864" cy="2770632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FHIR Mapping Language (FML)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43584"/>
            <a:ext cx="11094415" cy="0"/>
          </a:xfrm>
          <a:prstGeom prst="line">
            <a:avLst/>
          </a:prstGeom>
          <a:ln w="12700">
            <a:solidFill>
              <a:srgbClr val="D5DA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B6577"/>
                </a:solidFill>
                <a:latin typeface="Calibri"/>
              </a:rPr>
              <a:t>FHIR i praktiken  ·  Modul 5 – Utveckling med HAPI FHIR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B6577"/>
                </a:solidFill>
                <a:latin typeface="Calibri"/>
              </a:rPr>
              <a:t>58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7589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5B6577"/>
                </a:solidFill>
                <a:latin typeface="Calibri"/>
              </a:rPr>
              <a:t>hapi-fasad/src/main/resources/fml/patient.map (förkortad)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664208"/>
            <a:ext cx="7589520" cy="4507992"/>
          </a:xfrm>
          <a:prstGeom prst="rect">
            <a:avLst/>
          </a:prstGeom>
          <a:solidFill>
            <a:srgbClr val="F4F6F8"/>
          </a:solidFill>
          <a:ln w="9525">
            <a:solidFill>
              <a:srgbClr val="D5D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01168" tIns="91440"/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22831"/>
                </a:solidFill>
                <a:latin typeface="Consolas"/>
              </a:rPr>
              <a:t>conceptmap </a:t>
            </a:r>
            <a:r>
              <a:rPr sz="1200" b="0" i="0">
                <a:solidFill>
                  <a:srgbClr val="A64B00"/>
                </a:solidFill>
                <a:latin typeface="Consolas"/>
              </a:rPr>
              <a:t>"kon"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 {</a:t>
            </a:r>
          </a:p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22831"/>
                </a:solidFill>
                <a:latin typeface="Consolas"/>
              </a:rPr>
              <a:t>  prefix s = </a:t>
            </a:r>
            <a:r>
              <a:rPr sz="1200" b="0" i="0">
                <a:solidFill>
                  <a:srgbClr val="A64B00"/>
                </a:solidFill>
                <a:latin typeface="Consolas"/>
              </a:rPr>
              <a:t>"http://example.org/.../journalsystem/kon"</a:t>
            </a:r>
          </a:p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22831"/>
                </a:solidFill>
                <a:latin typeface="Consolas"/>
              </a:rPr>
              <a:t>  prefix t = </a:t>
            </a:r>
            <a:r>
              <a:rPr sz="1200" b="0" i="0">
                <a:solidFill>
                  <a:srgbClr val="A64B00"/>
                </a:solidFill>
                <a:latin typeface="Consolas"/>
              </a:rPr>
              <a:t>"http://hl7.org/fhir/administrative-gender"</a:t>
            </a:r>
          </a:p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22831"/>
                </a:solidFill>
                <a:latin typeface="Consolas"/>
              </a:rPr>
              <a:t>  s:M == t:male</a:t>
            </a:r>
          </a:p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22831"/>
                </a:solidFill>
                <a:latin typeface="Consolas"/>
              </a:rPr>
              <a:t>  s:K == t:female</a:t>
            </a:r>
          </a:p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22831"/>
                </a:solidFill>
                <a:latin typeface="Consolas"/>
              </a:rPr>
              <a:t>}</a:t>
            </a:r>
          </a:p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22831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22831"/>
                </a:solidFill>
                <a:latin typeface="Consolas"/>
              </a:rPr>
              <a:t>uses </a:t>
            </a:r>
            <a:r>
              <a:rPr sz="1200" b="0" i="0">
                <a:solidFill>
                  <a:srgbClr val="A64B00"/>
                </a:solidFill>
                <a:latin typeface="Consolas"/>
              </a:rPr>
              <a:t>".../StructureDefinition/JournalPatient"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 alias JournalPatient as source</a:t>
            </a:r>
          </a:p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22831"/>
                </a:solidFill>
                <a:latin typeface="Consolas"/>
              </a:rPr>
              <a:t>uses </a:t>
            </a:r>
            <a:r>
              <a:rPr sz="1200" b="0" i="0">
                <a:solidFill>
                  <a:srgbClr val="A64B00"/>
                </a:solidFill>
                <a:latin typeface="Consolas"/>
              </a:rPr>
              <a:t>"http://hl7.org/fhir/StructureDefinition/Patient"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 alias Patient as target</a:t>
            </a:r>
          </a:p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22831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22831"/>
                </a:solidFill>
                <a:latin typeface="Consolas"/>
              </a:rPr>
              <a:t>group JournalPatientTillFhir(source src : JournalPatient, target tgt : Patient) {</a:t>
            </a:r>
          </a:p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22831"/>
                </a:solidFill>
                <a:latin typeface="Consolas"/>
              </a:rPr>
              <a:t>  src.personnummer as pnr -&gt; tgt.identifier as ident,</a:t>
            </a:r>
          </a:p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22831"/>
                </a:solidFill>
                <a:latin typeface="Consolas"/>
              </a:rPr>
              <a:t>      ident.system = 'http://electronichealth.se/identifier/personnummer',</a:t>
            </a:r>
          </a:p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22831"/>
                </a:solidFill>
                <a:latin typeface="Consolas"/>
              </a:rPr>
              <a:t>      ident.value = pnr </a:t>
            </a:r>
            <a:r>
              <a:rPr sz="1200" b="0" i="0">
                <a:solidFill>
                  <a:srgbClr val="A64B00"/>
                </a:solidFill>
                <a:latin typeface="Consolas"/>
              </a:rPr>
              <a:t>"personnummer"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;</a:t>
            </a:r>
          </a:p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22831"/>
                </a:solidFill>
                <a:latin typeface="Consolas"/>
              </a:rPr>
              <a:t>  src -&gt; tgt.name as namn, namn.use = 'official' then {</a:t>
            </a:r>
          </a:p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22831"/>
                </a:solidFill>
                <a:latin typeface="Consolas"/>
              </a:rPr>
              <a:t>    src.efternamn as efternamn -&gt; namn.family = efternamn </a:t>
            </a:r>
            <a:r>
              <a:rPr sz="1200" b="0" i="0">
                <a:solidFill>
                  <a:srgbClr val="A64B00"/>
                </a:solidFill>
                <a:latin typeface="Consolas"/>
              </a:rPr>
              <a:t>"efternamn"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;</a:t>
            </a:r>
          </a:p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22831"/>
                </a:solidFill>
                <a:latin typeface="Consolas"/>
              </a:rPr>
              <a:t>    src.fornamn as fornamn -&gt; namn.given = fornamn </a:t>
            </a:r>
            <a:r>
              <a:rPr sz="1200" b="0" i="0">
                <a:solidFill>
                  <a:srgbClr val="A64B00"/>
                </a:solidFill>
                <a:latin typeface="Consolas"/>
              </a:rPr>
              <a:t>"fornamn"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;</a:t>
            </a:r>
          </a:p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22831"/>
                </a:solidFill>
                <a:latin typeface="Consolas"/>
              </a:rPr>
              <a:t>  } </a:t>
            </a:r>
            <a:r>
              <a:rPr sz="1200" b="0" i="0">
                <a:solidFill>
                  <a:srgbClr val="A64B00"/>
                </a:solidFill>
                <a:latin typeface="Consolas"/>
              </a:rPr>
              <a:t>"namn"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;</a:t>
            </a:r>
          </a:p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22831"/>
                </a:solidFill>
                <a:latin typeface="Consolas"/>
              </a:rPr>
              <a:t>  src.kon as kon -&gt; tgt.gender = translate(kon, '#kon', 'code') </a:t>
            </a:r>
            <a:r>
              <a:rPr sz="1200" b="0" i="0">
                <a:solidFill>
                  <a:srgbClr val="A64B00"/>
                </a:solidFill>
                <a:latin typeface="Consolas"/>
              </a:rPr>
              <a:t>"kon"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;</a:t>
            </a:r>
          </a:p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22831"/>
                </a:solidFill>
                <a:latin typeface="Consolas"/>
              </a:rPr>
              <a:t>  src.fodelsedatum as fd -&gt; tgt.birthDate = fd </a:t>
            </a:r>
            <a:r>
              <a:rPr sz="1200" b="0" i="0">
                <a:solidFill>
                  <a:srgbClr val="A64B00"/>
                </a:solidFill>
                <a:latin typeface="Consolas"/>
              </a:rPr>
              <a:t>"fodelsedatum"</a:t>
            </a:r>
            <a:r>
              <a:rPr sz="1200" b="0" i="0">
                <a:solidFill>
                  <a:srgbClr val="222831"/>
                </a:solidFill>
                <a:latin typeface="Consolas"/>
              </a:rPr>
              <a:t>;</a:t>
            </a:r>
          </a:p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22831"/>
                </a:solidFill>
                <a:latin typeface="Consolas"/>
              </a:rPr>
              <a:t>}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664208"/>
            <a:ext cx="54864" cy="4507992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366760" y="1691640"/>
            <a:ext cx="3246120" cy="868680"/>
          </a:xfrm>
          <a:prstGeom prst="roundRect">
            <a:avLst>
              <a:gd name="adj" fmla="val 12000"/>
            </a:avLst>
          </a:prstGeom>
          <a:solidFill>
            <a:srgbClr val="FC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 i="0">
                <a:solidFill>
                  <a:srgbClr val="222831"/>
                </a:solidFill>
                <a:latin typeface="Calibri"/>
              </a:rPr>
              <a:t>conceptmap</a:t>
            </a:r>
          </a:p>
          <a:p>
            <a:pPr algn="ctr"/>
            <a:r>
              <a:rPr sz="1400" b="0" i="0">
                <a:solidFill>
                  <a:srgbClr val="222831"/>
                </a:solidFill>
                <a:latin typeface="Calibri"/>
              </a:rPr>
              <a:t>kodöversättning M/K → male/female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366760" y="2697480"/>
            <a:ext cx="3246120" cy="868680"/>
          </a:xfrm>
          <a:prstGeom prst="roundRect">
            <a:avLst>
              <a:gd name="adj" fmla="val 12000"/>
            </a:avLst>
          </a:prstGeom>
          <a:solidFill>
            <a:srgbClr val="D9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 i="0">
                <a:solidFill>
                  <a:srgbClr val="222831"/>
                </a:solidFill>
                <a:latin typeface="Calibri"/>
              </a:rPr>
              <a:t>uses</a:t>
            </a:r>
          </a:p>
          <a:p>
            <a:pPr algn="ctr"/>
            <a:r>
              <a:rPr sz="1400" b="0" i="0">
                <a:solidFill>
                  <a:srgbClr val="222831"/>
                </a:solidFill>
                <a:latin typeface="Calibri"/>
              </a:rPr>
              <a:t>källans logiska modell och målets resurs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66760" y="3703320"/>
            <a:ext cx="3246120" cy="868680"/>
          </a:xfrm>
          <a:prstGeom prst="roundRect">
            <a:avLst>
              <a:gd name="adj" fmla="val 12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regel</a:t>
            </a:r>
          </a:p>
          <a:p>
            <a:pPr algn="ctr"/>
            <a:r>
              <a:rPr sz="1400" b="0" i="0">
                <a:solidFill>
                  <a:srgbClr val="FFFFFF"/>
                </a:solidFill>
                <a:latin typeface="Calibri"/>
              </a:rPr>
              <a:t>källa -&gt; mål "namn";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66760" y="4709160"/>
            <a:ext cx="3246120" cy="868680"/>
          </a:xfrm>
          <a:prstGeom prst="roundRect">
            <a:avLst>
              <a:gd name="adj" fmla="val 12000"/>
            </a:avLst>
          </a:prstGeom>
          <a:solidFill>
            <a:srgbClr val="D9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 i="0">
                <a:solidFill>
                  <a:srgbClr val="222831"/>
                </a:solidFill>
                <a:latin typeface="Calibri"/>
              </a:rPr>
              <a:t>then { … }</a:t>
            </a:r>
          </a:p>
          <a:p>
            <a:pPr algn="ctr"/>
            <a:r>
              <a:rPr sz="1400" b="0" i="0">
                <a:solidFill>
                  <a:srgbClr val="222831"/>
                </a:solidFill>
                <a:latin typeface="Calibri"/>
              </a:rPr>
              <a:t>inre regler fyller samma element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Mappning: där det svåra finns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43584"/>
            <a:ext cx="11094415" cy="0"/>
          </a:xfrm>
          <a:prstGeom prst="line">
            <a:avLst/>
          </a:prstGeom>
          <a:ln w="12700">
            <a:solidFill>
              <a:srgbClr val="D5DA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B6577"/>
                </a:solidFill>
                <a:latin typeface="Calibri"/>
              </a:rPr>
              <a:t>FHIR i praktiken  ·  Modul 5 – Utveckling med HAPI FHIR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B6577"/>
                </a:solidFill>
                <a:latin typeface="Calibri"/>
              </a:rPr>
              <a:t>59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325880"/>
          <a:ext cx="11094414" cy="4773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9069"/>
                <a:gridCol w="4437766"/>
                <a:gridCol w="4807579"/>
              </a:tblGrid>
              <a:tr h="530352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Utmaning</a:t>
                      </a:r>
                    </a:p>
                  </a:txBody>
                  <a:tcPr marL="73152" marR="73152" marT="36576" marB="36576" anchor="ctr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Exempel i fasaden</a:t>
                      </a:r>
                    </a:p>
                  </a:txBody>
                  <a:tcPr marL="73152" marR="73152" marT="36576" marB="36576" anchor="ctr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Att tänka på</a:t>
                      </a:r>
                    </a:p>
                  </a:txBody>
                  <a:tcPr marL="73152" marR="73152" marT="36576" marB="36576" anchor="ctr">
                    <a:solidFill>
                      <a:srgbClr val="1B2A4A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Kodverk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Kön </a:t>
                      </a:r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M</a:t>
                      </a:r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/</a:t>
                      </a:r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K</a:t>
                      </a:r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 → </a:t>
                      </a:r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male</a:t>
                      </a:r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/</a:t>
                      </a:r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female</a:t>
                      </a:r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 (ConceptMap)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Required-bindningar kräver korrekt mappning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Nya koder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Kontakttypen </a:t>
                      </a:r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DIG</a:t>
                      </a:r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 saknas i ConceptMap:en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Upptäck med validering. Förvalta mappningen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Datum och tid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API:t levererar ISO 8601 med tidszon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dateTime</a:t>
                      </a:r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 med klockslag kräver tidszon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Identitet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Personnummer som logiskt id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Byte av personnummer, personuppgifter i URL:er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Saknade värden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Britta saknar telefonnummer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Regeln körs inte – inga tomma element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Referenser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Vårdenhet som HSA-id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Logisk eller bokstavlig referens?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Prestanda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Sökning utan index i källsystemet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Paginering, </a:t>
                      </a:r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_count</a:t>
                      </a:r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, cache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Profiler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meta.profile</a:t>
                      </a:r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 = EducationPatient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Validera svaren mot profilen i test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API-säkerhet i lager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43584"/>
            <a:ext cx="11094415" cy="0"/>
          </a:xfrm>
          <a:prstGeom prst="line">
            <a:avLst/>
          </a:prstGeom>
          <a:ln w="12700">
            <a:solidFill>
              <a:srgbClr val="D5DA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B6577"/>
                </a:solidFill>
                <a:latin typeface="Calibri"/>
              </a:rPr>
              <a:t>FHIR i praktiken  ·  Modul 5 – Utveckling med HAPI FHIR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B6577"/>
                </a:solidFill>
                <a:latin typeface="Calibri"/>
              </a:rPr>
              <a:t>60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2377440" cy="822960"/>
          </a:xfrm>
          <a:prstGeom prst="roundRect">
            <a:avLst>
              <a:gd name="adj" fmla="val 12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Transport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063240" y="1417320"/>
            <a:ext cx="8549640" cy="822960"/>
          </a:xfrm>
          <a:prstGeom prst="roundRect">
            <a:avLst>
              <a:gd name="adj" fmla="val 12000"/>
            </a:avLst>
          </a:prstGeom>
          <a:solidFill>
            <a:srgbClr val="D9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700" b="0" i="0">
                <a:solidFill>
                  <a:srgbClr val="222831"/>
                </a:solidFill>
                <a:latin typeface="Calibri"/>
              </a:rPr>
              <a:t>TLS / mTLS (t.ex. SITHS-certifikat)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423160"/>
            <a:ext cx="2377440" cy="822960"/>
          </a:xfrm>
          <a:prstGeom prst="roundRect">
            <a:avLst>
              <a:gd name="adj" fmla="val 12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Autentisering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063240" y="2423160"/>
            <a:ext cx="8549640" cy="822960"/>
          </a:xfrm>
          <a:prstGeom prst="roundRect">
            <a:avLst>
              <a:gd name="adj" fmla="val 12000"/>
            </a:avLst>
          </a:prstGeom>
          <a:solidFill>
            <a:srgbClr val="D9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700" b="0" i="0">
                <a:solidFill>
                  <a:srgbClr val="222831"/>
                </a:solidFill>
                <a:latin typeface="Calibri"/>
              </a:rPr>
              <a:t>Vem är klienten och användaren? OpenID Connect, signerad JWT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429000"/>
            <a:ext cx="2377440" cy="822960"/>
          </a:xfrm>
          <a:prstGeom prst="roundRect">
            <a:avLst>
              <a:gd name="adj" fmla="val 12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Auktorisation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063240" y="3429000"/>
            <a:ext cx="8549640" cy="822960"/>
          </a:xfrm>
          <a:prstGeom prst="roundRect">
            <a:avLst>
              <a:gd name="adj" fmla="val 12000"/>
            </a:avLst>
          </a:prstGeom>
          <a:solidFill>
            <a:srgbClr val="D9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700" b="0" i="0">
                <a:solidFill>
                  <a:srgbClr val="222831"/>
                </a:solidFill>
                <a:latin typeface="Calibri"/>
              </a:rPr>
              <a:t>Vad får klienten göra? OAuth 2.0-scopes (SMART), vårdrelation, samtycke, spärrar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434840"/>
            <a:ext cx="2377440" cy="822960"/>
          </a:xfrm>
          <a:prstGeom prst="roundRect">
            <a:avLst>
              <a:gd name="adj" fmla="val 12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Loggning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063240" y="4434840"/>
            <a:ext cx="8549640" cy="822960"/>
          </a:xfrm>
          <a:prstGeom prst="roundRect">
            <a:avLst>
              <a:gd name="adj" fmla="val 12000"/>
            </a:avLst>
          </a:prstGeom>
          <a:solidFill>
            <a:srgbClr val="D9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700" b="0" i="0">
                <a:solidFill>
                  <a:srgbClr val="222831"/>
                </a:solidFill>
                <a:latin typeface="Calibri"/>
              </a:rPr>
              <a:t>Vem läste vad och när? AuditEvent (IHE BALP), loggkrav i patientdatalagen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5486400"/>
            <a:ext cx="11094415" cy="640080"/>
          </a:xfrm>
          <a:prstGeom prst="rect">
            <a:avLst/>
          </a:prstGeom>
          <a:solidFill>
            <a:srgbClr val="FC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/>
          <a:lstStyle/>
          <a:p>
            <a:pPr algn="l"/>
            <a:r>
              <a:rPr sz="1600" b="0" i="0">
                <a:solidFill>
                  <a:srgbClr val="222831"/>
                </a:solidFill>
                <a:latin typeface="Calibri"/>
              </a:rPr>
              <a:t>FHIR, OAuth och SMART ger </a:t>
            </a:r>
            <a:r>
              <a:rPr sz="1600" b="1" i="0">
                <a:solidFill>
                  <a:srgbClr val="222831"/>
                </a:solidFill>
                <a:latin typeface="Calibri"/>
              </a:rPr>
              <a:t>byggstenarna</a:t>
            </a:r>
            <a:r>
              <a:rPr sz="1600" b="0" i="0">
                <a:solidFill>
                  <a:srgbClr val="222831"/>
                </a:solidFill>
                <a:latin typeface="Calibri"/>
              </a:rPr>
              <a:t>. Vårdens behörighetsregler måste fortfarande lösas i arkitekturen.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5486400"/>
            <a:ext cx="64008" cy="640080"/>
          </a:xfrm>
          <a:prstGeom prst="rect">
            <a:avLst/>
          </a:prstGeom>
          <a:solidFill>
            <a:srgbClr val="E87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SMART on FHIR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43584"/>
            <a:ext cx="11094415" cy="0"/>
          </a:xfrm>
          <a:prstGeom prst="line">
            <a:avLst/>
          </a:prstGeom>
          <a:ln w="12700">
            <a:solidFill>
              <a:srgbClr val="D5DA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B6577"/>
                </a:solidFill>
                <a:latin typeface="Calibri"/>
              </a:rPr>
              <a:t>FHIR i praktiken  ·  Modul 5 – Utveckling med HAPI FHIR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B6577"/>
                </a:solidFill>
                <a:latin typeface="Calibri"/>
              </a:rPr>
              <a:t>61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5394960" cy="1554480"/>
          </a:xfrm>
          <a:prstGeom prst="roundRect">
            <a:avLst>
              <a:gd name="adj" fmla="val 12000"/>
            </a:avLst>
          </a:prstGeom>
          <a:solidFill>
            <a:srgbClr val="D9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500" b="1" i="0">
                <a:solidFill>
                  <a:srgbClr val="222831"/>
                </a:solidFill>
                <a:latin typeface="Calibri"/>
              </a:rPr>
              <a:t>App Launch</a:t>
            </a:r>
          </a:p>
          <a:p>
            <a:pPr algn="l"/>
            <a:r>
              <a:rPr sz="1500" b="0" i="0">
                <a:solidFill>
                  <a:srgbClr val="222831"/>
                </a:solidFill>
                <a:latin typeface="Calibri"/>
              </a:rPr>
              <a:t>App startas från journalen eller fristående.</a:t>
            </a:r>
          </a:p>
          <a:p>
            <a:pPr algn="l"/>
            <a:r>
              <a:rPr sz="1500" b="0" i="0">
                <a:solidFill>
                  <a:srgbClr val="222831"/>
                </a:solidFill>
                <a:latin typeface="Calibri"/>
              </a:rPr>
              <a:t>Token + kontext (patient, användare).</a:t>
            </a:r>
          </a:p>
          <a:p>
            <a:pPr algn="l"/>
            <a:r>
              <a:rPr sz="1500" b="0" i="0">
                <a:solidFill>
                  <a:srgbClr val="222831"/>
                </a:solidFill>
                <a:latin typeface="Calibri"/>
              </a:rPr>
              <a:t>OpenID Connect för inloggning.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17320"/>
            <a:ext cx="5394960" cy="1554480"/>
          </a:xfrm>
          <a:prstGeom prst="roundRect">
            <a:avLst>
              <a:gd name="adj" fmla="val 12000"/>
            </a:avLst>
          </a:prstGeom>
          <a:solidFill>
            <a:srgbClr val="FC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500" b="1" i="0">
                <a:solidFill>
                  <a:srgbClr val="222831"/>
                </a:solidFill>
                <a:latin typeface="Calibri"/>
              </a:rPr>
              <a:t>Backend Services</a:t>
            </a:r>
          </a:p>
          <a:p>
            <a:pPr algn="l"/>
            <a:r>
              <a:rPr sz="1500" b="0" i="0">
                <a:solidFill>
                  <a:srgbClr val="222831"/>
                </a:solidFill>
                <a:latin typeface="Calibri"/>
              </a:rPr>
              <a:t>System-till-system utan användare.</a:t>
            </a:r>
          </a:p>
          <a:p>
            <a:pPr algn="l"/>
            <a:r>
              <a:rPr sz="1500" b="0" i="0">
                <a:solidFill>
                  <a:srgbClr val="222831"/>
                </a:solidFill>
                <a:latin typeface="Calibri"/>
              </a:rPr>
              <a:t>Klienten signerar en JWT (client credentials).</a:t>
            </a:r>
          </a:p>
          <a:p>
            <a:pPr algn="l"/>
            <a:r>
              <a:rPr sz="1500" b="0" i="0">
                <a:solidFill>
                  <a:srgbClr val="222831"/>
                </a:solidFill>
                <a:latin typeface="Calibri"/>
              </a:rPr>
              <a:t>Token med system-scopes.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3246120"/>
          <a:ext cx="69494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402336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Scope (SMART v2)</a:t>
                      </a:r>
                    </a:p>
                  </a:txBody>
                  <a:tcPr marL="73152" marR="73152" marT="36576" marB="36576" anchor="ctr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Betyder</a:t>
                      </a:r>
                    </a:p>
                  </a:txBody>
                  <a:tcPr marL="73152" marR="73152" marT="36576" marB="36576" anchor="ctr">
                    <a:solidFill>
                      <a:srgbClr val="1B2A4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0E6B74"/>
                          </a:solidFill>
                          <a:latin typeface="Consolas"/>
                        </a:rPr>
                        <a:t>patient/Observation.rs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831"/>
                          </a:solidFill>
                          <a:latin typeface="Calibri"/>
                        </a:rPr>
                        <a:t>Läsa och söka observationer för patienten i kontexten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0E6B74"/>
                          </a:solidFill>
                          <a:latin typeface="Consolas"/>
                        </a:rPr>
                        <a:t>user/Encounter.cruds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831"/>
                          </a:solidFill>
                          <a:latin typeface="Calibri"/>
                        </a:rPr>
                        <a:t>Allt på vårdkontakter som användaren har rätt till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0E6B74"/>
                          </a:solidFill>
                          <a:latin typeface="Consolas"/>
                        </a:rPr>
                        <a:t>system/Patient.rs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831"/>
                          </a:solidFill>
                          <a:latin typeface="Calibri"/>
                        </a:rPr>
                        <a:t>Läsa och söka alla patienter (backend)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0E6B74"/>
                          </a:solidFill>
                          <a:latin typeface="Consolas"/>
                        </a:rPr>
                        <a:t>openid fhirUser launch/patient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831"/>
                          </a:solidFill>
                          <a:latin typeface="Calibri"/>
                        </a:rPr>
                        <a:t>Inloggning, användarens identitet, patientkontext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7680960" y="3246120"/>
            <a:ext cx="3931920" cy="2834640"/>
          </a:xfrm>
          <a:prstGeom prst="rect">
            <a:avLst/>
          </a:prstGeom>
          <a:solidFill>
            <a:srgbClr val="F4F6F8"/>
          </a:solidFill>
          <a:ln w="9525">
            <a:solidFill>
              <a:srgbClr val="D5D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01168" tIns="91440"/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22831"/>
                </a:solidFill>
                <a:latin typeface="Consolas"/>
              </a:rPr>
              <a:t>GET [bas]/.well-known/smart-configuration</a:t>
            </a:r>
          </a:p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22831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22831"/>
                </a:solidFill>
                <a:latin typeface="Consolas"/>
              </a:rPr>
              <a:t>{</a:t>
            </a:r>
          </a:p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22831"/>
                </a:solidFill>
                <a:latin typeface="Consolas"/>
              </a:rPr>
              <a:t>  </a:t>
            </a:r>
            <a:r>
              <a:rPr sz="1100" b="0" i="0">
                <a:solidFill>
                  <a:srgbClr val="0E6B74"/>
                </a:solidFill>
                <a:latin typeface="Consolas"/>
              </a:rPr>
              <a:t>"token_endpoint"</a:t>
            </a:r>
            <a:r>
              <a:rPr sz="1100" b="0" i="0">
                <a:solidFill>
                  <a:srgbClr val="222831"/>
                </a:solidFill>
                <a:latin typeface="Consolas"/>
              </a:rPr>
              <a:t>:</a:t>
            </a:r>
            <a:r>
              <a:rPr sz="1100" b="0" i="0">
                <a:solidFill>
                  <a:srgbClr val="222831"/>
                </a:solidFill>
                <a:latin typeface="Consolas"/>
              </a:rPr>
              <a:t> </a:t>
            </a:r>
            <a:r>
              <a:rPr sz="1100" b="0" i="0">
                <a:solidFill>
                  <a:srgbClr val="A64B00"/>
                </a:solidFill>
                <a:latin typeface="Consolas"/>
              </a:rPr>
              <a:t>"https://auth…/token"</a:t>
            </a:r>
            <a:r>
              <a:rPr sz="1100" b="0" i="0">
                <a:solidFill>
                  <a:srgbClr val="222831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22831"/>
                </a:solidFill>
                <a:latin typeface="Consolas"/>
              </a:rPr>
              <a:t>  </a:t>
            </a:r>
            <a:r>
              <a:rPr sz="1100" b="0" i="0">
                <a:solidFill>
                  <a:srgbClr val="0E6B74"/>
                </a:solidFill>
                <a:latin typeface="Consolas"/>
              </a:rPr>
              <a:t>"authorization_endpoint"</a:t>
            </a:r>
            <a:r>
              <a:rPr sz="1100" b="0" i="0">
                <a:solidFill>
                  <a:srgbClr val="222831"/>
                </a:solidFill>
                <a:latin typeface="Consolas"/>
              </a:rPr>
              <a:t>:</a:t>
            </a:r>
            <a:r>
              <a:rPr sz="1100" b="0" i="0">
                <a:solidFill>
                  <a:srgbClr val="222831"/>
                </a:solidFill>
                <a:latin typeface="Consolas"/>
              </a:rPr>
              <a:t> </a:t>
            </a:r>
            <a:r>
              <a:rPr sz="1100" b="0" i="0">
                <a:solidFill>
                  <a:srgbClr val="A64B00"/>
                </a:solidFill>
                <a:latin typeface="Consolas"/>
              </a:rPr>
              <a:t>"…"</a:t>
            </a:r>
            <a:r>
              <a:rPr sz="1100" b="0" i="0">
                <a:solidFill>
                  <a:srgbClr val="222831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22831"/>
                </a:solidFill>
                <a:latin typeface="Consolas"/>
              </a:rPr>
              <a:t>  </a:t>
            </a:r>
            <a:r>
              <a:rPr sz="1100" b="0" i="0">
                <a:solidFill>
                  <a:srgbClr val="0E6B74"/>
                </a:solidFill>
                <a:latin typeface="Consolas"/>
              </a:rPr>
              <a:t>"scopes_supported"</a:t>
            </a:r>
            <a:r>
              <a:rPr sz="1100" b="0" i="0">
                <a:solidFill>
                  <a:srgbClr val="222831"/>
                </a:solidFill>
                <a:latin typeface="Consolas"/>
              </a:rPr>
              <a:t>:</a:t>
            </a:r>
            <a:r>
              <a:rPr sz="1100" b="0" i="0">
                <a:solidFill>
                  <a:srgbClr val="222831"/>
                </a:solidFill>
                <a:latin typeface="Consolas"/>
              </a:rPr>
              <a:t> [ </a:t>
            </a:r>
            <a:r>
              <a:rPr sz="1100" b="0" i="0">
                <a:solidFill>
                  <a:srgbClr val="A64B00"/>
                </a:solidFill>
                <a:latin typeface="Consolas"/>
              </a:rPr>
              <a:t>"system/*.rs"</a:t>
            </a:r>
            <a:r>
              <a:rPr sz="1100" b="0" i="0">
                <a:solidFill>
                  <a:srgbClr val="222831"/>
                </a:solidFill>
                <a:latin typeface="Consolas"/>
              </a:rPr>
              <a:t>, … ],</a:t>
            </a:r>
          </a:p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22831"/>
                </a:solidFill>
                <a:latin typeface="Consolas"/>
              </a:rPr>
              <a:t>  </a:t>
            </a:r>
            <a:r>
              <a:rPr sz="1100" b="0" i="0">
                <a:solidFill>
                  <a:srgbClr val="0E6B74"/>
                </a:solidFill>
                <a:latin typeface="Consolas"/>
              </a:rPr>
              <a:t>"capabilities"</a:t>
            </a:r>
            <a:r>
              <a:rPr sz="1100" b="0" i="0">
                <a:solidFill>
                  <a:srgbClr val="222831"/>
                </a:solidFill>
                <a:latin typeface="Consolas"/>
              </a:rPr>
              <a:t>:</a:t>
            </a:r>
            <a:r>
              <a:rPr sz="1100" b="0" i="0">
                <a:solidFill>
                  <a:srgbClr val="222831"/>
                </a:solidFill>
                <a:latin typeface="Consolas"/>
              </a:rPr>
              <a:t> [ </a:t>
            </a:r>
            <a:r>
              <a:rPr sz="1100" b="0" i="0">
                <a:solidFill>
                  <a:srgbClr val="A64B00"/>
                </a:solidFill>
                <a:latin typeface="Consolas"/>
              </a:rPr>
              <a:t>"launch-ehr"</a:t>
            </a:r>
            <a:r>
              <a:rPr sz="1100" b="0" i="0">
                <a:solidFill>
                  <a:srgbClr val="222831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22831"/>
                </a:solidFill>
                <a:latin typeface="Consolas"/>
              </a:rPr>
              <a:t>    </a:t>
            </a:r>
            <a:r>
              <a:rPr sz="1100" b="0" i="0">
                <a:solidFill>
                  <a:srgbClr val="A64B00"/>
                </a:solidFill>
                <a:latin typeface="Consolas"/>
              </a:rPr>
              <a:t>"client-confidential-asymmetric"</a:t>
            </a:r>
            <a:r>
              <a:rPr sz="1100" b="0" i="0">
                <a:solidFill>
                  <a:srgbClr val="222831"/>
                </a:solidFill>
                <a:latin typeface="Consolas"/>
              </a:rPr>
              <a:t>, … ]</a:t>
            </a:r>
          </a:p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22831"/>
                </a:solidFill>
                <a:latin typeface="Consolas"/>
              </a:rPr>
              <a:t>}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80960" y="3246120"/>
            <a:ext cx="54864" cy="283464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IHE-profiler för integration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43584"/>
            <a:ext cx="11094415" cy="0"/>
          </a:xfrm>
          <a:prstGeom prst="line">
            <a:avLst/>
          </a:prstGeom>
          <a:ln w="12700">
            <a:solidFill>
              <a:srgbClr val="D5DA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B6577"/>
                </a:solidFill>
                <a:latin typeface="Calibri"/>
              </a:rPr>
              <a:t>FHIR i praktiken  ·  Modul 5 – Utveckling med HAPI FHIR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B6577"/>
                </a:solidFill>
                <a:latin typeface="Calibri"/>
              </a:rPr>
              <a:t>62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325880"/>
          <a:ext cx="11094414" cy="42428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75498"/>
                <a:gridCol w="3883045"/>
                <a:gridCol w="3235871"/>
              </a:tblGrid>
              <a:tr h="530352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Profil</a:t>
                      </a:r>
                    </a:p>
                  </a:txBody>
                  <a:tcPr marL="73152" marR="73152" marT="36576" marB="36576" anchor="ctr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Område</a:t>
                      </a:r>
                    </a:p>
                  </a:txBody>
                  <a:tcPr marL="73152" marR="73152" marT="36576" marB="36576" anchor="ctr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FHIR-resurser</a:t>
                      </a:r>
                    </a:p>
                  </a:txBody>
                  <a:tcPr marL="73152" marR="73152" marT="36576" marB="36576" anchor="ctr">
                    <a:solidFill>
                      <a:srgbClr val="1B2A4A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222831"/>
                          </a:solidFill>
                          <a:latin typeface="Calibri"/>
                        </a:rPr>
                        <a:t>IUA</a:t>
                      </a:r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 – Internet User Authorization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Token (OAuth 2.0) mellan system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222831"/>
                          </a:solidFill>
                          <a:latin typeface="Calibri"/>
                        </a:rPr>
                        <a:t>ATNA / BALP</a:t>
                      </a:r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 – Audit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Loggning av åtkomst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AuditEvent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222831"/>
                          </a:solidFill>
                          <a:latin typeface="Calibri"/>
                        </a:rPr>
                        <a:t>PDQm</a:t>
                      </a:r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 – Patient Demographics Query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Söka patientuppgifter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Patient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222831"/>
                          </a:solidFill>
                          <a:latin typeface="Calibri"/>
                        </a:rPr>
                        <a:t>PIXm / PMIR</a:t>
                      </a:r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 – Identity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Matcha och hantera patientidentiteter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Patient, Bundle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222831"/>
                          </a:solidFill>
                          <a:latin typeface="Calibri"/>
                        </a:rPr>
                        <a:t>MHD</a:t>
                      </a:r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 – Mobile access to Health Documents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Dela dokument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DocumentReference, List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222831"/>
                          </a:solidFill>
                          <a:latin typeface="Calibri"/>
                        </a:rPr>
                        <a:t>mCSD</a:t>
                      </a:r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 – Care Services Directory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Katalog över vårdgivare, enheter, personal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Organization, Location, PractitionerRole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222831"/>
                          </a:solidFill>
                          <a:latin typeface="Calibri"/>
                        </a:rPr>
                        <a:t>QEDm</a:t>
                      </a:r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 – Query for Existing Data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Hämta kliniska data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Observation, Condition …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E87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ÖVNING  ·  20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REST, fasad och behörighet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17320"/>
            <a:ext cx="11094415" cy="502920"/>
          </a:xfrm>
          <a:prstGeom prst="roundRect">
            <a:avLst>
              <a:gd name="adj" fmla="val 20000"/>
            </a:avLst>
          </a:prstGeom>
          <a:solidFill>
            <a:srgbClr val="FC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wrap="square"/>
          <a:lstStyle/>
          <a:p>
            <a:pPr algn="l"/>
            <a:r>
              <a:rPr sz="1500" b="0" i="0">
                <a:solidFill>
                  <a:srgbClr val="222831"/>
                </a:solidFill>
                <a:latin typeface="Calibri"/>
              </a:rPr>
              <a:t>📂  kursmaterial/modul-5-hapi-fhir/README.md  ·  hapi-fasad/README.md  ·  lösning: kursmaterial/losningar/modul-5/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03120"/>
            <a:ext cx="11094415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900" b="1" i="0">
                <a:solidFill>
                  <a:srgbClr val="222831"/>
                </a:solidFill>
                <a:latin typeface="Calibri"/>
              </a:rPr>
              <a:t>5.1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Utforska ett FHIR-API: </a:t>
            </a:r>
            <a:r>
              <a:rPr sz="1900" b="1" i="0">
                <a:solidFill>
                  <a:srgbClr val="222831"/>
                </a:solidFill>
                <a:latin typeface="Calibri"/>
              </a:rPr>
              <a:t>hapi.fhir.org/baseR4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(testdata!)  (5 min)</a:t>
            </a:r>
          </a:p>
          <a:p>
            <a:pPr marL="612647" indent="-256032">
              <a:spcBef>
                <a:spcPts val="300"/>
              </a:spcBef>
              <a:buClr>
                <a:srgbClr val="5B6577"/>
              </a:buClr>
              <a:buChar char="–"/>
            </a:pPr>
            <a:r>
              <a:rPr sz="1600" b="0" i="0">
                <a:solidFill>
                  <a:srgbClr val="0E6B74"/>
                </a:solidFill>
                <a:latin typeface="Consolas"/>
              </a:rPr>
              <a:t>/metadata</a:t>
            </a:r>
            <a:r>
              <a:rPr sz="1700" b="0" i="0">
                <a:solidFill>
                  <a:srgbClr val="5B6577"/>
                </a:solidFill>
                <a:latin typeface="Calibri"/>
              </a:rPr>
              <a:t>, </a:t>
            </a:r>
            <a:r>
              <a:rPr sz="1600" b="0" i="0">
                <a:solidFill>
                  <a:srgbClr val="0E6B74"/>
                </a:solidFill>
                <a:latin typeface="Consolas"/>
              </a:rPr>
              <a:t>Patient?family=Smith&amp;_count=5</a:t>
            </a:r>
            <a:r>
              <a:rPr sz="1700" b="0" i="0">
                <a:solidFill>
                  <a:srgbClr val="5B6577"/>
                </a:solidFill>
                <a:latin typeface="Calibri"/>
              </a:rPr>
              <a:t>, </a:t>
            </a:r>
            <a:r>
              <a:rPr sz="1600" b="0" i="0">
                <a:solidFill>
                  <a:srgbClr val="0E6B74"/>
                </a:solidFill>
                <a:latin typeface="Consolas"/>
              </a:rPr>
              <a:t>_summary=count</a:t>
            </a:r>
            <a:r>
              <a:rPr sz="1700" b="0" i="0">
                <a:solidFill>
                  <a:srgbClr val="5B6577"/>
                </a:solidFill>
                <a:latin typeface="Calibri"/>
              </a:rPr>
              <a:t>, </a:t>
            </a:r>
            <a:r>
              <a:rPr sz="1600" b="0" i="0">
                <a:solidFill>
                  <a:srgbClr val="0E6B74"/>
                </a:solidFill>
                <a:latin typeface="Consolas"/>
              </a:rPr>
              <a:t>_include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900" b="1" i="0">
                <a:solidFill>
                  <a:srgbClr val="222831"/>
                </a:solidFill>
                <a:latin typeface="Calibri"/>
              </a:rPr>
              <a:t>5.2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Lägg till en regel i FML-mappningen  (10 min)</a:t>
            </a:r>
          </a:p>
          <a:p>
            <a:pPr marL="612647" indent="-256032">
              <a:spcBef>
                <a:spcPts val="300"/>
              </a:spcBef>
              <a:buClr>
                <a:srgbClr val="5B6577"/>
              </a:buClr>
              <a:buChar char="–"/>
            </a:pPr>
            <a:r>
              <a:rPr sz="1700" b="0" i="0">
                <a:solidFill>
                  <a:srgbClr val="5B6577"/>
                </a:solidFill>
                <a:latin typeface="Calibri"/>
              </a:rPr>
              <a:t>Öppna </a:t>
            </a:r>
            <a:r>
              <a:rPr sz="1600" b="0" i="0">
                <a:solidFill>
                  <a:srgbClr val="0E6B74"/>
                </a:solidFill>
                <a:latin typeface="Consolas"/>
              </a:rPr>
              <a:t>hapi-fasad/src/main/resources/fml/patient.map</a:t>
            </a:r>
            <a:r>
              <a:rPr sz="1700" b="0" i="0">
                <a:solidFill>
                  <a:srgbClr val="5B6577"/>
                </a:solidFill>
                <a:latin typeface="Calibri"/>
              </a:rPr>
              <a:t> och hitta </a:t>
            </a:r>
            <a:r>
              <a:rPr sz="1600" b="0" i="0">
                <a:solidFill>
                  <a:srgbClr val="0E6B74"/>
                </a:solidFill>
                <a:latin typeface="Consolas"/>
              </a:rPr>
              <a:t>ÖVNING 5.2</a:t>
            </a:r>
          </a:p>
          <a:p>
            <a:pPr marL="612647" indent="-256032">
              <a:spcBef>
                <a:spcPts val="300"/>
              </a:spcBef>
              <a:buClr>
                <a:srgbClr val="5B6577"/>
              </a:buClr>
              <a:buChar char="–"/>
            </a:pPr>
            <a:r>
              <a:rPr sz="1700" b="0" i="0">
                <a:solidFill>
                  <a:srgbClr val="5B6577"/>
                </a:solidFill>
                <a:latin typeface="Calibri"/>
              </a:rPr>
              <a:t>Mappa </a:t>
            </a:r>
            <a:r>
              <a:rPr sz="1600" b="0" i="0">
                <a:solidFill>
                  <a:srgbClr val="0E6B74"/>
                </a:solidFill>
                <a:latin typeface="Consolas"/>
              </a:rPr>
              <a:t>src.telefon</a:t>
            </a:r>
            <a:r>
              <a:rPr sz="1700" b="0" i="0">
                <a:solidFill>
                  <a:srgbClr val="5B6577"/>
                </a:solidFill>
                <a:latin typeface="Calibri"/>
              </a:rPr>
              <a:t> till </a:t>
            </a:r>
            <a:r>
              <a:rPr sz="1600" b="0" i="0">
                <a:solidFill>
                  <a:srgbClr val="0E6B74"/>
                </a:solidFill>
                <a:latin typeface="Consolas"/>
              </a:rPr>
              <a:t>Patient.telecom</a:t>
            </a:r>
            <a:r>
              <a:rPr sz="1700" b="0" i="0">
                <a:solidFill>
                  <a:srgbClr val="5B6577"/>
                </a:solidFill>
                <a:latin typeface="Calibri"/>
              </a:rPr>
              <a:t> med </a:t>
            </a:r>
            <a:r>
              <a:rPr sz="1600" b="0" i="0">
                <a:solidFill>
                  <a:srgbClr val="0E6B74"/>
                </a:solidFill>
                <a:latin typeface="Consolas"/>
              </a:rPr>
              <a:t>system = phone</a:t>
            </a:r>
          </a:p>
          <a:p>
            <a:pPr marL="612647" indent="-256032">
              <a:spcBef>
                <a:spcPts val="300"/>
              </a:spcBef>
              <a:buClr>
                <a:srgbClr val="5B6577"/>
              </a:buClr>
              <a:buChar char="–"/>
            </a:pPr>
            <a:r>
              <a:rPr sz="1700" b="0" i="0">
                <a:solidFill>
                  <a:srgbClr val="5B6577"/>
                </a:solidFill>
                <a:latin typeface="Calibri"/>
              </a:rPr>
              <a:t>Commit → arbetsflödet </a:t>
            </a:r>
            <a:r>
              <a:rPr sz="1700" b="1" i="0">
                <a:solidFill>
                  <a:srgbClr val="5B6577"/>
                </a:solidFill>
                <a:latin typeface="Calibri"/>
              </a:rPr>
              <a:t>HAPI-fasad</a:t>
            </a:r>
            <a:r>
              <a:rPr sz="1700" b="0" i="0">
                <a:solidFill>
                  <a:srgbClr val="5B6577"/>
                </a:solidFill>
                <a:latin typeface="Calibri"/>
              </a:rPr>
              <a:t> visar källans JSON och FHIR-resultatet sida vid sida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900" b="1" i="0">
                <a:solidFill>
                  <a:srgbClr val="222831"/>
                </a:solidFill>
                <a:latin typeface="Calibri"/>
              </a:rPr>
              <a:t>5.3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(extra) Källsystemet har en ny kod, </a:t>
            </a:r>
            <a:r>
              <a:rPr sz="1800" b="0" i="0">
                <a:solidFill>
                  <a:srgbClr val="0E6B74"/>
                </a:solidFill>
                <a:latin typeface="Consolas"/>
              </a:rPr>
              <a:t>DIG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. Lägg till den i ConceptMap:arna i </a:t>
            </a:r>
            <a:r>
              <a:rPr sz="1800" b="0" i="0">
                <a:solidFill>
                  <a:srgbClr val="0E6B74"/>
                </a:solidFill>
                <a:latin typeface="Consolas"/>
              </a:rPr>
              <a:t>besok.map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900" b="1" i="0">
                <a:solidFill>
                  <a:srgbClr val="222831"/>
                </a:solidFill>
                <a:latin typeface="Calibri"/>
              </a:rPr>
              <a:t>5.4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(demo) Fasaden med </a:t>
            </a:r>
            <a:r>
              <a:rPr sz="1800" b="0" i="0">
                <a:solidFill>
                  <a:srgbClr val="0E6B74"/>
                </a:solidFill>
                <a:latin typeface="Consolas"/>
              </a:rPr>
              <a:t>--fasad.sakerhet.aktiv=true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: vilket scope krävs för Encounter?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B6577"/>
                </a:solidFill>
                <a:latin typeface="Calibri"/>
              </a:rPr>
              <a:t>FHIR i praktiken  ·  Modul 5 – Utveckling med HAPI FHIR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B6577"/>
                </a:solidFill>
                <a:latin typeface="Calibri"/>
              </a:rPr>
              <a:t>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Sammanfattning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43584"/>
            <a:ext cx="11094415" cy="0"/>
          </a:xfrm>
          <a:prstGeom prst="line">
            <a:avLst/>
          </a:prstGeom>
          <a:ln w="12700">
            <a:solidFill>
              <a:srgbClr val="D5DA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B6577"/>
                </a:solidFill>
                <a:latin typeface="Calibri"/>
              </a:rPr>
              <a:t>FHIR i praktiken  ·  Modul 5 – Utveckling med HAPI FHIR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B6577"/>
                </a:solidFill>
                <a:latin typeface="Calibri"/>
              </a:rPr>
              <a:t>64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900" b="0" i="0">
                <a:solidFill>
                  <a:srgbClr val="222831"/>
                </a:solidFill>
                <a:latin typeface="Calibri"/>
              </a:rPr>
              <a:t>FHIR:s </a:t>
            </a:r>
            <a:r>
              <a:rPr sz="1900" b="1" i="0">
                <a:solidFill>
                  <a:srgbClr val="222831"/>
                </a:solidFill>
                <a:latin typeface="Calibri"/>
              </a:rPr>
              <a:t>REST-API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: ett fåtal interaktioner och kraftfull </a:t>
            </a:r>
            <a:r>
              <a:rPr sz="1900" b="1" i="0">
                <a:solidFill>
                  <a:srgbClr val="222831"/>
                </a:solidFill>
                <a:latin typeface="Calibri"/>
              </a:rPr>
              <a:t>sökning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900" b="0" i="0">
                <a:solidFill>
                  <a:srgbClr val="222831"/>
                </a:solidFill>
                <a:latin typeface="Calibri"/>
              </a:rPr>
              <a:t>Server med lagring, </a:t>
            </a:r>
            <a:r>
              <a:rPr sz="1900" b="1" i="0">
                <a:solidFill>
                  <a:srgbClr val="222831"/>
                </a:solidFill>
                <a:latin typeface="Calibri"/>
              </a:rPr>
              <a:t>fasad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eller integrationsplattform: välj efter behov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900" b="0" i="0">
                <a:solidFill>
                  <a:srgbClr val="222831"/>
                </a:solidFill>
                <a:latin typeface="Calibri"/>
              </a:rPr>
              <a:t>HAPI: </a:t>
            </a:r>
            <a:r>
              <a:rPr sz="1900" b="1" i="0">
                <a:solidFill>
                  <a:srgbClr val="222831"/>
                </a:solidFill>
                <a:latin typeface="Calibri"/>
              </a:rPr>
              <a:t>resource providers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, och CapabilityStatement skapas automatiskt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900" b="1" i="0">
                <a:solidFill>
                  <a:srgbClr val="222831"/>
                </a:solidFill>
                <a:latin typeface="Calibri"/>
              </a:rPr>
              <a:t>FML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beskriver mappningen som data: regler, ConceptMaps och logiska modeller för källan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900" b="0" i="0">
                <a:solidFill>
                  <a:srgbClr val="222831"/>
                </a:solidFill>
                <a:latin typeface="Calibri"/>
              </a:rPr>
              <a:t>Det svåra är </a:t>
            </a:r>
            <a:r>
              <a:rPr sz="1900" b="1" i="0">
                <a:solidFill>
                  <a:srgbClr val="222831"/>
                </a:solidFill>
                <a:latin typeface="Calibri"/>
              </a:rPr>
              <a:t>mappningen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: kodverk, tidszoner, identitet och saknade värden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900" b="0" i="0">
                <a:solidFill>
                  <a:srgbClr val="222831"/>
                </a:solidFill>
                <a:latin typeface="Calibri"/>
              </a:rPr>
              <a:t>Säkerhet i lager: TLS, autentisering, </a:t>
            </a:r>
            <a:r>
              <a:rPr sz="1900" b="1" i="0">
                <a:solidFill>
                  <a:srgbClr val="222831"/>
                </a:solidFill>
                <a:latin typeface="Calibri"/>
              </a:rPr>
              <a:t>SMART/OAuth-scopes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, loggning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900" b="1" i="0">
                <a:solidFill>
                  <a:srgbClr val="222831"/>
                </a:solidFill>
                <a:latin typeface="Calibri"/>
              </a:rPr>
              <a:t>IHE-profiler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beskriver vanliga integrationsmönster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03920" y="1508760"/>
            <a:ext cx="3108960" cy="2377440"/>
          </a:xfrm>
          <a:prstGeom prst="roundRect">
            <a:avLst>
              <a:gd name="adj" fmla="val 12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0" i="0">
                <a:solidFill>
                  <a:srgbClr val="FFFFFF"/>
                </a:solidFill>
                <a:latin typeface="Calibri"/>
              </a:rPr>
              <a:t>Härnäst</a:t>
            </a:r>
          </a:p>
          <a:p>
            <a:pPr algn="ctr"/>
          </a:p>
          <a:p>
            <a:pPr algn="ctr"/>
            <a:r>
              <a:rPr sz="1600" b="0" i="0">
                <a:solidFill>
                  <a:srgbClr val="FFFFFF"/>
                </a:solidFill>
                <a:latin typeface="Calibri"/>
              </a:rPr>
              <a:t>Modul 6</a:t>
            </a:r>
          </a:p>
          <a:p>
            <a:pPr algn="ctr"/>
            <a:r>
              <a:rPr sz="1600" b="0" i="0">
                <a:solidFill>
                  <a:srgbClr val="FFFFFF"/>
                </a:solidFill>
                <a:latin typeface="Calibri"/>
              </a:rPr>
              <a:t>Följsamhet, CapabilityStatement och validering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600" b="1" i="0">
                <a:solidFill>
                  <a:srgbClr val="E8772E"/>
                </a:solidFill>
                <a:latin typeface="Calibri"/>
              </a:rPr>
              <a:t>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574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Följsamhet, krav och validering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154680"/>
            <a:ext cx="67665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D9EEEF"/>
                </a:solidFill>
                <a:latin typeface="Calibri"/>
              </a:rPr>
              <a:t>Efter modulen kan du …</a:t>
            </a:r>
          </a:p>
          <a:p>
            <a:pPr>
              <a:spcBef>
                <a:spcPts val="600"/>
              </a:spcBef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›  förklara vad följsamhet mot en IG innebär</a:t>
            </a:r>
          </a:p>
          <a:p>
            <a:pPr>
              <a:spcBef>
                <a:spcPts val="600"/>
              </a:spcBef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›  läsa och skriva ett CapabilityStatement</a:t>
            </a:r>
          </a:p>
          <a:p>
            <a:pPr>
              <a:spcBef>
                <a:spcPts val="600"/>
              </a:spcBef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›  använda capability discovery</a:t>
            </a:r>
          </a:p>
          <a:p>
            <a:pPr>
              <a:spcBef>
                <a:spcPts val="600"/>
              </a:spcBef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›  validera instanser och tolka resultatet</a:t>
            </a:r>
          </a:p>
          <a:p>
            <a:pPr>
              <a:spcBef>
                <a:spcPts val="600"/>
              </a:spcBef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›  kravställa mot en IG med krav som går att verifiera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46720" y="3154680"/>
            <a:ext cx="3566160" cy="2651760"/>
          </a:xfrm>
          <a:prstGeom prst="roundRect">
            <a:avLst>
              <a:gd name="adj" fmla="val 6000"/>
            </a:avLst>
          </a:prstGeom>
          <a:solidFill>
            <a:srgbClr val="263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28600" rIns="228600" tIns="182880" wrap="square"/>
          <a:lstStyle/>
          <a:p>
            <a:pPr algn="l"/>
            <a:r>
              <a:rPr sz="1600" b="1" i="0">
                <a:solidFill>
                  <a:srgbClr val="E8772E"/>
                </a:solidFill>
                <a:latin typeface="Calibri"/>
              </a:rPr>
              <a:t>50 minuter</a:t>
            </a:r>
          </a:p>
          <a:p>
            <a:pPr>
              <a:spcBef>
                <a:spcPts val="800"/>
              </a:spcBef>
            </a:pPr>
            <a:r>
              <a:rPr sz="1500" b="1" i="0">
                <a:solidFill>
                  <a:srgbClr val="FFFFFF"/>
                </a:solidFill>
                <a:latin typeface="Calibri"/>
              </a:rPr>
              <a:t>20 min  </a:t>
            </a:r>
            <a:r>
              <a:rPr sz="1500" b="0" i="0">
                <a:solidFill>
                  <a:srgbClr val="D5DAE1"/>
                </a:solidFill>
                <a:latin typeface="Calibri"/>
              </a:rPr>
              <a:t>Genomgång och demo</a:t>
            </a:r>
          </a:p>
          <a:p>
            <a:pPr>
              <a:spcBef>
                <a:spcPts val="800"/>
              </a:spcBef>
            </a:pPr>
            <a:r>
              <a:rPr sz="1500" b="1" i="0">
                <a:solidFill>
                  <a:srgbClr val="FFFFFF"/>
                </a:solidFill>
                <a:latin typeface="Calibri"/>
              </a:rPr>
              <a:t>25 min  </a:t>
            </a:r>
            <a:r>
              <a:rPr sz="1500" b="0" i="0">
                <a:solidFill>
                  <a:srgbClr val="D5DAE1"/>
                </a:solidFill>
                <a:latin typeface="Calibri"/>
              </a:rPr>
              <a:t>Övningar 6.2–6.4</a:t>
            </a:r>
          </a:p>
          <a:p>
            <a:pPr>
              <a:spcBef>
                <a:spcPts val="800"/>
              </a:spcBef>
            </a:pPr>
            <a:r>
              <a:rPr sz="1500" b="1" i="0">
                <a:solidFill>
                  <a:srgbClr val="FFFFFF"/>
                </a:solidFill>
                <a:latin typeface="Calibri"/>
              </a:rPr>
              <a:t> 5 min  </a:t>
            </a:r>
            <a:r>
              <a:rPr sz="1500" b="0" i="0">
                <a:solidFill>
                  <a:srgbClr val="D5DAE1"/>
                </a:solidFill>
                <a:latin typeface="Calibri"/>
              </a:rPr>
              <a:t>Summering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5DAE1"/>
                </a:solidFill>
                <a:latin typeface="Calibri"/>
              </a:rPr>
              <a:t>FHIR i praktiken  ·  Modul 6 – Följsamhet, krav och validering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41908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D5DAE1"/>
                </a:solidFill>
                <a:latin typeface="Calibri"/>
              </a:rPr>
              <a:t>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Vad betyder följsamhet?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43584"/>
            <a:ext cx="11094415" cy="0"/>
          </a:xfrm>
          <a:prstGeom prst="line">
            <a:avLst/>
          </a:prstGeom>
          <a:ln w="12700">
            <a:solidFill>
              <a:srgbClr val="D5DA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B6577"/>
                </a:solidFill>
                <a:latin typeface="Calibri"/>
              </a:rPr>
              <a:t>FHIR i praktiken  ·  Modul 6 – Följsamhet, krav och validering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B6577"/>
                </a:solidFill>
                <a:latin typeface="Calibri"/>
              </a:rPr>
              <a:t>66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5394960" cy="2377440"/>
          </a:xfrm>
          <a:prstGeom prst="roundRect">
            <a:avLst>
              <a:gd name="adj" fmla="val 12000"/>
            </a:avLst>
          </a:prstGeom>
          <a:solidFill>
            <a:srgbClr val="D9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222831"/>
                </a:solidFill>
                <a:latin typeface="Calibri"/>
              </a:rPr>
              <a:t>Data</a:t>
            </a:r>
          </a:p>
          <a:p>
            <a:pPr algn="ctr"/>
            <a:r>
              <a:rPr sz="1600" b="0" i="0">
                <a:solidFill>
                  <a:srgbClr val="222831"/>
                </a:solidFill>
                <a:latin typeface="Calibri"/>
              </a:rPr>
              <a:t>Är instansen giltig mot profilen?</a:t>
            </a:r>
          </a:p>
          <a:p>
            <a:pPr algn="ctr"/>
          </a:p>
          <a:p>
            <a:pPr algn="ctr"/>
            <a:r>
              <a:rPr sz="1600" b="0" i="0">
                <a:solidFill>
                  <a:srgbClr val="222831"/>
                </a:solidFill>
                <a:latin typeface="Calibri"/>
              </a:rPr>
              <a:t>Struktur · kardinalitet · datatyper · bindningar · invarianter</a:t>
            </a:r>
          </a:p>
          <a:p>
            <a:pPr algn="ctr"/>
          </a:p>
          <a:p>
            <a:pPr algn="ctr"/>
            <a:r>
              <a:rPr sz="1600" b="0" i="0">
                <a:solidFill>
                  <a:srgbClr val="222831"/>
                </a:solidFill>
                <a:latin typeface="Calibri"/>
              </a:rPr>
              <a:t>→ </a:t>
            </a:r>
            <a:r>
              <a:rPr sz="1600" b="1" i="0">
                <a:solidFill>
                  <a:srgbClr val="222831"/>
                </a:solidFill>
                <a:latin typeface="Calibri"/>
              </a:rPr>
              <a:t>Validering</a:t>
            </a:r>
            <a:r>
              <a:rPr sz="1600" b="0" i="0">
                <a:solidFill>
                  <a:srgbClr val="222831"/>
                </a:solidFill>
                <a:latin typeface="Calibri"/>
              </a:rPr>
              <a:t> (automatisk)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17320"/>
            <a:ext cx="5394960" cy="2377440"/>
          </a:xfrm>
          <a:prstGeom prst="roundRect">
            <a:avLst>
              <a:gd name="adj" fmla="val 12000"/>
            </a:avLst>
          </a:prstGeom>
          <a:solidFill>
            <a:srgbClr val="FC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222831"/>
                </a:solidFill>
                <a:latin typeface="Calibri"/>
              </a:rPr>
              <a:t>System</a:t>
            </a:r>
          </a:p>
          <a:p>
            <a:pPr algn="ctr"/>
            <a:r>
              <a:rPr sz="1600" b="0" i="0">
                <a:solidFill>
                  <a:srgbClr val="222831"/>
                </a:solidFill>
                <a:latin typeface="Calibri"/>
              </a:rPr>
              <a:t>Beter sig systemet som IG:n kräver?</a:t>
            </a:r>
          </a:p>
          <a:p>
            <a:pPr algn="ctr"/>
          </a:p>
          <a:p>
            <a:pPr algn="ctr"/>
            <a:r>
              <a:rPr sz="1600" b="0" i="0">
                <a:solidFill>
                  <a:srgbClr val="222831"/>
                </a:solidFill>
                <a:latin typeface="Calibri"/>
              </a:rPr>
              <a:t>Interaktioner · sökparametrar · Must Support · säkerhet · felhantering</a:t>
            </a:r>
          </a:p>
          <a:p>
            <a:pPr algn="ctr"/>
          </a:p>
          <a:p>
            <a:pPr algn="ctr"/>
            <a:r>
              <a:rPr sz="1600" b="0" i="0">
                <a:solidFill>
                  <a:srgbClr val="222831"/>
                </a:solidFill>
                <a:latin typeface="Calibri"/>
              </a:rPr>
              <a:t>→ </a:t>
            </a:r>
            <a:r>
              <a:rPr sz="1600" b="1" i="0">
                <a:solidFill>
                  <a:srgbClr val="222831"/>
                </a:solidFill>
                <a:latin typeface="Calibri"/>
              </a:rPr>
              <a:t>Test</a:t>
            </a:r>
            <a:r>
              <a:rPr sz="1600" b="0" i="0">
                <a:solidFill>
                  <a:srgbClr val="222831"/>
                </a:solidFill>
                <a:latin typeface="Calibri"/>
              </a:rPr>
              <a:t> av API-beteende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069080"/>
            <a:ext cx="1109441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800" b="0" i="0">
                <a:solidFill>
                  <a:srgbClr val="222831"/>
                </a:solidFill>
                <a:latin typeface="Calibri"/>
              </a:rPr>
              <a:t>IG:n ska uttrycka krav så att de går att </a:t>
            </a:r>
            <a:r>
              <a:rPr sz="1800" b="1" i="0">
                <a:solidFill>
                  <a:srgbClr val="222831"/>
                </a:solidFill>
                <a:latin typeface="Calibri"/>
              </a:rPr>
              <a:t>verifiera</a:t>
            </a:r>
            <a:r>
              <a:rPr sz="1800" b="0" i="0">
                <a:solidFill>
                  <a:srgbClr val="222831"/>
                </a:solidFill>
                <a:latin typeface="Calibri"/>
              </a:rPr>
              <a:t>: SHALL / SHOULD / MAY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800" b="1" i="0">
                <a:solidFill>
                  <a:srgbClr val="222831"/>
                </a:solidFill>
                <a:latin typeface="Calibri"/>
              </a:rPr>
              <a:t>Must Support</a:t>
            </a:r>
            <a:r>
              <a:rPr sz="1800" b="0" i="0">
                <a:solidFill>
                  <a:srgbClr val="222831"/>
                </a:solidFill>
                <a:latin typeface="Calibri"/>
              </a:rPr>
              <a:t> måste definieras för både avsändare och mottagare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800" b="1" i="0">
                <a:solidFill>
                  <a:srgbClr val="222831"/>
                </a:solidFill>
                <a:latin typeface="Calibri"/>
              </a:rPr>
              <a:t>CapabilityStatement</a:t>
            </a:r>
            <a:r>
              <a:rPr sz="1800" b="0" i="0">
                <a:solidFill>
                  <a:srgbClr val="222831"/>
                </a:solidFill>
                <a:latin typeface="Calibri"/>
              </a:rPr>
              <a:t> beskriver vad en server ska kunna (krav) och vad den faktiskt kan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Kravställa mot en IG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43584"/>
            <a:ext cx="11094415" cy="0"/>
          </a:xfrm>
          <a:prstGeom prst="line">
            <a:avLst/>
          </a:prstGeom>
          <a:ln w="12700">
            <a:solidFill>
              <a:srgbClr val="D5DA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B6577"/>
                </a:solidFill>
                <a:latin typeface="Calibri"/>
              </a:rPr>
              <a:t>FHIR i praktiken  ·  Modul 6 – Följsamhet, krav och validering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B6577"/>
                </a:solidFill>
                <a:latin typeface="Calibri"/>
              </a:rPr>
              <a:t>67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325880"/>
          <a:ext cx="11094414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9069"/>
                <a:gridCol w="5917021"/>
                <a:gridCol w="3328324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Kravområde</a:t>
                      </a:r>
                    </a:p>
                  </a:txBody>
                  <a:tcPr marL="73152" marR="73152" marT="36576" marB="36576" anchor="ctr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Exempel på verifierbart krav</a:t>
                      </a:r>
                    </a:p>
                  </a:txBody>
                  <a:tcPr marL="73152" marR="73152" marT="36576" marB="36576" anchor="ctr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Verifieras med</a:t>
                      </a:r>
                    </a:p>
                  </a:txBody>
                  <a:tcPr marL="73152" marR="73152" marT="36576" marB="36576" anchor="ctr">
                    <a:solidFill>
                      <a:srgbClr val="1B2A4A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831"/>
                          </a:solidFill>
                          <a:latin typeface="Calibri"/>
                        </a:rPr>
                        <a:t>IG och version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831"/>
                          </a:solidFill>
                          <a:latin typeface="Calibri"/>
                        </a:rPr>
                        <a:t>Lösningen SKA följa </a:t>
                      </a:r>
                      <a:r>
                        <a:rPr sz="1300" b="0" i="0">
                          <a:solidFill>
                            <a:srgbClr val="0E6B74"/>
                          </a:solidFill>
                          <a:latin typeface="Consolas"/>
                        </a:rPr>
                        <a:t>fhir.education.kursig#0.1.0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831"/>
                          </a:solidFill>
                          <a:latin typeface="Calibri"/>
                        </a:rPr>
                        <a:t>Granskning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831"/>
                          </a:solidFill>
                          <a:latin typeface="Calibri"/>
                        </a:rPr>
                        <a:t>Beroenden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831"/>
                          </a:solidFill>
                          <a:latin typeface="Calibri"/>
                        </a:rPr>
                        <a:t>Profilerna SKA bygga på </a:t>
                      </a:r>
                      <a:r>
                        <a:rPr sz="1300" b="0" i="0">
                          <a:solidFill>
                            <a:srgbClr val="0E6B74"/>
                          </a:solidFill>
                          <a:latin typeface="Consolas"/>
                        </a:rPr>
                        <a:t>hl7se.fhir.base#1.1.0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831"/>
                          </a:solidFill>
                          <a:latin typeface="Calibri"/>
                        </a:rPr>
                        <a:t>Granskning av paket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831"/>
                          </a:solidFill>
                          <a:latin typeface="Calibri"/>
                        </a:rPr>
                        <a:t>Data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831"/>
                          </a:solidFill>
                          <a:latin typeface="Calibri"/>
                        </a:rPr>
                        <a:t>Alla Encounter SKA validera utan fel mot EducationEncounter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831"/>
                          </a:solidFill>
                          <a:latin typeface="Calibri"/>
                        </a:rPr>
                        <a:t>FHIR Validator i test och CI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831"/>
                          </a:solidFill>
                          <a:latin typeface="Calibri"/>
                        </a:rPr>
                        <a:t>Must Support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831"/>
                          </a:solidFill>
                          <a:latin typeface="Calibri"/>
                        </a:rPr>
                        <a:t>Avsändaren SKA skicka MS-element när informationen finns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831"/>
                          </a:solidFill>
                          <a:latin typeface="Calibri"/>
                        </a:rPr>
                        <a:t>Testfall med ofullständiga data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831"/>
                          </a:solidFill>
                          <a:latin typeface="Calibri"/>
                        </a:rPr>
                        <a:t>API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831"/>
                          </a:solidFill>
                          <a:latin typeface="Calibri"/>
                        </a:rPr>
                        <a:t>Servern SKA ange </a:t>
                      </a:r>
                      <a:r>
                        <a:rPr sz="1300" b="0" i="0">
                          <a:solidFill>
                            <a:srgbClr val="0E6B74"/>
                          </a:solidFill>
                          <a:latin typeface="Consolas"/>
                        </a:rPr>
                        <a:t>EducationServerCapabilities</a:t>
                      </a:r>
                      <a:r>
                        <a:rPr sz="1400" b="0" i="0">
                          <a:solidFill>
                            <a:srgbClr val="222831"/>
                          </a:solidFill>
                          <a:latin typeface="Calibri"/>
                        </a:rPr>
                        <a:t> i </a:t>
                      </a:r>
                      <a:r>
                        <a:rPr sz="1300" b="0" i="0">
                          <a:solidFill>
                            <a:srgbClr val="0E6B74"/>
                          </a:solidFill>
                          <a:latin typeface="Consolas"/>
                        </a:rPr>
                        <a:t>instantiates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0E6B74"/>
                          </a:solidFill>
                          <a:latin typeface="Consolas"/>
                        </a:rPr>
                        <a:t>GET /metadata</a:t>
                      </a:r>
                      <a:r>
                        <a:rPr sz="1400" b="0" i="0">
                          <a:solidFill>
                            <a:srgbClr val="222831"/>
                          </a:solidFill>
                          <a:latin typeface="Calibri"/>
                        </a:rPr>
                        <a:t>, Inferno/Touchstone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831"/>
                          </a:solidFill>
                          <a:latin typeface="Calibri"/>
                        </a:rPr>
                        <a:t>Säkerhet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831"/>
                          </a:solidFill>
                          <a:latin typeface="Calibri"/>
                        </a:rPr>
                        <a:t>Åtkomst SKA kräva SMART Backend Services, scope </a:t>
                      </a:r>
                      <a:r>
                        <a:rPr sz="1300" b="0" i="0">
                          <a:solidFill>
                            <a:srgbClr val="0E6B74"/>
                          </a:solidFill>
                          <a:latin typeface="Consolas"/>
                        </a:rPr>
                        <a:t>system/Encounter.rs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831"/>
                          </a:solidFill>
                          <a:latin typeface="Calibri"/>
                        </a:rPr>
                        <a:t>Säkerhetstest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831"/>
                          </a:solidFill>
                          <a:latin typeface="Calibri"/>
                        </a:rPr>
                        <a:t>Terminologi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0E6B74"/>
                          </a:solidFill>
                          <a:latin typeface="Consolas"/>
                        </a:rPr>
                        <a:t>Encounter.type</a:t>
                      </a:r>
                      <a:r>
                        <a:rPr sz="1400" b="0" i="0">
                          <a:solidFill>
                            <a:srgbClr val="222831"/>
                          </a:solidFill>
                          <a:latin typeface="Calibri"/>
                        </a:rPr>
                        <a:t> SKA kodas från </a:t>
                      </a:r>
                      <a:r>
                        <a:rPr sz="1300" b="0" i="0">
                          <a:solidFill>
                            <a:srgbClr val="0E6B74"/>
                          </a:solidFill>
                          <a:latin typeface="Consolas"/>
                        </a:rPr>
                        <a:t>kontakttyp-vs</a:t>
                      </a:r>
                      <a:r>
                        <a:rPr sz="1400" b="0" i="0">
                          <a:solidFill>
                            <a:srgbClr val="222831"/>
                          </a:solidFill>
                          <a:latin typeface="Calibri"/>
                        </a:rPr>
                        <a:t> (version X)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831"/>
                          </a:solidFill>
                          <a:latin typeface="Calibri"/>
                        </a:rPr>
                        <a:t>Validering mot terminologiserver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48640" y="5532120"/>
            <a:ext cx="11094415" cy="640080"/>
          </a:xfrm>
          <a:prstGeom prst="rect">
            <a:avLst/>
          </a:prstGeom>
          <a:solidFill>
            <a:srgbClr val="D9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/>
          <a:lstStyle/>
          <a:p>
            <a:pPr algn="l"/>
            <a:r>
              <a:rPr sz="1500" b="0" i="0">
                <a:solidFill>
                  <a:srgbClr val="222831"/>
                </a:solidFill>
                <a:latin typeface="Calibri"/>
              </a:rPr>
              <a:t>Peka ut IG:n med </a:t>
            </a:r>
            <a:r>
              <a:rPr sz="1500" b="1" i="0">
                <a:solidFill>
                  <a:srgbClr val="222831"/>
                </a:solidFill>
                <a:latin typeface="Calibri"/>
              </a:rPr>
              <a:t>paket-id och version</a:t>
            </a:r>
            <a:r>
              <a:rPr sz="1500" b="0" i="0">
                <a:solidFill>
                  <a:srgbClr val="222831"/>
                </a:solidFill>
                <a:latin typeface="Calibri"/>
              </a:rPr>
              <a:t>  ·  skriv </a:t>
            </a:r>
            <a:r>
              <a:rPr sz="1500" b="1" i="0">
                <a:solidFill>
                  <a:srgbClr val="222831"/>
                </a:solidFill>
                <a:latin typeface="Calibri"/>
              </a:rPr>
              <a:t>SKA / BÖR / KAN</a:t>
            </a:r>
            <a:r>
              <a:rPr sz="1500" b="0" i="0">
                <a:solidFill>
                  <a:srgbClr val="222831"/>
                </a:solidFill>
                <a:latin typeface="Calibri"/>
              </a:rPr>
              <a:t>  ·  ange </a:t>
            </a:r>
            <a:r>
              <a:rPr sz="1500" b="1" i="0">
                <a:solidFill>
                  <a:srgbClr val="222831"/>
                </a:solidFill>
                <a:latin typeface="Calibri"/>
              </a:rPr>
              <a:t>hur</a:t>
            </a:r>
            <a:r>
              <a:rPr sz="1500" b="0" i="0">
                <a:solidFill>
                  <a:srgbClr val="222831"/>
                </a:solidFill>
                <a:latin typeface="Calibri"/>
              </a:rPr>
              <a:t> varje krav verifieras  ·  lägg API-krav i ett </a:t>
            </a:r>
            <a:r>
              <a:rPr sz="1500" b="1" i="0">
                <a:solidFill>
                  <a:srgbClr val="222831"/>
                </a:solidFill>
                <a:latin typeface="Calibri"/>
              </a:rPr>
              <a:t>CapabilityStatement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5532120"/>
            <a:ext cx="64008" cy="64008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CapabilityStatement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43584"/>
            <a:ext cx="11094415" cy="0"/>
          </a:xfrm>
          <a:prstGeom prst="line">
            <a:avLst/>
          </a:prstGeom>
          <a:ln w="12700">
            <a:solidFill>
              <a:srgbClr val="D5DA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B6577"/>
                </a:solidFill>
                <a:latin typeface="Calibri"/>
              </a:rPr>
              <a:t>FHIR i praktiken  ·  Modul 6 – Följsamhet, krav och validering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B6577"/>
                </a:solidFill>
                <a:latin typeface="Calibri"/>
              </a:rPr>
              <a:t>68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325880"/>
          <a:ext cx="6766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2377440"/>
                <a:gridCol w="274320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kind</a:t>
                      </a:r>
                    </a:p>
                  </a:txBody>
                  <a:tcPr marL="73152" marR="73152" marT="36576" marB="36576" anchor="ctr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Beskriver</a:t>
                      </a:r>
                    </a:p>
                  </a:txBody>
                  <a:tcPr marL="73152" marR="73152" marT="36576" marB="36576" anchor="ctr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Exempel</a:t>
                      </a:r>
                    </a:p>
                  </a:txBody>
                  <a:tcPr marL="73152" marR="73152" marT="36576" marB="36576" anchor="ctr">
                    <a:solidFill>
                      <a:srgbClr val="1B2A4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instance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En faktisk, driftsatt server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Det </a:t>
                      </a:r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GET [bas]/metadata</a:t>
                      </a:r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 returnerar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capability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En mjukvaruprodukt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"HAPI FHIR JPA Server 8.x kan …"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requirements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Krav, t.ex. i en IG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"En server som följer kurs-IG:n SKA …"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498079" y="1280160"/>
            <a:ext cx="4114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500" b="0" i="0">
                <a:solidFill>
                  <a:srgbClr val="0E6B74"/>
                </a:solidFill>
                <a:latin typeface="Consolas"/>
              </a:rPr>
              <a:t>rest.resource.type</a:t>
            </a:r>
            <a:r>
              <a:rPr sz="1600" b="0" i="0">
                <a:solidFill>
                  <a:srgbClr val="222831"/>
                </a:solidFill>
                <a:latin typeface="Calibri"/>
              </a:rPr>
              <a:t> + </a:t>
            </a:r>
            <a:r>
              <a:rPr sz="1500" b="0" i="0">
                <a:solidFill>
                  <a:srgbClr val="0E6B74"/>
                </a:solidFill>
                <a:latin typeface="Consolas"/>
              </a:rPr>
              <a:t>supportedProfile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500" b="0" i="0">
                <a:solidFill>
                  <a:srgbClr val="0E6B74"/>
                </a:solidFill>
                <a:latin typeface="Consolas"/>
              </a:rPr>
              <a:t>interaction</a:t>
            </a:r>
            <a:r>
              <a:rPr sz="1600" b="0" i="0">
                <a:solidFill>
                  <a:srgbClr val="222831"/>
                </a:solidFill>
                <a:latin typeface="Calibri"/>
              </a:rPr>
              <a:t>: read, search-type, create …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500" b="0" i="0">
                <a:solidFill>
                  <a:srgbClr val="0E6B74"/>
                </a:solidFill>
                <a:latin typeface="Consolas"/>
              </a:rPr>
              <a:t>searchParam</a:t>
            </a:r>
            <a:r>
              <a:rPr sz="1600" b="0" i="0">
                <a:solidFill>
                  <a:srgbClr val="222831"/>
                </a:solidFill>
                <a:latin typeface="Calibri"/>
              </a:rPr>
              <a:t>: namn, typ, definition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500" b="0" i="0">
                <a:solidFill>
                  <a:srgbClr val="0E6B74"/>
                </a:solidFill>
                <a:latin typeface="Consolas"/>
              </a:rPr>
              <a:t>rest.security</a:t>
            </a:r>
            <a:r>
              <a:rPr sz="1600" b="0" i="0">
                <a:solidFill>
                  <a:srgbClr val="222831"/>
                </a:solidFill>
                <a:latin typeface="Calibri"/>
              </a:rPr>
              <a:t>: t.ex. SMART on FHIR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500" b="0" i="0">
                <a:solidFill>
                  <a:srgbClr val="0E6B74"/>
                </a:solidFill>
                <a:latin typeface="Consolas"/>
              </a:rPr>
              <a:t>instantiates</a:t>
            </a:r>
            <a:r>
              <a:rPr sz="1600" b="0" i="0">
                <a:solidFill>
                  <a:srgbClr val="222831"/>
                </a:solidFill>
                <a:latin typeface="Calibri"/>
              </a:rPr>
              <a:t>: "jag uppfyller kraven i …"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500" b="0" i="0">
                <a:solidFill>
                  <a:srgbClr val="0E6B74"/>
                </a:solidFill>
                <a:latin typeface="Consolas"/>
              </a:rPr>
              <a:t>implementationGuide</a:t>
            </a:r>
            <a:r>
              <a:rPr sz="1600" b="0" i="0">
                <a:solidFill>
                  <a:srgbClr val="222831"/>
                </a:solidFill>
                <a:latin typeface="Calibri"/>
              </a:rPr>
              <a:t>: IG:er som följs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600" b="0" i="0">
                <a:solidFill>
                  <a:srgbClr val="222831"/>
                </a:solidFill>
                <a:latin typeface="Calibri"/>
              </a:rPr>
              <a:t>Expectation-extension: </a:t>
            </a:r>
            <a:r>
              <a:rPr sz="1600" b="1" i="0">
                <a:solidFill>
                  <a:srgbClr val="222831"/>
                </a:solidFill>
                <a:latin typeface="Calibri"/>
              </a:rPr>
              <a:t>SHALL / SHOULD / MAY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840480"/>
            <a:ext cx="6766560" cy="2194560"/>
          </a:xfrm>
          <a:prstGeom prst="rect">
            <a:avLst/>
          </a:prstGeom>
          <a:solidFill>
            <a:srgbClr val="F4F6F8"/>
          </a:solidFill>
          <a:ln w="9525">
            <a:solidFill>
              <a:srgbClr val="D5D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01168" tIns="91440"/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222831"/>
                </a:solidFill>
                <a:latin typeface="Consolas"/>
              </a:rPr>
              <a:t/>
            </a:r>
            <a:r>
              <a:rPr sz="1250" b="0" i="0">
                <a:solidFill>
                  <a:srgbClr val="0E6B74"/>
                </a:solidFill>
                <a:latin typeface="Consolas"/>
              </a:rPr>
              <a:t>"rest"</a:t>
            </a:r>
            <a:r>
              <a:rPr sz="1250" b="0" i="0">
                <a:solidFill>
                  <a:srgbClr val="222831"/>
                </a:solidFill>
                <a:latin typeface="Consolas"/>
              </a:rPr>
              <a:t>:</a:t>
            </a:r>
            <a:r>
              <a:rPr sz="1250" b="0" i="0">
                <a:solidFill>
                  <a:srgbClr val="222831"/>
                </a:solidFill>
                <a:latin typeface="Consolas"/>
              </a:rPr>
              <a:t> [ {</a:t>
            </a:r>
          </a:p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222831"/>
                </a:solidFill>
                <a:latin typeface="Consolas"/>
              </a:rPr>
              <a:t>  </a:t>
            </a:r>
            <a:r>
              <a:rPr sz="1250" b="0" i="0">
                <a:solidFill>
                  <a:srgbClr val="0E6B74"/>
                </a:solidFill>
                <a:latin typeface="Consolas"/>
              </a:rPr>
              <a:t>"mode"</a:t>
            </a:r>
            <a:r>
              <a:rPr sz="1250" b="0" i="0">
                <a:solidFill>
                  <a:srgbClr val="222831"/>
                </a:solidFill>
                <a:latin typeface="Consolas"/>
              </a:rPr>
              <a:t>:</a:t>
            </a:r>
            <a:r>
              <a:rPr sz="1250" b="0" i="0">
                <a:solidFill>
                  <a:srgbClr val="222831"/>
                </a:solidFill>
                <a:latin typeface="Consolas"/>
              </a:rPr>
              <a:t> </a:t>
            </a:r>
            <a:r>
              <a:rPr sz="1250" b="0" i="0">
                <a:solidFill>
                  <a:srgbClr val="A64B00"/>
                </a:solidFill>
                <a:latin typeface="Consolas"/>
              </a:rPr>
              <a:t>"server"</a:t>
            </a:r>
            <a:r>
              <a:rPr sz="1250" b="0" i="0">
                <a:solidFill>
                  <a:srgbClr val="222831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222831"/>
                </a:solidFill>
                <a:latin typeface="Consolas"/>
              </a:rPr>
              <a:t>  </a:t>
            </a:r>
            <a:r>
              <a:rPr sz="1250" b="0" i="0">
                <a:solidFill>
                  <a:srgbClr val="0E6B74"/>
                </a:solidFill>
                <a:latin typeface="Consolas"/>
              </a:rPr>
              <a:t>"resource"</a:t>
            </a:r>
            <a:r>
              <a:rPr sz="1250" b="0" i="0">
                <a:solidFill>
                  <a:srgbClr val="222831"/>
                </a:solidFill>
                <a:latin typeface="Consolas"/>
              </a:rPr>
              <a:t>:</a:t>
            </a:r>
            <a:r>
              <a:rPr sz="1250" b="0" i="0">
                <a:solidFill>
                  <a:srgbClr val="222831"/>
                </a:solidFill>
                <a:latin typeface="Consolas"/>
              </a:rPr>
              <a:t> [ {</a:t>
            </a:r>
          </a:p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222831"/>
                </a:solidFill>
                <a:latin typeface="Consolas"/>
              </a:rPr>
              <a:t>    </a:t>
            </a:r>
            <a:r>
              <a:rPr sz="1250" b="0" i="0">
                <a:solidFill>
                  <a:srgbClr val="0E6B74"/>
                </a:solidFill>
                <a:latin typeface="Consolas"/>
              </a:rPr>
              <a:t>"type"</a:t>
            </a:r>
            <a:r>
              <a:rPr sz="1250" b="0" i="0">
                <a:solidFill>
                  <a:srgbClr val="222831"/>
                </a:solidFill>
                <a:latin typeface="Consolas"/>
              </a:rPr>
              <a:t>:</a:t>
            </a:r>
            <a:r>
              <a:rPr sz="1250" b="0" i="0">
                <a:solidFill>
                  <a:srgbClr val="222831"/>
                </a:solidFill>
                <a:latin typeface="Consolas"/>
              </a:rPr>
              <a:t> </a:t>
            </a:r>
            <a:r>
              <a:rPr sz="1250" b="0" i="0">
                <a:solidFill>
                  <a:srgbClr val="A64B00"/>
                </a:solidFill>
                <a:latin typeface="Consolas"/>
              </a:rPr>
              <a:t>"Patient"</a:t>
            </a:r>
            <a:r>
              <a:rPr sz="1250" b="0" i="0">
                <a:solidFill>
                  <a:srgbClr val="222831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222831"/>
                </a:solidFill>
                <a:latin typeface="Consolas"/>
              </a:rPr>
              <a:t>    </a:t>
            </a:r>
            <a:r>
              <a:rPr sz="1250" b="0" i="0">
                <a:solidFill>
                  <a:srgbClr val="0E6B74"/>
                </a:solidFill>
                <a:latin typeface="Consolas"/>
              </a:rPr>
              <a:t>"supportedProfile"</a:t>
            </a:r>
            <a:r>
              <a:rPr sz="1250" b="0" i="0">
                <a:solidFill>
                  <a:srgbClr val="222831"/>
                </a:solidFill>
                <a:latin typeface="Consolas"/>
              </a:rPr>
              <a:t>:</a:t>
            </a:r>
            <a:r>
              <a:rPr sz="1250" b="0" i="0">
                <a:solidFill>
                  <a:srgbClr val="222831"/>
                </a:solidFill>
                <a:latin typeface="Consolas"/>
              </a:rPr>
              <a:t> [ </a:t>
            </a:r>
            <a:r>
              <a:rPr sz="1250" b="0" i="0">
                <a:solidFill>
                  <a:srgbClr val="A64B00"/>
                </a:solidFill>
                <a:latin typeface="Consolas"/>
              </a:rPr>
              <a:t>".../EducationPatient"</a:t>
            </a:r>
            <a:r>
              <a:rPr sz="1250" b="0" i="0">
                <a:solidFill>
                  <a:srgbClr val="222831"/>
                </a:solidFill>
                <a:latin typeface="Consolas"/>
              </a:rPr>
              <a:t> ],</a:t>
            </a:r>
          </a:p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222831"/>
                </a:solidFill>
                <a:latin typeface="Consolas"/>
              </a:rPr>
              <a:t>    </a:t>
            </a:r>
            <a:r>
              <a:rPr sz="1250" b="0" i="0">
                <a:solidFill>
                  <a:srgbClr val="0E6B74"/>
                </a:solidFill>
                <a:latin typeface="Consolas"/>
              </a:rPr>
              <a:t>"interaction"</a:t>
            </a:r>
            <a:r>
              <a:rPr sz="1250" b="0" i="0">
                <a:solidFill>
                  <a:srgbClr val="222831"/>
                </a:solidFill>
                <a:latin typeface="Consolas"/>
              </a:rPr>
              <a:t>:</a:t>
            </a:r>
            <a:r>
              <a:rPr sz="1250" b="0" i="0">
                <a:solidFill>
                  <a:srgbClr val="222831"/>
                </a:solidFill>
                <a:latin typeface="Consolas"/>
              </a:rPr>
              <a:t> [ { </a:t>
            </a:r>
            <a:r>
              <a:rPr sz="1250" b="0" i="0">
                <a:solidFill>
                  <a:srgbClr val="A64B00"/>
                </a:solidFill>
                <a:latin typeface="Consolas"/>
              </a:rPr>
              <a:t>"code"</a:t>
            </a:r>
            <a:r>
              <a:rPr sz="1250" b="0" i="0">
                <a:solidFill>
                  <a:srgbClr val="222831"/>
                </a:solidFill>
                <a:latin typeface="Consolas"/>
              </a:rPr>
              <a:t>: </a:t>
            </a:r>
            <a:r>
              <a:rPr sz="1250" b="0" i="0">
                <a:solidFill>
                  <a:srgbClr val="A64B00"/>
                </a:solidFill>
                <a:latin typeface="Consolas"/>
              </a:rPr>
              <a:t>"read"</a:t>
            </a:r>
            <a:r>
              <a:rPr sz="1250" b="0" i="0">
                <a:solidFill>
                  <a:srgbClr val="222831"/>
                </a:solidFill>
                <a:latin typeface="Consolas"/>
              </a:rPr>
              <a:t> }, { </a:t>
            </a:r>
            <a:r>
              <a:rPr sz="1250" b="0" i="0">
                <a:solidFill>
                  <a:srgbClr val="A64B00"/>
                </a:solidFill>
                <a:latin typeface="Consolas"/>
              </a:rPr>
              <a:t>"code"</a:t>
            </a:r>
            <a:r>
              <a:rPr sz="1250" b="0" i="0">
                <a:solidFill>
                  <a:srgbClr val="222831"/>
                </a:solidFill>
                <a:latin typeface="Consolas"/>
              </a:rPr>
              <a:t>: </a:t>
            </a:r>
            <a:r>
              <a:rPr sz="1250" b="0" i="0">
                <a:solidFill>
                  <a:srgbClr val="A64B00"/>
                </a:solidFill>
                <a:latin typeface="Consolas"/>
              </a:rPr>
              <a:t>"search-type"</a:t>
            </a:r>
            <a:r>
              <a:rPr sz="1250" b="0" i="0">
                <a:solidFill>
                  <a:srgbClr val="222831"/>
                </a:solidFill>
                <a:latin typeface="Consolas"/>
              </a:rPr>
              <a:t> } ],</a:t>
            </a:r>
          </a:p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222831"/>
                </a:solidFill>
                <a:latin typeface="Consolas"/>
              </a:rPr>
              <a:t>    </a:t>
            </a:r>
            <a:r>
              <a:rPr sz="1250" b="0" i="0">
                <a:solidFill>
                  <a:srgbClr val="0E6B74"/>
                </a:solidFill>
                <a:latin typeface="Consolas"/>
              </a:rPr>
              <a:t>"searchParam"</a:t>
            </a:r>
            <a:r>
              <a:rPr sz="1250" b="0" i="0">
                <a:solidFill>
                  <a:srgbClr val="222831"/>
                </a:solidFill>
                <a:latin typeface="Consolas"/>
              </a:rPr>
              <a:t>:</a:t>
            </a:r>
            <a:r>
              <a:rPr sz="1250" b="0" i="0">
                <a:solidFill>
                  <a:srgbClr val="222831"/>
                </a:solidFill>
                <a:latin typeface="Consolas"/>
              </a:rPr>
              <a:t> [ { </a:t>
            </a:r>
            <a:r>
              <a:rPr sz="1250" b="0" i="0">
                <a:solidFill>
                  <a:srgbClr val="A64B00"/>
                </a:solidFill>
                <a:latin typeface="Consolas"/>
              </a:rPr>
              <a:t>"name"</a:t>
            </a:r>
            <a:r>
              <a:rPr sz="1250" b="0" i="0">
                <a:solidFill>
                  <a:srgbClr val="222831"/>
                </a:solidFill>
                <a:latin typeface="Consolas"/>
              </a:rPr>
              <a:t>: </a:t>
            </a:r>
            <a:r>
              <a:rPr sz="1250" b="0" i="0">
                <a:solidFill>
                  <a:srgbClr val="A64B00"/>
                </a:solidFill>
                <a:latin typeface="Consolas"/>
              </a:rPr>
              <a:t>"identifier"</a:t>
            </a:r>
            <a:r>
              <a:rPr sz="1250" b="0" i="0">
                <a:solidFill>
                  <a:srgbClr val="222831"/>
                </a:solidFill>
                <a:latin typeface="Consolas"/>
              </a:rPr>
              <a:t>, </a:t>
            </a:r>
            <a:r>
              <a:rPr sz="1250" b="0" i="0">
                <a:solidFill>
                  <a:srgbClr val="A64B00"/>
                </a:solidFill>
                <a:latin typeface="Consolas"/>
              </a:rPr>
              <a:t>"type"</a:t>
            </a:r>
            <a:r>
              <a:rPr sz="1250" b="0" i="0">
                <a:solidFill>
                  <a:srgbClr val="222831"/>
                </a:solidFill>
                <a:latin typeface="Consolas"/>
              </a:rPr>
              <a:t>: </a:t>
            </a:r>
            <a:r>
              <a:rPr sz="1250" b="0" i="0">
                <a:solidFill>
                  <a:srgbClr val="A64B00"/>
                </a:solidFill>
                <a:latin typeface="Consolas"/>
              </a:rPr>
              <a:t>"token"</a:t>
            </a:r>
            <a:r>
              <a:rPr sz="1250" b="0" i="0">
                <a:solidFill>
                  <a:srgbClr val="222831"/>
                </a:solidFill>
                <a:latin typeface="Consolas"/>
              </a:rPr>
              <a:t> } ]</a:t>
            </a:r>
          </a:p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222831"/>
                </a:solidFill>
                <a:latin typeface="Consolas"/>
              </a:rPr>
              <a:t>  } ]</a:t>
            </a:r>
          </a:p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222831"/>
                </a:solidFill>
                <a:latin typeface="Consolas"/>
              </a:rPr>
              <a:t>} ]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840480"/>
            <a:ext cx="54864" cy="219456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Krav som CapabilityStatement i FSH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43584"/>
            <a:ext cx="11094415" cy="0"/>
          </a:xfrm>
          <a:prstGeom prst="line">
            <a:avLst/>
          </a:prstGeom>
          <a:ln w="12700">
            <a:solidFill>
              <a:srgbClr val="D5DA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B6577"/>
                </a:solidFill>
                <a:latin typeface="Calibri"/>
              </a:rPr>
              <a:t>FHIR i praktiken  ·  Modul 6 – Följsamhet, krav och validering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B6577"/>
                </a:solidFill>
                <a:latin typeface="Calibri"/>
              </a:rPr>
              <a:t>69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5B6577"/>
                </a:solidFill>
                <a:latin typeface="Calibri"/>
              </a:rPr>
              <a:t>input/fsh/capabilities/EducationServerCapabilities.fsh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664208"/>
            <a:ext cx="8229600" cy="4462272"/>
          </a:xfrm>
          <a:prstGeom prst="rect">
            <a:avLst/>
          </a:prstGeom>
          <a:solidFill>
            <a:srgbClr val="F4F6F8"/>
          </a:solidFill>
          <a:ln w="9525">
            <a:solidFill>
              <a:srgbClr val="D5D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01168" tIns="91440"/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E6B74"/>
                </a:solidFill>
                <a:latin typeface="Consolas"/>
              </a:rPr>
              <a:t>Instance:</a:t>
            </a:r>
            <a:r>
              <a:rPr sz="1300" b="0" i="0">
                <a:solidFill>
                  <a:srgbClr val="222831"/>
                </a:solidFill>
                <a:latin typeface="Consolas"/>
              </a:rPr>
              <a:t> EducationServerCapabilities</a:t>
            </a:r>
          </a:p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E6B74"/>
                </a:solidFill>
                <a:latin typeface="Consolas"/>
              </a:rPr>
              <a:t>InstanceOf:</a:t>
            </a:r>
            <a:r>
              <a:rPr sz="1300" b="0" i="0">
                <a:solidFill>
                  <a:srgbClr val="222831"/>
                </a:solidFill>
                <a:latin typeface="Consolas"/>
              </a:rPr>
              <a:t> CapabilityStatement</a:t>
            </a:r>
          </a:p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E6B74"/>
                </a:solidFill>
                <a:latin typeface="Consolas"/>
              </a:rPr>
              <a:t>Usage:</a:t>
            </a:r>
            <a:r>
              <a:rPr sz="1300" b="0" i="0">
                <a:solidFill>
                  <a:srgbClr val="222831"/>
                </a:solidFill>
                <a:latin typeface="Consolas"/>
              </a:rPr>
              <a:t> #definition</a:t>
            </a:r>
          </a:p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222831"/>
                </a:solidFill>
                <a:latin typeface="Consolas"/>
              </a:rPr>
              <a:t>* name = </a:t>
            </a:r>
            <a:r>
              <a:rPr sz="1300" b="0" i="0">
                <a:solidFill>
                  <a:srgbClr val="A64B00"/>
                </a:solidFill>
                <a:latin typeface="Consolas"/>
              </a:rPr>
              <a:t>"EducationServerCapabilities"</a:t>
            </a:r>
          </a:p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222831"/>
                </a:solidFill>
                <a:latin typeface="Consolas"/>
              </a:rPr>
              <a:t>* status = #draft</a:t>
            </a:r>
          </a:p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222831"/>
                </a:solidFill>
                <a:latin typeface="Consolas"/>
              </a:rPr>
              <a:t>* date = </a:t>
            </a:r>
            <a:r>
              <a:rPr sz="1300" b="0" i="0">
                <a:solidFill>
                  <a:srgbClr val="A64B00"/>
                </a:solidFill>
                <a:latin typeface="Consolas"/>
              </a:rPr>
              <a:t>"2026-10-13"</a:t>
            </a:r>
          </a:p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222831"/>
                </a:solidFill>
                <a:latin typeface="Consolas"/>
              </a:rPr>
              <a:t>* kind = #requirements</a:t>
            </a:r>
          </a:p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222831"/>
                </a:solidFill>
                <a:latin typeface="Consolas"/>
              </a:rPr>
              <a:t>* fhirVersion = #4.0.1</a:t>
            </a:r>
          </a:p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222831"/>
                </a:solidFill>
                <a:latin typeface="Consolas"/>
              </a:rPr>
              <a:t>* format[0] = #json</a:t>
            </a:r>
          </a:p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222831"/>
                </a:solidFill>
                <a:latin typeface="Consolas"/>
              </a:rPr>
              <a:t>* rest[0].mode = #server</a:t>
            </a:r>
          </a:p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222831"/>
                </a:solidFill>
                <a:latin typeface="Consolas"/>
              </a:rPr>
              <a:t>* rest[0].resource[0].type = #Patient</a:t>
            </a:r>
          </a:p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222831"/>
                </a:solidFill>
                <a:latin typeface="Consolas"/>
              </a:rPr>
              <a:t>* rest[0].resource[0].supportedProfile = Canonical(EducationPatient)</a:t>
            </a:r>
          </a:p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222831"/>
                </a:solidFill>
                <a:latin typeface="Consolas"/>
              </a:rPr>
              <a:t>* rest[0].resource[0].interaction[0].code = #read</a:t>
            </a:r>
          </a:p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222831"/>
                </a:solidFill>
                <a:latin typeface="Consolas"/>
              </a:rPr>
              <a:t>* rest[0].resource[0].interaction[0].extension[$expectation].valueCode = #SHALL</a:t>
            </a:r>
          </a:p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222831"/>
                </a:solidFill>
                <a:latin typeface="Consolas"/>
              </a:rPr>
              <a:t>* rest[0].resource[0].searchParam[0].name = </a:t>
            </a:r>
            <a:r>
              <a:rPr sz="1300" b="0" i="0">
                <a:solidFill>
                  <a:srgbClr val="A64B00"/>
                </a:solidFill>
                <a:latin typeface="Consolas"/>
              </a:rPr>
              <a:t>"identifier"</a:t>
            </a:r>
          </a:p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222831"/>
                </a:solidFill>
                <a:latin typeface="Consolas"/>
              </a:rPr>
              <a:t>* rest[0].resource[0].searchParam[0].type = #token</a:t>
            </a:r>
          </a:p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222831"/>
                </a:solidFill>
                <a:latin typeface="Consolas"/>
              </a:rPr>
              <a:t>* rest[0].resource[0].searchParam[0].extension[$expectation].valueCode = #SHALL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664208"/>
            <a:ext cx="54864" cy="4462272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006840" y="1691640"/>
            <a:ext cx="2606040" cy="1737360"/>
          </a:xfrm>
          <a:prstGeom prst="rect">
            <a:avLst/>
          </a:prstGeom>
          <a:solidFill>
            <a:srgbClr val="D9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/>
          <a:lstStyle/>
          <a:p>
            <a:pPr algn="l"/>
            <a:r>
              <a:rPr sz="1500" b="1" i="0">
                <a:solidFill>
                  <a:srgbClr val="222831"/>
                </a:solidFill>
                <a:latin typeface="Calibri"/>
              </a:rPr>
              <a:t>Kravet</a:t>
            </a:r>
            <a:r>
              <a:rPr sz="1500" b="0" i="0">
                <a:solidFill>
                  <a:srgbClr val="222831"/>
                </a:solidFill>
                <a:latin typeface="Calibri"/>
              </a:rPr>
              <a:t> (requirements) i IG:n</a:t>
            </a:r>
          </a:p>
          <a:p>
            <a:pPr algn="l"/>
            <a:r>
              <a:rPr sz="1500" b="0" i="0">
                <a:solidFill>
                  <a:srgbClr val="222831"/>
                </a:solidFill>
                <a:latin typeface="Calibri"/>
              </a:rPr>
              <a:t>↑ instantiates</a:t>
            </a:r>
          </a:p>
          <a:p>
            <a:pPr algn="l"/>
            <a:r>
              <a:rPr sz="1500" b="1" i="0">
                <a:solidFill>
                  <a:srgbClr val="222831"/>
                </a:solidFill>
                <a:latin typeface="Calibri"/>
              </a:rPr>
              <a:t>Servern</a:t>
            </a:r>
            <a:r>
              <a:rPr sz="1500" b="0" i="0">
                <a:solidFill>
                  <a:srgbClr val="222831"/>
                </a:solidFill>
                <a:latin typeface="Calibri"/>
              </a:rPr>
              <a:t> (instance) via /metadata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006840" y="1691640"/>
            <a:ext cx="64008" cy="173736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006840" y="3703320"/>
            <a:ext cx="2606040" cy="1188720"/>
          </a:xfrm>
          <a:prstGeom prst="rect">
            <a:avLst/>
          </a:prstGeom>
          <a:solidFill>
            <a:srgbClr val="DF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/>
          <a:lstStyle/>
          <a:p>
            <a:pPr algn="l"/>
            <a:r>
              <a:rPr sz="1300" b="0" i="0">
                <a:solidFill>
                  <a:srgbClr val="0E6B74"/>
                </a:solidFill>
                <a:latin typeface="Consolas"/>
              </a:rPr>
              <a:t>$expectation</a:t>
            </a:r>
            <a:r>
              <a:rPr sz="1400" b="0" i="0">
                <a:solidFill>
                  <a:srgbClr val="222831"/>
                </a:solidFill>
                <a:latin typeface="Calibri"/>
              </a:rPr>
              <a:t> är ett alias för</a:t>
            </a:r>
          </a:p>
          <a:p>
            <a:pPr algn="l"/>
            <a:r>
              <a:rPr sz="1400" b="0" i="0">
                <a:solidFill>
                  <a:srgbClr val="222831"/>
                </a:solidFill>
                <a:latin typeface="Calibri"/>
              </a:rPr>
              <a:t>extensionen capabilitystatement-expectation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006840" y="3703320"/>
            <a:ext cx="64008" cy="1188720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Capability discovery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43584"/>
            <a:ext cx="11094415" cy="0"/>
          </a:xfrm>
          <a:prstGeom prst="line">
            <a:avLst/>
          </a:prstGeom>
          <a:ln w="12700">
            <a:solidFill>
              <a:srgbClr val="D5DA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B6577"/>
                </a:solidFill>
                <a:latin typeface="Calibri"/>
              </a:rPr>
              <a:t>FHIR i praktiken  ·  Modul 6 – Följsamhet, krav och validering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B6577"/>
                </a:solidFill>
                <a:latin typeface="Calibri"/>
              </a:rPr>
              <a:t>70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1600200"/>
            <a:ext cx="640080" cy="640080"/>
          </a:xfrm>
          <a:prstGeom prst="ellipse">
            <a:avLst/>
          </a:prstGeom>
          <a:solidFill>
            <a:srgbClr val="E87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71600" y="1463040"/>
            <a:ext cx="5669280" cy="914400"/>
          </a:xfrm>
          <a:prstGeom prst="roundRect">
            <a:avLst>
              <a:gd name="adj" fmla="val 12000"/>
            </a:avLst>
          </a:prstGeom>
          <a:solidFill>
            <a:srgbClr val="D9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500" b="0" i="0">
                <a:solidFill>
                  <a:srgbClr val="0E6B74"/>
                </a:solidFill>
                <a:latin typeface="Consolas"/>
              </a:rPr>
              <a:t>GET [bas]/metadata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69480" y="1600200"/>
            <a:ext cx="4343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>
                <a:solidFill>
                  <a:srgbClr val="222831"/>
                </a:solidFill>
                <a:latin typeface="Calibri"/>
              </a:rPr>
              <a:t>FHIR-version, resurser, interaktioner, sökparametrar, profiler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2697480"/>
            <a:ext cx="640080" cy="640080"/>
          </a:xfrm>
          <a:prstGeom prst="ellipse">
            <a:avLst/>
          </a:prstGeom>
          <a:solidFill>
            <a:srgbClr val="E87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371600" y="2560320"/>
            <a:ext cx="5669280" cy="914400"/>
          </a:xfrm>
          <a:prstGeom prst="roundRect">
            <a:avLst>
              <a:gd name="adj" fmla="val 12000"/>
            </a:avLst>
          </a:prstGeom>
          <a:solidFill>
            <a:srgbClr val="D9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500" b="0" i="0">
                <a:solidFill>
                  <a:srgbClr val="0E6B74"/>
                </a:solidFill>
                <a:latin typeface="Consolas"/>
              </a:rPr>
              <a:t>GET [bas]/.well-known/smart-configuration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69480" y="2697480"/>
            <a:ext cx="4343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>
                <a:solidFill>
                  <a:srgbClr val="222831"/>
                </a:solidFill>
                <a:latin typeface="Calibri"/>
              </a:rPr>
              <a:t>Auktorisationsserver, scopes, flöden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3794760"/>
            <a:ext cx="640080" cy="640080"/>
          </a:xfrm>
          <a:prstGeom prst="ellipse">
            <a:avLst/>
          </a:prstGeom>
          <a:solidFill>
            <a:srgbClr val="E87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371600" y="3657600"/>
            <a:ext cx="5669280" cy="914400"/>
          </a:xfrm>
          <a:prstGeom prst="roundRect">
            <a:avLst>
              <a:gd name="adj" fmla="val 12000"/>
            </a:avLst>
          </a:prstGeom>
          <a:solidFill>
            <a:srgbClr val="D9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600" b="1" i="0">
                <a:solidFill>
                  <a:srgbClr val="222831"/>
                </a:solidFill>
                <a:latin typeface="Calibri"/>
              </a:rPr>
              <a:t>Kontrollera instantiates och implementationGuide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69480" y="3794760"/>
            <a:ext cx="4343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>
                <a:solidFill>
                  <a:srgbClr val="222831"/>
                </a:solidFill>
                <a:latin typeface="Calibri"/>
              </a:rPr>
              <a:t>Följer servern den IG klienten är byggd för?</a:t>
            </a:r>
          </a:p>
        </p:txBody>
      </p:sp>
      <p:sp>
        <p:nvSpPr>
          <p:cNvPr id="16" name="Oval 15"/>
          <p:cNvSpPr/>
          <p:nvPr/>
        </p:nvSpPr>
        <p:spPr>
          <a:xfrm>
            <a:off x="548640" y="4892040"/>
            <a:ext cx="640080" cy="640080"/>
          </a:xfrm>
          <a:prstGeom prst="ellipse">
            <a:avLst/>
          </a:prstGeom>
          <a:solidFill>
            <a:srgbClr val="E87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371600" y="4754880"/>
            <a:ext cx="5669280" cy="914400"/>
          </a:xfrm>
          <a:prstGeom prst="roundRect">
            <a:avLst>
              <a:gd name="adj" fmla="val 12000"/>
            </a:avLst>
          </a:prstGeom>
          <a:solidFill>
            <a:srgbClr val="D9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600" b="1" i="0">
                <a:solidFill>
                  <a:srgbClr val="222831"/>
                </a:solidFill>
                <a:latin typeface="Calibri"/>
              </a:rPr>
              <a:t>Anpassa klienten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480" y="4892040"/>
            <a:ext cx="4343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>
                <a:solidFill>
                  <a:srgbClr val="222831"/>
                </a:solidFill>
                <a:latin typeface="Calibri"/>
              </a:rPr>
              <a:t>Använd bara det servern faktiskt stöder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Validering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43584"/>
            <a:ext cx="11094415" cy="0"/>
          </a:xfrm>
          <a:prstGeom prst="line">
            <a:avLst/>
          </a:prstGeom>
          <a:ln w="12700">
            <a:solidFill>
              <a:srgbClr val="D5DA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B6577"/>
                </a:solidFill>
                <a:latin typeface="Calibri"/>
              </a:rPr>
              <a:t>FHIR i praktiken  ·  Modul 6 – Följsamhet, krav och validering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B6577"/>
                </a:solidFill>
                <a:latin typeface="Calibri"/>
              </a:rPr>
              <a:t>71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325880"/>
          <a:ext cx="694944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457200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Kontrolleras</a:t>
                      </a:r>
                    </a:p>
                  </a:txBody>
                  <a:tcPr marL="73152" marR="73152" marT="36576" marB="36576" anchor="ctr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Exempel på fel</a:t>
                      </a:r>
                    </a:p>
                  </a:txBody>
                  <a:tcPr marL="73152" marR="73152" marT="36576" marB="36576" anchor="ctr">
                    <a:solidFill>
                      <a:srgbClr val="1B2A4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Struktur och datatyper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Okänt element, fel datatyp, ogiltigt datum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Kardinalitet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Patient.name.family: minimum required = 1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Terminologi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'kvinna' was not found in the value set AdministrativeGender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Invarianter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Constraint failed: edu-pat-1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Profiler och slicing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Fel antal i en slice, fast värde stämmer inte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Best practice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dom-6: A resource should have narrative</a:t>
                      </a:r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 (varning)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680960" y="137160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5B6577"/>
                </a:solidFill>
                <a:latin typeface="Calibri"/>
              </a:rPr>
              <a:t>Resultat: OperationOutcome</a:t>
            </a:r>
          </a:p>
        </p:txBody>
      </p:sp>
      <p:sp>
        <p:nvSpPr>
          <p:cNvPr id="9" name="Rectangle 8"/>
          <p:cNvSpPr/>
          <p:nvPr/>
        </p:nvSpPr>
        <p:spPr>
          <a:xfrm>
            <a:off x="7680960" y="1664208"/>
            <a:ext cx="3931920" cy="3639312"/>
          </a:xfrm>
          <a:prstGeom prst="rect">
            <a:avLst/>
          </a:prstGeom>
          <a:solidFill>
            <a:srgbClr val="F4F6F8"/>
          </a:solidFill>
          <a:ln w="9525">
            <a:solidFill>
              <a:srgbClr val="D5D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01168" tIns="91440"/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222831"/>
                </a:solidFill>
                <a:latin typeface="Consolas"/>
              </a:rPr>
              <a:t>{</a:t>
            </a:r>
          </a:p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222831"/>
                </a:solidFill>
                <a:latin typeface="Consolas"/>
              </a:rPr>
              <a:t>  </a:t>
            </a:r>
            <a:r>
              <a:rPr sz="1150" b="0" i="0">
                <a:solidFill>
                  <a:srgbClr val="0E6B74"/>
                </a:solidFill>
                <a:latin typeface="Consolas"/>
              </a:rPr>
              <a:t>"resourceType"</a:t>
            </a:r>
            <a:r>
              <a:rPr sz="1150" b="0" i="0">
                <a:solidFill>
                  <a:srgbClr val="222831"/>
                </a:solidFill>
                <a:latin typeface="Consolas"/>
              </a:rPr>
              <a:t>:</a:t>
            </a:r>
            <a:r>
              <a:rPr sz="1150" b="0" i="0">
                <a:solidFill>
                  <a:srgbClr val="222831"/>
                </a:solidFill>
                <a:latin typeface="Consolas"/>
              </a:rPr>
              <a:t> </a:t>
            </a:r>
            <a:r>
              <a:rPr sz="1150" b="0" i="0">
                <a:solidFill>
                  <a:srgbClr val="A64B00"/>
                </a:solidFill>
                <a:latin typeface="Consolas"/>
              </a:rPr>
              <a:t>"OperationOutcome"</a:t>
            </a:r>
            <a:r>
              <a:rPr sz="1150" b="0" i="0">
                <a:solidFill>
                  <a:srgbClr val="222831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222831"/>
                </a:solidFill>
                <a:latin typeface="Consolas"/>
              </a:rPr>
              <a:t>  </a:t>
            </a:r>
            <a:r>
              <a:rPr sz="1150" b="0" i="0">
                <a:solidFill>
                  <a:srgbClr val="0E6B74"/>
                </a:solidFill>
                <a:latin typeface="Consolas"/>
              </a:rPr>
              <a:t>"issue"</a:t>
            </a:r>
            <a:r>
              <a:rPr sz="1150" b="0" i="0">
                <a:solidFill>
                  <a:srgbClr val="222831"/>
                </a:solidFill>
                <a:latin typeface="Consolas"/>
              </a:rPr>
              <a:t>:</a:t>
            </a:r>
            <a:r>
              <a:rPr sz="1150" b="0" i="0">
                <a:solidFill>
                  <a:srgbClr val="222831"/>
                </a:solidFill>
                <a:latin typeface="Consolas"/>
              </a:rPr>
              <a:t> [ {</a:t>
            </a:r>
          </a:p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222831"/>
                </a:solidFill>
                <a:latin typeface="Consolas"/>
              </a:rPr>
              <a:t>    </a:t>
            </a:r>
            <a:r>
              <a:rPr sz="1150" b="0" i="0">
                <a:solidFill>
                  <a:srgbClr val="0E6B74"/>
                </a:solidFill>
                <a:latin typeface="Consolas"/>
              </a:rPr>
              <a:t>"severity"</a:t>
            </a:r>
            <a:r>
              <a:rPr sz="1150" b="0" i="0">
                <a:solidFill>
                  <a:srgbClr val="222831"/>
                </a:solidFill>
                <a:latin typeface="Consolas"/>
              </a:rPr>
              <a:t>:</a:t>
            </a:r>
            <a:r>
              <a:rPr sz="1150" b="0" i="0">
                <a:solidFill>
                  <a:srgbClr val="222831"/>
                </a:solidFill>
                <a:latin typeface="Consolas"/>
              </a:rPr>
              <a:t> </a:t>
            </a:r>
            <a:r>
              <a:rPr sz="1150" b="0" i="0">
                <a:solidFill>
                  <a:srgbClr val="A64B00"/>
                </a:solidFill>
                <a:latin typeface="Consolas"/>
              </a:rPr>
              <a:t>"error"</a:t>
            </a:r>
            <a:r>
              <a:rPr sz="1150" b="0" i="0">
                <a:solidFill>
                  <a:srgbClr val="222831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222831"/>
                </a:solidFill>
                <a:latin typeface="Consolas"/>
              </a:rPr>
              <a:t>    </a:t>
            </a:r>
            <a:r>
              <a:rPr sz="1150" b="0" i="0">
                <a:solidFill>
                  <a:srgbClr val="0E6B74"/>
                </a:solidFill>
                <a:latin typeface="Consolas"/>
              </a:rPr>
              <a:t>"code"</a:t>
            </a:r>
            <a:r>
              <a:rPr sz="1150" b="0" i="0">
                <a:solidFill>
                  <a:srgbClr val="222831"/>
                </a:solidFill>
                <a:latin typeface="Consolas"/>
              </a:rPr>
              <a:t>:</a:t>
            </a:r>
            <a:r>
              <a:rPr sz="1150" b="0" i="0">
                <a:solidFill>
                  <a:srgbClr val="222831"/>
                </a:solidFill>
                <a:latin typeface="Consolas"/>
              </a:rPr>
              <a:t> </a:t>
            </a:r>
            <a:r>
              <a:rPr sz="1150" b="0" i="0">
                <a:solidFill>
                  <a:srgbClr val="A64B00"/>
                </a:solidFill>
                <a:latin typeface="Consolas"/>
              </a:rPr>
              <a:t>"invariant"</a:t>
            </a:r>
            <a:r>
              <a:rPr sz="1150" b="0" i="0">
                <a:solidFill>
                  <a:srgbClr val="222831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222831"/>
                </a:solidFill>
                <a:latin typeface="Consolas"/>
              </a:rPr>
              <a:t>    </a:t>
            </a:r>
            <a:r>
              <a:rPr sz="1150" b="0" i="0">
                <a:solidFill>
                  <a:srgbClr val="0E6B74"/>
                </a:solidFill>
                <a:latin typeface="Consolas"/>
              </a:rPr>
              <a:t>"details"</a:t>
            </a:r>
            <a:r>
              <a:rPr sz="1150" b="0" i="0">
                <a:solidFill>
                  <a:srgbClr val="222831"/>
                </a:solidFill>
                <a:latin typeface="Consolas"/>
              </a:rPr>
              <a:t>:</a:t>
            </a:r>
            <a:r>
              <a:rPr sz="1150" b="0" i="0">
                <a:solidFill>
                  <a:srgbClr val="222831"/>
                </a:solidFill>
                <a:latin typeface="Consolas"/>
              </a:rPr>
              <a:t> { </a:t>
            </a:r>
            <a:r>
              <a:rPr sz="1150" b="0" i="0">
                <a:solidFill>
                  <a:srgbClr val="A64B00"/>
                </a:solidFill>
                <a:latin typeface="Consolas"/>
              </a:rPr>
              <a:t>"text"</a:t>
            </a:r>
            <a:r>
              <a:rPr sz="1150" b="0" i="0">
                <a:solidFill>
                  <a:srgbClr val="222831"/>
                </a:solidFill>
                <a:latin typeface="Consolas"/>
              </a:rPr>
              <a:t>:</a:t>
            </a:r>
          </a:p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222831"/>
                </a:solidFill>
                <a:latin typeface="Consolas"/>
              </a:rPr>
              <a:t>      "Constraint failed: edu-pat-1: 'Ett</a:t>
            </a:r>
          </a:p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222831"/>
                </a:solidFill>
                <a:latin typeface="Consolas"/>
              </a:rPr>
              <a:t>       personnummer ska bestå av exakt</a:t>
            </a:r>
          </a:p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222831"/>
                </a:solidFill>
                <a:latin typeface="Consolas"/>
              </a:rPr>
              <a:t>       12 siffror (ÅÅÅÅMMDDNNNN).'" },</a:t>
            </a:r>
          </a:p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222831"/>
                </a:solidFill>
                <a:latin typeface="Consolas"/>
              </a:rPr>
              <a:t>    </a:t>
            </a:r>
            <a:r>
              <a:rPr sz="1150" b="0" i="0">
                <a:solidFill>
                  <a:srgbClr val="0E6B74"/>
                </a:solidFill>
                <a:latin typeface="Consolas"/>
              </a:rPr>
              <a:t>"expression"</a:t>
            </a:r>
            <a:r>
              <a:rPr sz="1150" b="0" i="0">
                <a:solidFill>
                  <a:srgbClr val="222831"/>
                </a:solidFill>
                <a:latin typeface="Consolas"/>
              </a:rPr>
              <a:t>:</a:t>
            </a:r>
            <a:r>
              <a:rPr sz="1150" b="0" i="0">
                <a:solidFill>
                  <a:srgbClr val="222831"/>
                </a:solidFill>
                <a:latin typeface="Consolas"/>
              </a:rPr>
              <a:t> [ </a:t>
            </a:r>
            <a:r>
              <a:rPr sz="1150" b="0" i="0">
                <a:solidFill>
                  <a:srgbClr val="A64B00"/>
                </a:solidFill>
                <a:latin typeface="Consolas"/>
              </a:rPr>
              <a:t>"Patient"</a:t>
            </a:r>
            <a:r>
              <a:rPr sz="1150" b="0" i="0">
                <a:solidFill>
                  <a:srgbClr val="222831"/>
                </a:solidFill>
                <a:latin typeface="Consolas"/>
              </a:rPr>
              <a:t> ]</a:t>
            </a:r>
          </a:p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222831"/>
                </a:solidFill>
                <a:latin typeface="Consolas"/>
              </a:rPr>
              <a:t>  } ]</a:t>
            </a:r>
          </a:p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222831"/>
                </a:solidFill>
                <a:latin typeface="Consolas"/>
              </a:rPr>
              <a:t>}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80960" y="1664208"/>
            <a:ext cx="54864" cy="3639312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Verktyg för validering och test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43584"/>
            <a:ext cx="11094415" cy="0"/>
          </a:xfrm>
          <a:prstGeom prst="line">
            <a:avLst/>
          </a:prstGeom>
          <a:ln w="12700">
            <a:solidFill>
              <a:srgbClr val="D5DA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B6577"/>
                </a:solidFill>
                <a:latin typeface="Calibri"/>
              </a:rPr>
              <a:t>FHIR i praktiken  ·  Modul 6 – Följsamhet, krav och validering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B6577"/>
                </a:solidFill>
                <a:latin typeface="Calibri"/>
              </a:rPr>
              <a:t>72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110944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5B6577"/>
                </a:solidFill>
                <a:latin typeface="Calibri"/>
              </a:rPr>
              <a:t>FHIR Validator på kommandoraden (så gör arbetsflödet Validera instanser)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664208"/>
            <a:ext cx="11094415" cy="1124712"/>
          </a:xfrm>
          <a:prstGeom prst="rect">
            <a:avLst/>
          </a:prstGeom>
          <a:solidFill>
            <a:srgbClr val="F4F6F8"/>
          </a:solidFill>
          <a:ln w="9525">
            <a:solidFill>
              <a:srgbClr val="D5D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01168" tIns="91440"/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222831"/>
                </a:solidFill>
                <a:latin typeface="Consolas"/>
              </a:rPr>
              <a:t>java -jar validator_cli.jar validering/patient-fel.json \</a:t>
            </a:r>
          </a:p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222831"/>
                </a:solidFill>
                <a:latin typeface="Consolas"/>
              </a:rPr>
              <a:t>     -version 4.0.1 \</a:t>
            </a:r>
          </a:p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222831"/>
                </a:solidFill>
                <a:latin typeface="Consolas"/>
              </a:rPr>
              <a:t>     -ig test-ig/fsh-generated/resources \</a:t>
            </a:r>
          </a:p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222831"/>
                </a:solidFill>
                <a:latin typeface="Consolas"/>
              </a:rPr>
              <a:t>     -tx https://tx.fhir.org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664208"/>
            <a:ext cx="54864" cy="1124712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3063240"/>
          <a:ext cx="11094414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83045"/>
                <a:gridCol w="7211369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Verktyg</a:t>
                      </a:r>
                    </a:p>
                  </a:txBody>
                  <a:tcPr marL="73152" marR="73152" marT="36576" marB="36576" anchor="ctr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Används till</a:t>
                      </a:r>
                    </a:p>
                  </a:txBody>
                  <a:tcPr marL="73152" marR="73152" marT="36576" marB="36576" anchor="ctr">
                    <a:solidFill>
                      <a:srgbClr val="1B2A4A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222831"/>
                          </a:solidFill>
                          <a:latin typeface="Calibri"/>
                        </a:rPr>
                        <a:t>FHIR Validator</a:t>
                      </a:r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 (validator_cli.jar)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Validera filer lokalt och i CI, mot valfria IG:er och paket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222831"/>
                          </a:solidFill>
                          <a:latin typeface="Calibri"/>
                        </a:rPr>
                        <a:t>IG Publisher – qa.html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Validerar alla exempel i IG:n vid varje bygge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222831"/>
                          </a:solidFill>
                          <a:latin typeface="Calibri"/>
                        </a:rPr>
                        <a:t>$validate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E6B74"/>
                          </a:solidFill>
                          <a:latin typeface="Consolas"/>
                        </a:rPr>
                        <a:t>POST [bas]/Patient/$validate</a:t>
                      </a:r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 på en FHIR-server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222831"/>
                          </a:solidFill>
                          <a:latin typeface="Calibri"/>
                        </a:rPr>
                        <a:t>validator.fhir.org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Webbgränssnitt för FHIR Validator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222831"/>
                          </a:solidFill>
                          <a:latin typeface="Calibri"/>
                        </a:rPr>
                        <a:t>Inferno / Touchstone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831"/>
                          </a:solidFill>
                          <a:latin typeface="Calibri"/>
                        </a:rPr>
                        <a:t>Testa API-beteende mot en IG (sökning, säkerhet, CapabilityStatement)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E87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ÖVNING  ·  25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Krav, CapabilityStatement och validering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17320"/>
            <a:ext cx="11094415" cy="502920"/>
          </a:xfrm>
          <a:prstGeom prst="roundRect">
            <a:avLst>
              <a:gd name="adj" fmla="val 20000"/>
            </a:avLst>
          </a:prstGeom>
          <a:solidFill>
            <a:srgbClr val="FC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wrap="square"/>
          <a:lstStyle/>
          <a:p>
            <a:pPr algn="l"/>
            <a:r>
              <a:rPr sz="1500" b="0" i="0">
                <a:solidFill>
                  <a:srgbClr val="222831"/>
                </a:solidFill>
                <a:latin typeface="Calibri"/>
              </a:rPr>
              <a:t>📂  kursmaterial/modul-6-foljsamhet/README.md  ·  facit: facit.md  ·  lösning: kursmaterial/losningar/modul-6/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03120"/>
            <a:ext cx="11094415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900" b="1" i="0">
                <a:solidFill>
                  <a:srgbClr val="222831"/>
                </a:solidFill>
                <a:latin typeface="Calibri"/>
              </a:rPr>
              <a:t>6.1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(demo) Kursledaren visar CapabilityStatement för fasaden och hapi.fhir.org/baseR4/metadata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900" b="1" i="0">
                <a:solidFill>
                  <a:srgbClr val="222831"/>
                </a:solidFill>
                <a:latin typeface="Calibri"/>
              </a:rPr>
              <a:t>6.2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Skriv kraven som ett CapabilityStatement (</a:t>
            </a:r>
            <a:r>
              <a:rPr sz="1800" b="0" i="0">
                <a:solidFill>
                  <a:srgbClr val="0E6B74"/>
                </a:solidFill>
                <a:latin typeface="Consolas"/>
              </a:rPr>
              <a:t>kind = #requirements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) i </a:t>
            </a:r>
            <a:r>
              <a:rPr sz="1800" b="0" i="0">
                <a:solidFill>
                  <a:srgbClr val="0E6B74"/>
                </a:solidFill>
                <a:latin typeface="Consolas"/>
              </a:rPr>
              <a:t>test-ig/input/fsh/capabilities/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 (10 min)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900" b="1" i="0">
                <a:solidFill>
                  <a:srgbClr val="222831"/>
                </a:solidFill>
                <a:latin typeface="Calibri"/>
              </a:rPr>
              <a:t>6.3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Validera instanser mot din profil  (10 min)</a:t>
            </a:r>
          </a:p>
          <a:p>
            <a:pPr marL="612647" indent="-256032">
              <a:spcBef>
                <a:spcPts val="300"/>
              </a:spcBef>
              <a:buClr>
                <a:srgbClr val="5B6577"/>
              </a:buClr>
              <a:buChar char="–"/>
            </a:pPr>
            <a:r>
              <a:rPr sz="1700" b="0" i="0">
                <a:solidFill>
                  <a:srgbClr val="5B6577"/>
                </a:solidFill>
                <a:latin typeface="Calibri"/>
              </a:rPr>
              <a:t>Kopiera filerna i </a:t>
            </a:r>
            <a:r>
              <a:rPr sz="1600" b="0" i="0">
                <a:solidFill>
                  <a:srgbClr val="0E6B74"/>
                </a:solidFill>
                <a:latin typeface="Consolas"/>
              </a:rPr>
              <a:t>kursmaterial/modul-6-foljsamhet/exempel/</a:t>
            </a:r>
            <a:r>
              <a:rPr sz="1700" b="0" i="0">
                <a:solidFill>
                  <a:srgbClr val="5B6577"/>
                </a:solidFill>
                <a:latin typeface="Calibri"/>
              </a:rPr>
              <a:t> till mappen </a:t>
            </a:r>
            <a:r>
              <a:rPr sz="1600" b="0" i="0">
                <a:solidFill>
                  <a:srgbClr val="0E6B74"/>
                </a:solidFill>
                <a:latin typeface="Consolas"/>
              </a:rPr>
              <a:t>validering/</a:t>
            </a:r>
            <a:r>
              <a:rPr sz="1700" b="0" i="0">
                <a:solidFill>
                  <a:srgbClr val="5B6577"/>
                </a:solidFill>
                <a:latin typeface="Calibri"/>
              </a:rPr>
              <a:t> och checka in</a:t>
            </a:r>
          </a:p>
          <a:p>
            <a:pPr marL="612647" indent="-256032">
              <a:spcBef>
                <a:spcPts val="300"/>
              </a:spcBef>
              <a:buClr>
                <a:srgbClr val="5B6577"/>
              </a:buClr>
              <a:buChar char="–"/>
            </a:pPr>
            <a:r>
              <a:rPr sz="1700" b="0" i="0">
                <a:solidFill>
                  <a:srgbClr val="5B6577"/>
                </a:solidFill>
                <a:latin typeface="Calibri"/>
              </a:rPr>
              <a:t>Läs resultatet i </a:t>
            </a:r>
            <a:r>
              <a:rPr sz="1700" b="1" i="0">
                <a:solidFill>
                  <a:srgbClr val="5B6577"/>
                </a:solidFill>
                <a:latin typeface="Calibri"/>
              </a:rPr>
              <a:t>Validera instanser</a:t>
            </a:r>
            <a:r>
              <a:rPr sz="1700" b="0" i="0">
                <a:solidFill>
                  <a:srgbClr val="5B6577"/>
                </a:solidFill>
                <a:latin typeface="Calibri"/>
              </a:rPr>
              <a:t>. Vilka fel hittas? Varför är </a:t>
            </a:r>
            <a:r>
              <a:rPr sz="1600" b="0" i="0">
                <a:solidFill>
                  <a:srgbClr val="0E6B74"/>
                </a:solidFill>
                <a:latin typeface="Consolas"/>
              </a:rPr>
              <a:t>patient-felstavat-system.json</a:t>
            </a:r>
            <a:r>
              <a:rPr sz="1700" b="0" i="0">
                <a:solidFill>
                  <a:srgbClr val="5B6577"/>
                </a:solidFill>
                <a:latin typeface="Calibri"/>
              </a:rPr>
              <a:t> giltig?</a:t>
            </a:r>
          </a:p>
          <a:p>
            <a:pPr marL="612647" indent="-256032">
              <a:spcBef>
                <a:spcPts val="300"/>
              </a:spcBef>
              <a:buClr>
                <a:srgbClr val="5B6577"/>
              </a:buClr>
              <a:buChar char="–"/>
            </a:pPr>
            <a:r>
              <a:rPr sz="1700" b="0" i="0">
                <a:solidFill>
                  <a:srgbClr val="5B6577"/>
                </a:solidFill>
                <a:latin typeface="Calibri"/>
              </a:rPr>
              <a:t>Rätta </a:t>
            </a:r>
            <a:r>
              <a:rPr sz="1600" b="0" i="0">
                <a:solidFill>
                  <a:srgbClr val="0E6B74"/>
                </a:solidFill>
                <a:latin typeface="Consolas"/>
              </a:rPr>
              <a:t>patient-fel.json</a:t>
            </a:r>
            <a:r>
              <a:rPr sz="1700" b="0" i="0">
                <a:solidFill>
                  <a:srgbClr val="5B6577"/>
                </a:solidFill>
                <a:latin typeface="Calibri"/>
              </a:rPr>
              <a:t> tills den blir grön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900" b="1" i="0">
                <a:solidFill>
                  <a:srgbClr val="222831"/>
                </a:solidFill>
                <a:latin typeface="Calibri"/>
              </a:rPr>
              <a:t>6.4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I par: formulera </a:t>
            </a:r>
            <a:r>
              <a:rPr sz="1900" b="1" i="0">
                <a:solidFill>
                  <a:srgbClr val="222831"/>
                </a:solidFill>
                <a:latin typeface="Calibri"/>
              </a:rPr>
              <a:t>tre verifierbara krav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för en tjänst som visar vårdkontakter  (5 min)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900" b="0" i="0">
                <a:solidFill>
                  <a:srgbClr val="222831"/>
                </a:solidFill>
                <a:latin typeface="Calibri"/>
              </a:rPr>
              <a:t>Förutsätter profilerna från modul 3–4: </a:t>
            </a:r>
            <a:r>
              <a:rPr sz="1900" b="1" i="0">
                <a:solidFill>
                  <a:srgbClr val="222831"/>
                </a:solidFill>
                <a:latin typeface="Calibri"/>
              </a:rPr>
              <a:t>Actions → Kom ikapp → modul 4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vid behov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B6577"/>
                </a:solidFill>
                <a:latin typeface="Calibri"/>
              </a:rPr>
              <a:t>FHIR i praktiken  ·  Modul 6 – Följsamhet, krav och validering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B6577"/>
                </a:solidFill>
                <a:latin typeface="Calibri"/>
              </a:rPr>
              <a:t>73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Sammanfattning av dagen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43584"/>
            <a:ext cx="11094415" cy="0"/>
          </a:xfrm>
          <a:prstGeom prst="line">
            <a:avLst/>
          </a:prstGeom>
          <a:ln w="12700">
            <a:solidFill>
              <a:srgbClr val="D5DA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B6577"/>
                </a:solidFill>
                <a:latin typeface="Calibri"/>
              </a:rPr>
              <a:t>FHIR i praktiken  ·  Modul 6 – Följsamhet, krav och validering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B6577"/>
                </a:solidFill>
                <a:latin typeface="Calibri"/>
              </a:rPr>
              <a:t>74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1508760"/>
            <a:ext cx="548640" cy="548640"/>
          </a:xfrm>
          <a:prstGeom prst="ellipse">
            <a:avLst/>
          </a:prstGeom>
          <a:solidFill>
            <a:srgbClr val="E87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194560"/>
            <a:ext cx="1691640" cy="1463040"/>
          </a:xfrm>
          <a:prstGeom prst="roundRect">
            <a:avLst>
              <a:gd name="adj" fmla="val 12000"/>
            </a:avLst>
          </a:prstGeom>
          <a:solidFill>
            <a:srgbClr val="D9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i="0">
                <a:solidFill>
                  <a:srgbClr val="222831"/>
                </a:solidFill>
                <a:latin typeface="Calibri"/>
              </a:rPr>
              <a:t>Läsa</a:t>
            </a:r>
          </a:p>
          <a:p>
            <a:pPr algn="ctr"/>
            <a:r>
              <a:rPr sz="1500" b="0" i="0">
                <a:solidFill>
                  <a:srgbClr val="222831"/>
                </a:solidFill>
                <a:latin typeface="Calibri"/>
              </a:rPr>
              <a:t>resurser, datatyper,</a:t>
            </a:r>
          </a:p>
          <a:p>
            <a:pPr algn="ctr"/>
            <a:r>
              <a:rPr sz="1500" b="0" i="0">
                <a:solidFill>
                  <a:srgbClr val="222831"/>
                </a:solidFill>
                <a:latin typeface="Calibri"/>
              </a:rPr>
              <a:t>bindningar, extensions</a:t>
            </a:r>
          </a:p>
        </p:txBody>
      </p:sp>
      <p:sp>
        <p:nvSpPr>
          <p:cNvPr id="9" name="Oval 8"/>
          <p:cNvSpPr/>
          <p:nvPr/>
        </p:nvSpPr>
        <p:spPr>
          <a:xfrm>
            <a:off x="2404872" y="1508760"/>
            <a:ext cx="548640" cy="548640"/>
          </a:xfrm>
          <a:prstGeom prst="ellipse">
            <a:avLst/>
          </a:prstGeom>
          <a:solidFill>
            <a:srgbClr val="E87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04872" y="2194560"/>
            <a:ext cx="1691640" cy="1463040"/>
          </a:xfrm>
          <a:prstGeom prst="roundRect">
            <a:avLst>
              <a:gd name="adj" fmla="val 12000"/>
            </a:avLst>
          </a:prstGeom>
          <a:solidFill>
            <a:srgbClr val="D9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i="0">
                <a:solidFill>
                  <a:srgbClr val="222831"/>
                </a:solidFill>
                <a:latin typeface="Calibri"/>
              </a:rPr>
              <a:t>Tolka</a:t>
            </a:r>
          </a:p>
          <a:p>
            <a:pPr algn="ctr"/>
            <a:r>
              <a:rPr sz="1500" b="0" i="0">
                <a:solidFill>
                  <a:srgbClr val="222831"/>
                </a:solidFill>
                <a:latin typeface="Calibri"/>
              </a:rPr>
              <a:t>profiler, slicing,</a:t>
            </a:r>
          </a:p>
          <a:p>
            <a:pPr algn="ctr"/>
            <a:r>
              <a:rPr sz="1500" b="0" i="0">
                <a:solidFill>
                  <a:srgbClr val="222831"/>
                </a:solidFill>
                <a:latin typeface="Calibri"/>
              </a:rPr>
              <a:t>Must Support, IG:er</a:t>
            </a:r>
          </a:p>
        </p:txBody>
      </p:sp>
      <p:sp>
        <p:nvSpPr>
          <p:cNvPr id="11" name="Oval 10"/>
          <p:cNvSpPr/>
          <p:nvPr/>
        </p:nvSpPr>
        <p:spPr>
          <a:xfrm>
            <a:off x="4261104" y="1508760"/>
            <a:ext cx="548640" cy="548640"/>
          </a:xfrm>
          <a:prstGeom prst="ellipse">
            <a:avLst/>
          </a:prstGeom>
          <a:solidFill>
            <a:srgbClr val="E87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61104" y="2194560"/>
            <a:ext cx="1691640" cy="1463040"/>
          </a:xfrm>
          <a:prstGeom prst="roundRect">
            <a:avLst>
              <a:gd name="adj" fmla="val 12000"/>
            </a:avLst>
          </a:prstGeom>
          <a:solidFill>
            <a:srgbClr val="D9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i="0">
                <a:solidFill>
                  <a:srgbClr val="222831"/>
                </a:solidFill>
                <a:latin typeface="Calibri"/>
              </a:rPr>
              <a:t>Skriva</a:t>
            </a:r>
          </a:p>
          <a:p>
            <a:pPr algn="ctr"/>
            <a:r>
              <a:rPr sz="1500" b="0" i="0">
                <a:solidFill>
                  <a:srgbClr val="222831"/>
                </a:solidFill>
                <a:latin typeface="Calibri"/>
              </a:rPr>
              <a:t>FSH + SUSHI +</a:t>
            </a:r>
          </a:p>
          <a:p>
            <a:pPr algn="ctr"/>
            <a:r>
              <a:rPr sz="1500" b="0" i="0">
                <a:solidFill>
                  <a:srgbClr val="222831"/>
                </a:solidFill>
                <a:latin typeface="Calibri"/>
              </a:rPr>
              <a:t>IG Publisher</a:t>
            </a:r>
          </a:p>
        </p:txBody>
      </p:sp>
      <p:sp>
        <p:nvSpPr>
          <p:cNvPr id="13" name="Oval 12"/>
          <p:cNvSpPr/>
          <p:nvPr/>
        </p:nvSpPr>
        <p:spPr>
          <a:xfrm>
            <a:off x="6117336" y="1508760"/>
            <a:ext cx="548640" cy="548640"/>
          </a:xfrm>
          <a:prstGeom prst="ellipse">
            <a:avLst/>
          </a:prstGeom>
          <a:solidFill>
            <a:srgbClr val="E87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17336" y="2194560"/>
            <a:ext cx="1691640" cy="1463040"/>
          </a:xfrm>
          <a:prstGeom prst="roundRect">
            <a:avLst>
              <a:gd name="adj" fmla="val 12000"/>
            </a:avLst>
          </a:prstGeom>
          <a:solidFill>
            <a:srgbClr val="D9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i="0">
                <a:solidFill>
                  <a:srgbClr val="222831"/>
                </a:solidFill>
                <a:latin typeface="Calibri"/>
              </a:rPr>
              <a:t>Regler</a:t>
            </a:r>
          </a:p>
          <a:p>
            <a:pPr algn="ctr"/>
            <a:r>
              <a:rPr sz="1500" b="0" i="0">
                <a:solidFill>
                  <a:srgbClr val="222831"/>
                </a:solidFill>
                <a:latin typeface="Calibri"/>
              </a:rPr>
              <a:t>FHIRPath och</a:t>
            </a:r>
          </a:p>
          <a:p>
            <a:pPr algn="ctr"/>
            <a:r>
              <a:rPr sz="1500" b="0" i="0">
                <a:solidFill>
                  <a:srgbClr val="222831"/>
                </a:solidFill>
                <a:latin typeface="Calibri"/>
              </a:rPr>
              <a:t>invarianter</a:t>
            </a:r>
          </a:p>
        </p:txBody>
      </p:sp>
      <p:sp>
        <p:nvSpPr>
          <p:cNvPr id="15" name="Oval 14"/>
          <p:cNvSpPr/>
          <p:nvPr/>
        </p:nvSpPr>
        <p:spPr>
          <a:xfrm>
            <a:off x="7973568" y="1508760"/>
            <a:ext cx="548640" cy="548640"/>
          </a:xfrm>
          <a:prstGeom prst="ellipse">
            <a:avLst/>
          </a:prstGeom>
          <a:solidFill>
            <a:srgbClr val="E87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73568" y="2194560"/>
            <a:ext cx="1691640" cy="1463040"/>
          </a:xfrm>
          <a:prstGeom prst="roundRect">
            <a:avLst>
              <a:gd name="adj" fmla="val 12000"/>
            </a:avLst>
          </a:prstGeom>
          <a:solidFill>
            <a:srgbClr val="D9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i="0">
                <a:solidFill>
                  <a:srgbClr val="222831"/>
                </a:solidFill>
                <a:latin typeface="Calibri"/>
              </a:rPr>
              <a:t>Exponera</a:t>
            </a:r>
          </a:p>
          <a:p>
            <a:pPr algn="ctr"/>
            <a:r>
              <a:rPr sz="1500" b="0" i="0">
                <a:solidFill>
                  <a:srgbClr val="222831"/>
                </a:solidFill>
                <a:latin typeface="Calibri"/>
              </a:rPr>
              <a:t>FML-fasad, REST,</a:t>
            </a:r>
          </a:p>
          <a:p>
            <a:pPr algn="ctr"/>
            <a:r>
              <a:rPr sz="1500" b="0" i="0">
                <a:solidFill>
                  <a:srgbClr val="222831"/>
                </a:solidFill>
                <a:latin typeface="Calibri"/>
              </a:rPr>
              <a:t>SMART, IHE</a:t>
            </a:r>
          </a:p>
        </p:txBody>
      </p:sp>
      <p:sp>
        <p:nvSpPr>
          <p:cNvPr id="17" name="Oval 16"/>
          <p:cNvSpPr/>
          <p:nvPr/>
        </p:nvSpPr>
        <p:spPr>
          <a:xfrm>
            <a:off x="9829800" y="1508760"/>
            <a:ext cx="548640" cy="548640"/>
          </a:xfrm>
          <a:prstGeom prst="ellipse">
            <a:avLst/>
          </a:prstGeom>
          <a:solidFill>
            <a:srgbClr val="E87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829800" y="2194560"/>
            <a:ext cx="1691640" cy="1463040"/>
          </a:xfrm>
          <a:prstGeom prst="roundRect">
            <a:avLst>
              <a:gd name="adj" fmla="val 12000"/>
            </a:avLst>
          </a:prstGeom>
          <a:solidFill>
            <a:srgbClr val="D9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i="0">
                <a:solidFill>
                  <a:srgbClr val="222831"/>
                </a:solidFill>
                <a:latin typeface="Calibri"/>
              </a:rPr>
              <a:t>Kvalitetssäkra</a:t>
            </a:r>
          </a:p>
          <a:p>
            <a:pPr algn="ctr"/>
            <a:r>
              <a:rPr sz="1500" b="0" i="0">
                <a:solidFill>
                  <a:srgbClr val="222831"/>
                </a:solidFill>
                <a:latin typeface="Calibri"/>
              </a:rPr>
              <a:t>Capability-</a:t>
            </a:r>
          </a:p>
          <a:p>
            <a:pPr algn="ctr"/>
            <a:r>
              <a:rPr sz="1500" b="0" i="0">
                <a:solidFill>
                  <a:srgbClr val="222831"/>
                </a:solidFill>
                <a:latin typeface="Calibri"/>
              </a:rPr>
              <a:t>Statement och</a:t>
            </a:r>
          </a:p>
          <a:p>
            <a:pPr algn="ctr"/>
            <a:r>
              <a:rPr sz="1500" b="0" i="0">
                <a:solidFill>
                  <a:srgbClr val="222831"/>
                </a:solidFill>
                <a:latin typeface="Calibri"/>
              </a:rPr>
              <a:t>validering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3977640"/>
            <a:ext cx="11094415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900" b="0" i="0">
                <a:solidFill>
                  <a:srgbClr val="222831"/>
                </a:solidFill>
                <a:latin typeface="Calibri"/>
              </a:rPr>
              <a:t>Ditt repo är en </a:t>
            </a:r>
            <a:r>
              <a:rPr sz="1900" b="1" i="0">
                <a:solidFill>
                  <a:srgbClr val="222831"/>
                </a:solidFill>
                <a:latin typeface="Calibri"/>
              </a:rPr>
              <a:t>fungerande miljö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: kopiera </a:t>
            </a:r>
            <a:r>
              <a:rPr sz="1800" b="0" i="0">
                <a:solidFill>
                  <a:srgbClr val="0E6B74"/>
                </a:solidFill>
                <a:latin typeface="Consolas"/>
              </a:rPr>
              <a:t>test-ig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, byt </a:t>
            </a:r>
            <a:r>
              <a:rPr sz="1800" b="0" i="0">
                <a:solidFill>
                  <a:srgbClr val="0E6B74"/>
                </a:solidFill>
                <a:latin typeface="Consolas"/>
              </a:rPr>
              <a:t>id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och </a:t>
            </a:r>
            <a:r>
              <a:rPr sz="1800" b="0" i="0">
                <a:solidFill>
                  <a:srgbClr val="0E6B74"/>
                </a:solidFill>
                <a:latin typeface="Consolas"/>
              </a:rPr>
              <a:t>canonical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, och börja profilera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900" b="0" i="0">
                <a:solidFill>
                  <a:srgbClr val="222831"/>
                </a:solidFill>
                <a:latin typeface="Calibri"/>
              </a:rPr>
              <a:t>Bygg och validera </a:t>
            </a:r>
            <a:r>
              <a:rPr sz="1900" b="1" i="0">
                <a:solidFill>
                  <a:srgbClr val="222831"/>
                </a:solidFill>
                <a:latin typeface="Calibri"/>
              </a:rPr>
              <a:t>automatiskt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vid varje ändring, lokalt med Docker eller i GitHub Actions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900" b="1" i="0">
                <a:solidFill>
                  <a:srgbClr val="222831"/>
                </a:solidFill>
                <a:latin typeface="Calibri"/>
              </a:rPr>
              <a:t>Återanvänd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befintliga profiler, extensions och kodverk innan du skapar nya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Ta hem miljön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10896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 i="0">
                <a:solidFill>
                  <a:srgbClr val="D9EEEF"/>
                </a:solidFill>
                <a:latin typeface="Calibri"/>
              </a:rPr>
              <a:t>Samma kedja på din egen dator, och en egen IG att bygga vidare på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93192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E8772E"/>
                </a:solidFill>
                <a:latin typeface="Calibri"/>
              </a:rPr>
              <a:t>15 minuter  ·  kursmaterial/avslutning/README.md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Installera verktygen lokalt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43584"/>
            <a:ext cx="11094415" cy="0"/>
          </a:xfrm>
          <a:prstGeom prst="line">
            <a:avLst/>
          </a:prstGeom>
          <a:ln w="12700">
            <a:solidFill>
              <a:srgbClr val="D5DA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B6577"/>
                </a:solidFill>
                <a:latin typeface="Calibri"/>
              </a:rPr>
              <a:t>FHIR i praktiken  ·  Avslutning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B6577"/>
                </a:solidFill>
                <a:latin typeface="Calibri"/>
              </a:rPr>
              <a:t>76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325880"/>
          <a:ext cx="7589518" cy="33284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657599"/>
                <a:gridCol w="1737359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Verktyg</a:t>
                      </a:r>
                    </a:p>
                  </a:txBody>
                  <a:tcPr marL="73152" marR="73152" marT="36576" marB="36576" anchor="ctr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Installation</a:t>
                      </a:r>
                    </a:p>
                  </a:txBody>
                  <a:tcPr marL="73152" marR="73152" marT="36576" marB="36576" anchor="ctr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Kontroll</a:t>
                      </a:r>
                    </a:p>
                  </a:txBody>
                  <a:tcPr marL="73152" marR="73152" marT="36576" marB="36576" anchor="ctr">
                    <a:solidFill>
                      <a:srgbClr val="1B2A4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831"/>
                          </a:solidFill>
                          <a:latin typeface="Calibri"/>
                        </a:rPr>
                        <a:t>VS Code + FSH-tillägg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831"/>
                          </a:solidFill>
                          <a:latin typeface="Calibri"/>
                        </a:rPr>
                        <a:t>code.visualstudio.com, tillägget FHIR Shorthand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831"/>
                          </a:solidFill>
                          <a:latin typeface="Calibri"/>
                        </a:rPr>
                        <a:t>Git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831"/>
                          </a:solidFill>
                          <a:latin typeface="Calibri"/>
                        </a:rPr>
                        <a:t>git-scm.com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0E6B74"/>
                          </a:solidFill>
                          <a:latin typeface="Consolas"/>
                        </a:rPr>
                        <a:t>git --version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831"/>
                          </a:solidFill>
                          <a:latin typeface="Calibri"/>
                        </a:rPr>
                        <a:t>Node.js + SUSHI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831"/>
                          </a:solidFill>
                          <a:latin typeface="Calibri"/>
                        </a:rPr>
                        <a:t>nodejs.org, sedan </a:t>
                      </a:r>
                      <a:r>
                        <a:rPr sz="1300" b="0" i="0">
                          <a:solidFill>
                            <a:srgbClr val="0E6B74"/>
                          </a:solidFill>
                          <a:latin typeface="Consolas"/>
                        </a:rPr>
                        <a:t>npm install -g fsh-sushi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0E6B74"/>
                          </a:solidFill>
                          <a:latin typeface="Consolas"/>
                        </a:rPr>
                        <a:t>sushi --version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831"/>
                          </a:solidFill>
                          <a:latin typeface="Calibri"/>
                        </a:rPr>
                        <a:t>Java 17+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831"/>
                          </a:solidFill>
                          <a:latin typeface="Calibri"/>
                        </a:rPr>
                        <a:t>adoptium.net (Temurin)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0E6B74"/>
                          </a:solidFill>
                          <a:latin typeface="Consolas"/>
                        </a:rPr>
                        <a:t>java -version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831"/>
                          </a:solidFill>
                          <a:latin typeface="Calibri"/>
                        </a:rPr>
                        <a:t>Ruby + Jekyll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831"/>
                          </a:solidFill>
                          <a:latin typeface="Calibri"/>
                        </a:rPr>
                        <a:t>rubyinstaller.org, sedan </a:t>
                      </a:r>
                      <a:r>
                        <a:rPr sz="1300" b="0" i="0">
                          <a:solidFill>
                            <a:srgbClr val="0E6B74"/>
                          </a:solidFill>
                          <a:latin typeface="Consolas"/>
                        </a:rPr>
                        <a:t>gem install jekyll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0E6B74"/>
                          </a:solidFill>
                          <a:latin typeface="Consolas"/>
                        </a:rPr>
                        <a:t>jekyll --version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831"/>
                          </a:solidFill>
                          <a:latin typeface="Calibri"/>
                        </a:rPr>
                        <a:t>IG Publisher, Validator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831"/>
                          </a:solidFill>
                          <a:latin typeface="Calibri"/>
                        </a:rPr>
                        <a:t>Hämtas automatiskt av skripten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8412480" y="1417320"/>
            <a:ext cx="3200400" cy="2743200"/>
          </a:xfrm>
          <a:prstGeom prst="rect">
            <a:avLst/>
          </a:prstGeom>
          <a:solidFill>
            <a:srgbClr val="D9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/>
          <a:lstStyle/>
          <a:p>
            <a:pPr algn="l"/>
            <a:r>
              <a:rPr sz="1500" b="1" i="0">
                <a:solidFill>
                  <a:srgbClr val="222831"/>
                </a:solidFill>
                <a:latin typeface="Calibri"/>
              </a:rPr>
              <a:t>Får du inte installera?</a:t>
            </a:r>
          </a:p>
          <a:p>
            <a:pPr algn="l"/>
          </a:p>
          <a:p>
            <a:pPr algn="l"/>
            <a:r>
              <a:rPr sz="1500" b="0" i="0">
                <a:solidFill>
                  <a:srgbClr val="222831"/>
                </a:solidFill>
                <a:latin typeface="Calibri"/>
              </a:rPr>
              <a:t>• Bara Docker: Docker-spåret i README</a:t>
            </a:r>
          </a:p>
          <a:p>
            <a:pPr algn="l"/>
            <a:r>
              <a:rPr sz="1500" b="0" i="0">
                <a:solidFill>
                  <a:srgbClr val="222831"/>
                </a:solidFill>
                <a:latin typeface="Calibri"/>
              </a:rPr>
              <a:t>• Ingenting: GitHub Codespaces</a:t>
            </a:r>
          </a:p>
          <a:p>
            <a:pPr algn="l"/>
          </a:p>
          <a:p>
            <a:pPr algn="l"/>
            <a:r>
              <a:rPr sz="1500" b="0" i="0">
                <a:solidFill>
                  <a:srgbClr val="222831"/>
                </a:solidFill>
                <a:latin typeface="Calibri"/>
              </a:rPr>
              <a:t>Samma skript i alla miljöer.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8412480" y="1417320"/>
            <a:ext cx="64008" cy="27432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4937760"/>
            <a:ext cx="11094415" cy="1188720"/>
          </a:xfrm>
          <a:prstGeom prst="rect">
            <a:avLst/>
          </a:prstGeom>
          <a:solidFill>
            <a:srgbClr val="F4F6F8"/>
          </a:solidFill>
          <a:ln w="9525">
            <a:solidFill>
              <a:srgbClr val="D5D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01168" tIns="91440"/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222831"/>
                </a:solidFill>
                <a:latin typeface="Consolas"/>
              </a:rPr>
              <a:t>./scripts/build-ig.sh --sushi-only   # snabb kontroll av FSH</a:t>
            </a:r>
          </a:p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222831"/>
                </a:solidFill>
                <a:latin typeface="Consolas"/>
              </a:rPr>
              <a:t>./scripts/build-ig.sh                # hela IG:n -&gt; test-ig/output/index.html</a:t>
            </a:r>
          </a:p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222831"/>
                </a:solidFill>
                <a:latin typeface="Consolas"/>
              </a:rPr>
              <a:t>./scripts/validate.sh                # validera filerna i validering/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4937760"/>
            <a:ext cx="54864" cy="118872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Starta en egen IG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43584"/>
            <a:ext cx="11094415" cy="0"/>
          </a:xfrm>
          <a:prstGeom prst="line">
            <a:avLst/>
          </a:prstGeom>
          <a:ln w="12700">
            <a:solidFill>
              <a:srgbClr val="D5DA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B6577"/>
                </a:solidFill>
                <a:latin typeface="Calibri"/>
              </a:rPr>
              <a:t>FHIR i praktiken  ·  Avslutning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B6577"/>
                </a:solidFill>
                <a:latin typeface="Calibri"/>
              </a:rPr>
              <a:t>77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900" b="1" i="0">
                <a:solidFill>
                  <a:srgbClr val="222831"/>
                </a:solidFill>
                <a:latin typeface="Calibri"/>
              </a:rPr>
              <a:t>1.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Kopiera </a:t>
            </a:r>
            <a:r>
              <a:rPr sz="1800" b="0" i="0">
                <a:solidFill>
                  <a:srgbClr val="0E6B74"/>
                </a:solidFill>
                <a:latin typeface="Consolas"/>
              </a:rPr>
              <a:t>test-ig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till en ny mapp, t.ex. </a:t>
            </a:r>
            <a:r>
              <a:rPr sz="1800" b="0" i="0">
                <a:solidFill>
                  <a:srgbClr val="0E6B74"/>
                </a:solidFill>
                <a:latin typeface="Consolas"/>
              </a:rPr>
              <a:t>min-ig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900" b="1" i="0">
                <a:solidFill>
                  <a:srgbClr val="222831"/>
                </a:solidFill>
                <a:latin typeface="Calibri"/>
              </a:rPr>
              <a:t>2.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Ändra </a:t>
            </a:r>
            <a:r>
              <a:rPr sz="1800" b="0" i="0">
                <a:solidFill>
                  <a:srgbClr val="0E6B74"/>
                </a:solidFill>
                <a:latin typeface="Consolas"/>
              </a:rPr>
              <a:t>id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, </a:t>
            </a:r>
            <a:r>
              <a:rPr sz="1800" b="0" i="0">
                <a:solidFill>
                  <a:srgbClr val="0E6B74"/>
                </a:solidFill>
                <a:latin typeface="Consolas"/>
              </a:rPr>
              <a:t>canonical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, </a:t>
            </a:r>
            <a:r>
              <a:rPr sz="1800" b="0" i="0">
                <a:solidFill>
                  <a:srgbClr val="0E6B74"/>
                </a:solidFill>
                <a:latin typeface="Consolas"/>
              </a:rPr>
              <a:t>name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och </a:t>
            </a:r>
            <a:r>
              <a:rPr sz="1800" b="0" i="0">
                <a:solidFill>
                  <a:srgbClr val="0E6B74"/>
                </a:solidFill>
                <a:latin typeface="Consolas"/>
              </a:rPr>
              <a:t>title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i </a:t>
            </a:r>
            <a:r>
              <a:rPr sz="1800" b="0" i="0">
                <a:solidFill>
                  <a:srgbClr val="0E6B74"/>
                </a:solidFill>
                <a:latin typeface="Consolas"/>
              </a:rPr>
              <a:t>sushi-config.yaml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, och sökvägen i </a:t>
            </a:r>
            <a:r>
              <a:rPr sz="1800" b="0" i="0">
                <a:solidFill>
                  <a:srgbClr val="0E6B74"/>
                </a:solidFill>
                <a:latin typeface="Consolas"/>
              </a:rPr>
              <a:t>ig.ini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900" b="1" i="0">
                <a:solidFill>
                  <a:srgbClr val="222831"/>
                </a:solidFill>
                <a:latin typeface="Calibri"/>
              </a:rPr>
              <a:t>3.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Lägg till beroenden, t.ex. </a:t>
            </a:r>
            <a:r>
              <a:rPr sz="1800" b="0" i="0">
                <a:solidFill>
                  <a:srgbClr val="0E6B74"/>
                </a:solidFill>
                <a:latin typeface="Consolas"/>
              </a:rPr>
              <a:t>hl7se.fhir.base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, och profilera på dem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900" b="1" i="0">
                <a:solidFill>
                  <a:srgbClr val="222831"/>
                </a:solidFill>
                <a:latin typeface="Calibri"/>
              </a:rPr>
              <a:t>4.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Bygg: </a:t>
            </a:r>
            <a:r>
              <a:rPr sz="1800" b="0" i="0">
                <a:solidFill>
                  <a:srgbClr val="0E6B74"/>
                </a:solidFill>
                <a:latin typeface="Consolas"/>
              </a:rPr>
              <a:t>./scripts/build-ig.sh min-ig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, eller ändra </a:t>
            </a:r>
            <a:r>
              <a:rPr sz="1800" b="0" i="0">
                <a:solidFill>
                  <a:srgbClr val="0E6B74"/>
                </a:solidFill>
                <a:latin typeface="Consolas"/>
              </a:rPr>
              <a:t>IG_FOLDER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i arbetsflödet för GitHub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900" b="1" i="0">
                <a:solidFill>
                  <a:srgbClr val="222831"/>
                </a:solidFill>
                <a:latin typeface="Calibri"/>
              </a:rPr>
              <a:t>5.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Ska IG:n förvaltas på riktigt: utgå från </a:t>
            </a:r>
            <a:r>
              <a:rPr sz="1900" b="1" i="0">
                <a:solidFill>
                  <a:srgbClr val="222831"/>
                </a:solidFill>
                <a:latin typeface="Calibri"/>
              </a:rPr>
              <a:t>Ineras mall-repo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(versioner, releaser, publicering)</a:t>
            </a:r>
          </a:p>
          <a:p>
            <a:pPr marL="292608" indent="-256032">
              <a:spcBef>
                <a:spcPts val="800"/>
              </a:spcBef>
              <a:buClr>
                <a:srgbClr val="0E7C86"/>
              </a:buClr>
              <a:buChar char="•"/>
            </a:pPr>
            <a:r>
              <a:rPr sz="1900" b="1" i="0">
                <a:solidFill>
                  <a:srgbClr val="222831"/>
                </a:solidFill>
                <a:latin typeface="Calibri"/>
              </a:rPr>
              <a:t>6.</a:t>
            </a:r>
            <a:r>
              <a:rPr sz="1900" b="0" i="0">
                <a:solidFill>
                  <a:srgbClr val="222831"/>
                </a:solidFill>
                <a:latin typeface="Calibri"/>
              </a:rPr>
              <a:t> Validera exempel och testdata i CI vid varje ändring, som i kursen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Vidare läsning och resurser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43584"/>
            <a:ext cx="11094415" cy="0"/>
          </a:xfrm>
          <a:prstGeom prst="line">
            <a:avLst/>
          </a:prstGeom>
          <a:ln w="12700">
            <a:solidFill>
              <a:srgbClr val="D5DA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B6577"/>
                </a:solidFill>
                <a:latin typeface="Calibri"/>
              </a:rPr>
              <a:t>FHIR i praktiken  ·  Avslutning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B6577"/>
                </a:solidFill>
                <a:latin typeface="Calibri"/>
              </a:rPr>
              <a:t>78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325880"/>
          <a:ext cx="11094414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622672"/>
                <a:gridCol w="6471742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Resurs</a:t>
                      </a:r>
                    </a:p>
                  </a:txBody>
                  <a:tcPr marL="73152" marR="73152" marT="36576" marB="36576" anchor="ctr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Adress</a:t>
                      </a:r>
                    </a:p>
                  </a:txBody>
                  <a:tcPr marL="73152" marR="73152" marT="36576" marB="36576" anchor="ctr">
                    <a:solidFill>
                      <a:srgbClr val="1B2A4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22831"/>
                          </a:solidFill>
                          <a:latin typeface="Calibri"/>
                        </a:rPr>
                        <a:t>FHIR R4-specifikationen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22831"/>
                          </a:solidFill>
                          <a:latin typeface="Calibri"/>
                        </a:rPr>
                        <a:t>hl7.org/fhir/R4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22831"/>
                          </a:solidFill>
                          <a:latin typeface="Calibri"/>
                        </a:rPr>
                        <a:t>HL7 Sverige – basprofiler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22831"/>
                          </a:solidFill>
                          <a:latin typeface="Calibri"/>
                        </a:rPr>
                        <a:t>hl7.se/fhir/ig/base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22831"/>
                          </a:solidFill>
                          <a:latin typeface="Calibri"/>
                        </a:rPr>
                        <a:t>FSH School – kurser och FSH Online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22831"/>
                          </a:solidFill>
                          <a:latin typeface="Calibri"/>
                        </a:rPr>
                        <a:t>fshschool.org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22831"/>
                          </a:solidFill>
                          <a:latin typeface="Calibri"/>
                        </a:rPr>
                        <a:t>FHIRPath Lab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22831"/>
                          </a:solidFill>
                          <a:latin typeface="Calibri"/>
                        </a:rPr>
                        <a:t>fhirpath-lab.com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22831"/>
                          </a:solidFill>
                          <a:latin typeface="Calibri"/>
                        </a:rPr>
                        <a:t>FHIR Validator (webb)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22831"/>
                          </a:solidFill>
                          <a:latin typeface="Calibri"/>
                        </a:rPr>
                        <a:t>validator.fhir.org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22831"/>
                          </a:solidFill>
                          <a:latin typeface="Calibri"/>
                        </a:rPr>
                        <a:t>SMART App Launch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22831"/>
                          </a:solidFill>
                          <a:latin typeface="Calibri"/>
                        </a:rPr>
                        <a:t>hl7.org/fhir/smart-app-launch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22831"/>
                          </a:solidFill>
                          <a:latin typeface="Calibri"/>
                        </a:rPr>
                        <a:t>IHE-profiler (FHIR)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22831"/>
                          </a:solidFill>
                          <a:latin typeface="Calibri"/>
                        </a:rPr>
                        <a:t>profiles.ihe.net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22831"/>
                          </a:solidFill>
                          <a:latin typeface="Calibri"/>
                        </a:rPr>
                        <a:t>HAPI FHIR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22831"/>
                          </a:solidFill>
                          <a:latin typeface="Calibri"/>
                        </a:rPr>
                        <a:t>hapifhir.io</a:t>
                      </a:r>
                    </a:p>
                  </a:txBody>
                  <a:tcPr marL="73152" marR="73152" marT="36576" marB="36576" anchor="ctr">
                    <a:solidFill>
                      <a:srgbClr val="F3F5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22831"/>
                          </a:solidFill>
                          <a:latin typeface="Calibri"/>
                        </a:rPr>
                        <a:t>Chat – frågor och diskussion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22831"/>
                          </a:solidFill>
                          <a:latin typeface="Calibri"/>
                        </a:rPr>
                        <a:t>chat.fhir.org (#shorthand, #IG creation, #Sweden)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9456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6000" b="1" i="0">
                <a:solidFill>
                  <a:srgbClr val="FFFFFF"/>
                </a:solidFill>
                <a:latin typeface="Calibri"/>
              </a:rPr>
              <a:t>Tack!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56616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 i="0">
                <a:solidFill>
                  <a:srgbClr val="D9EEEF"/>
                </a:solidFill>
                <a:latin typeface="Calibri"/>
              </a:rPr>
              <a:t>Frågor?  ·  Behåll ditt repo: det är din miljö för fortsatt arbete med FHIR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754880"/>
            <a:ext cx="12191695" cy="109728"/>
          </a:xfrm>
          <a:prstGeom prst="rect">
            <a:avLst/>
          </a:prstGeom>
          <a:solidFill>
            <a:srgbClr val="E877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
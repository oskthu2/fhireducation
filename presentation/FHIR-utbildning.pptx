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Välkomna! Presentera dig själv kort.</a:t>
            </a:r>
          </a:p>
          <a:p/>
          <a:p>
            <a:r>
              <a:t>Dagen är praktisk: vi varvar korta genomgångar med övningar. Alla övningar görs i deltagarnas egna repon på</a:t>
            </a:r>
          </a:p>
          <a:p>
            <a:r>
              <a:t>GitHub, som byggs automatiskt med SUSHI och IG Publisher i GitHub Actions. Ingen lokal installation behövs.</a:t>
            </a:r>
          </a:p>
          <a:p/>
          <a:p>
            <a:r>
              <a:t>Kontrollera att alla har skapat sitt repo från mallen och har en grön bock under Actions (förberedelseuppgift).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Sex moduler à 50 minuter med 10 minuters paus mellan varje, plus en kort inledning och en avslutning.</a:t>
            </a:r>
          </a:p>
          <a:p>
            <a:r>
              <a:t>Tiderna är ett förslag, anpassa efter lokal och lunch.</a:t>
            </a:r>
          </a:p>
          <a:p/>
          <a:p>
            <a:r>
              <a:t>Varje modul har samma rytm: genomgång, övning och en kort summering. Övningarna bygger på varandra.</a:t>
            </a:r>
          </a:p>
          <a:p>
            <a:r>
              <a:t>Den som hamnar efter kan när som helst köra arbetsflödet "Kom ikapp" och få lösningen till sitt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Målet är praktisk tillämpning: efter dagen ska deltagarna kunna läsa och kravställa profiler, förstå vad en IG</a:t>
            </a:r>
          </a:p>
          <a:p>
            <a:r>
              <a:t>innehåller, och ha en fungerande miljö för att fortsätta på egen hand.</a:t>
            </a:r>
          </a:p>
          <a:p/>
          <a:p>
            <a:r>
              <a:t>Fråga gärna gruppen vilka roller som finns i rummet: kravställare, utvecklare, testare, arkitekter, informatiker.</a:t>
            </a:r>
          </a:p>
          <a:p>
            <a:r>
              <a:t>Anpassa djupet efter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stället för nya exempel i varje modul följer vi samma två resurser hela dagen: Patient och Encounter.</a:t>
            </a:r>
          </a:p>
          <a:p>
            <a:r>
              <a:t>Testpersonen är Tolvan Tolvansson (191212121212), Skatteverkets klassiska testperson.</a:t>
            </a:r>
          </a:p>
          <a:p/>
          <a:p>
            <a:r>
              <a:t>Modul 1: vi läser resurserna. Modul 2: vi tolkar profilerna. Modul 3: vi skriver profilerna i FSH.</a:t>
            </a:r>
          </a:p>
          <a:p>
            <a:r>
              <a:t>Modul 4: vi lägger till regler med FHIRPath. Modul 5: vi exponerar data från ett "journalsystem" via ett FHIR-API.</a:t>
            </a:r>
          </a:p>
          <a:p>
            <a:r>
              <a:t>Modul 6: vi beskriver kraven i ett CapabilityStatement och validerar instanser.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Varje deltagare har ett eget repo skapat från kursens mall-repo (GitHub template).</a:t>
            </a:r>
          </a:p>
          <a:p>
            <a:r>
              <a:t>Man ändrar filer direkt i webbläsaren (pennan, eller tryck punkt för github.dev) och checkar in.</a:t>
            </a:r>
          </a:p>
          <a:p>
            <a:r>
              <a:t>Varje incheckning startar GitHub Actions, som kör SUSHI och IG Publisher och publicerar IG:n på GitHub Pages.</a:t>
            </a:r>
          </a:p>
          <a:p>
            <a:r>
              <a:t>Det är samma upplägg som Ineras mall-repo för IG:er.</a:t>
            </a:r>
          </a:p>
          <a:p/>
          <a:p>
            <a:r>
              <a:t>Det finns också ett Docker-spår för den som vill bygga lokalt, och GitHub Codespaces om man vill ha en</a:t>
            </a:r>
          </a:p>
          <a:p>
            <a:r>
              <a:t>fullständig utvecklingsmiljö i webbläsaren.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bör deltagarna ha gjort före kursen. Gå igenom det snabbt och hjälp den som fastnat under första övningen.</a:t>
            </a:r>
          </a:p>
          <a:p/>
          <a:p>
            <a:r>
              <a:t>Vanliga problem:</a:t>
            </a:r>
          </a:p>
          <a:p>
            <a:r>
              <a:t>- Repot skapades som privat på ett gratiskonto. Då fungerar inte GitHub Pages. Gör repot publikt.</a:t>
            </a:r>
          </a:p>
          <a:p>
            <a:r>
              <a:t>- GitHub Pages är inte aktiverat. Settings, Pages, Deploy from a branch, gh-pages, root.</a:t>
            </a:r>
          </a:p>
          <a:p>
            <a:r>
              <a:t>- Actions är avstängt i organisationen. Använd ett personligt konto.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 1 lägger grunden. Många har sett FHIR-JSON men inte läst den systematiskt.</a:t>
            </a:r>
          </a:p>
          <a:p>
            <a:r>
              <a:t>Fokus: att kunna slå upp och tolka varje del av en resurs med hjälp av specifikationen.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= Fast Healthcare Interoperability Resources, en standard från HL7.</a:t>
            </a:r>
          </a:p>
          <a:p>
            <a:r>
              <a:t>Bygger på webbteknik: REST, JSON/XML, OAuth.</a:t>
            </a:r>
          </a:p>
          <a:p/>
          <a:p>
            <a:r>
              <a:t>Grundidén: information delas upp i små återanvändbara byggstenar (resurser) som kan refereras till varandra.</a:t>
            </a:r>
          </a:p>
          <a:p>
            <a:r>
              <a:t>Basresurserna täcker det vanliga (80/20-regeln). Resten hanteras med profiler och extensions, och det är det dagen</a:t>
            </a:r>
          </a:p>
          <a:p>
            <a:r>
              <a:t>handlar om.</a:t>
            </a:r>
          </a:p>
          <a:p/>
          <a:p>
            <a:r>
              <a:t>Versioner: R4 (2019) är fortfarande den mest använda, även i Sverige (HL7 Sverige-basprofiler, Inera).</a:t>
            </a:r>
          </a:p>
          <a:p>
            <a:r>
              <a:t>R5 kom 2023, och R6 är på väg. Kursen använder R4.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delarna uppifrån och ned. Alla resurser (DomainResource) har samma "ram":</a:t>
            </a:r>
          </a:p>
          <a:p>
            <a:r>
              <a:t>- resourceType och id (logiskt id på servern)</a:t>
            </a:r>
          </a:p>
          <a:p>
            <a:r>
              <a:t>- meta: metadata som servern ofta sätter (versionId, lastUpdated) och profiler/taggar</a:t>
            </a:r>
          </a:p>
          <a:p>
            <a:r>
              <a:t>- text: narrativ, en människoläsbar XHTML-sammanfattning</a:t>
            </a:r>
          </a:p>
          <a:p>
            <a:r>
              <a:t>- extension och modifierExtension</a:t>
            </a:r>
          </a:p>
          <a:p>
            <a:r>
              <a:t>- därefter resursens egna element, i den ordning specifikationen anger (i XML är ordningen viktig)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Primitiva datatyper har ett enkelt värde. Observera skillnaden mellan date och dateTime, och att en dateTime med</a:t>
            </a:r>
          </a:p>
          <a:p>
            <a:r>
              <a:t>klockslag kräver tidszon.</a:t>
            </a:r>
          </a:p>
          <a:p/>
          <a:p>
            <a:r>
              <a:t>Komplexa datatyper är återanvändbara strukturer. De viktigaste att kunna: Identifier, HumanName, CodeableConcept,</a:t>
            </a:r>
          </a:p>
          <a:p>
            <a:r>
              <a:t>Coding, Reference, Period, Quantity.</a:t>
            </a:r>
          </a:p>
          <a:p/>
          <a:p>
            <a:r>
              <a:t>Tips: klicka på datatypen i specifikationens tabell för att se dess delar.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gärna live: https://hl7.org/fhir/R4/patient.html</a:t>
            </a:r>
          </a:p>
          <a:p/>
          <a:p>
            <a:r>
              <a:t>Förklara kolumnerna: Name, Flags, Card. (kardinalitet), Type, Description &amp; Constraints.</a:t>
            </a:r>
          </a:p>
          <a:p>
            <a:r>
              <a:t>Flaggor: Σ = ingår i _summary, ?! = modifierande element (kan ändra betydelsen av resursen, t.ex. active,</a:t>
            </a:r>
          </a:p>
          <a:p>
            <a:r>
              <a:t>deceased), I = har invarianter, N = normativ.</a:t>
            </a:r>
          </a:p>
          <a:p/>
          <a:p>
            <a:r>
              <a:t>Kardinalitet: 0..1 valfri, 1..1 obligatorisk, 0..* lista, 1..* minst 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är navet i FHIR: resurser pekar på varandra.</a:t>
            </a:r>
          </a:p>
          <a:p/>
          <a:p>
            <a:r>
              <a:t>- Bokstavlig referens: "Patient/123" (relativ) eller en absolut URL. Mottagaren kan hämta resursen.</a:t>
            </a:r>
          </a:p>
          <a:p>
            <a:r>
              <a:t>- Logisk referens: identifier, t.ex. HSA-id för en organisation, när man inte har (eller vill ha) en resurs att peka på.</a:t>
            </a:r>
          </a:p>
          <a:p>
            <a:r>
              <a:t>  Vanligt i Sverige.</a:t>
            </a:r>
          </a:p>
          <a:p>
            <a:r>
              <a:t>- display: bara text till människor. Den får aldrig användas för maskinell tolkning.</a:t>
            </a:r>
          </a:p>
          <a:p>
            <a:r>
              <a:t>- contained: resursen bäddas in i den refererande resursen. Använd sparsamt.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centrala resurser: CodeSystem definierar koder (t.ex. SNOMED CT, ICD-10, eller ett lokalt kodverk).</a:t>
            </a:r>
          </a:p>
          <a:p>
            <a:r>
              <a:t>ValueSet väljer ut koder ur ett eller flera kodsystem för ett visst syfte.</a:t>
            </a:r>
          </a:p>
          <a:p>
            <a:r>
              <a:t>Bindningen kopplar ett element i en resurs till ett ValueSet.</a:t>
            </a:r>
          </a:p>
          <a:p/>
          <a:p>
            <a:r>
              <a:t>I instansen: code (bara koden, system underförstått), Coding (system + code + display),</a:t>
            </a:r>
          </a:p>
          <a:p>
            <a:r>
              <a:t>CodeableConcept (flera Coding för samma begrepp + fritext).</a:t>
            </a:r>
          </a:p>
          <a:p/>
          <a:p>
            <a:r>
              <a:t>Exempel: samma diagnos kan kodas både i ICD-10 och SNOMED CT i samma CodeableConcept.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en av de viktigaste sakerna vid kravställning.</a:t>
            </a:r>
          </a:p>
          <a:p/>
          <a:p>
            <a:r>
              <a:t>required: endast koder från värdemängden. Exempel: Patient.gender, Encounter.status.</a:t>
            </a:r>
          </a:p>
          <a:p>
            <a:r>
              <a:t>extensible: använd värdemängdens kod om den finns, annars får en annan kod användas. Exempel: maritalStatus.</a:t>
            </a:r>
          </a:p>
          <a:p>
            <a:r>
              <a:t>preferred: rekommendation.</a:t>
            </a:r>
          </a:p>
          <a:p>
            <a:r>
              <a:t>example: bara illustration. Exempel: Encounter.type i R4.</a:t>
            </a:r>
          </a:p>
          <a:p/>
          <a:p>
            <a:r>
              <a:t>I en profil får man skärpa (example till extensible till required) men aldrig lätta på en bindning.</a:t>
            </a:r>
          </a:p>
          <a:p/>
          <a:p>
            <a:r>
              <a:t>Diskutera: vad händer i Sverige när ett internationellt ValueSet är extensible men saknar svenska begrepp?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Extensions är FHIR:s inbyggda sätt att lägga till information som inte finns i basresursen. Alla får använda dem,</a:t>
            </a:r>
          </a:p>
          <a:p>
            <a:r>
              <a:t>men de måste definieras (StructureDefinition) och identifieras med en url.</a:t>
            </a:r>
          </a:p>
          <a:p/>
          <a:p>
            <a:r>
              <a:t>Enkel extension: url + ett value[x].</a:t>
            </a:r>
          </a:p>
          <a:p>
            <a:r>
              <a:t>Komplex extension: url + nästlade extensions (ingen egen value).</a:t>
            </a:r>
          </a:p>
          <a:p>
            <a:r>
              <a:t>Extension på primitivt värde: i JSON skrivs den i ett syskonelement med understreck, t.ex. _birthDate.</a:t>
            </a:r>
          </a:p>
          <a:p/>
          <a:p>
            <a:r>
              <a:t>modifierExtension: ändrar betydelsen av resursen, t.ex. "denna ordination gäller INTE". En mottagare som inte</a:t>
            </a:r>
          </a:p>
          <a:p>
            <a:r>
              <a:t>förstår en modifierExtension får inte bearbeta resursen. Används mycket sparsamt.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meta.profile är ett påstående: "jag gör anspråk på att följa den här profilen". Det är inte en garanti.</a:t>
            </a:r>
          </a:p>
          <a:p>
            <a:r>
              <a:t>Mottagaren måste validera. Och en resurs kan följa en profil utan att den står i meta.profile.</a:t>
            </a:r>
          </a:p>
          <a:p/>
          <a:p>
            <a:r>
              <a:t>meta.security används för säkerhetsmärkning, t.ex. konfidentialitet. Den kan styra behörighet.</a:t>
            </a:r>
          </a:p>
          <a:p>
            <a:r>
              <a:t>meta.tag är fria etiketter för arbetsflöden. De påverkar inte tolkningen.</a:t>
            </a:r>
          </a:p>
          <a:p/>
          <a:p>
            <a:r>
              <a:t>text: narrativen ska spegla den strukturerade datan. status=generated betyder att den är genererad från datan.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Låt deltagarna arbeta i par. Gå runt och lyssna.</a:t>
            </a:r>
          </a:p>
          <a:p/>
          <a:p>
            <a:r>
              <a:t>Vanliga frågor: skillnaden mellan Coding och CodeableConcept, vad _birthDate är, varför class är en Coding i R4.</a:t>
            </a:r>
          </a:p>
          <a:p/>
          <a:p>
            <a:r>
              <a:t>Felet i Encounter: status "avslutad" i stället för "finished" (required-bindning).</a:t>
            </a:r>
          </a:p>
          <a:p>
            <a:r>
              <a:t>Ta upp svaren gemensamt de sista 5 minuterna.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Summera och koppla vidare: i modul 2 tittar vi på hur man beskriver krav på resurser, alltså profiler,</a:t>
            </a:r>
          </a:p>
          <a:p>
            <a:r>
              <a:t>och hur de paketeras i en 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 2 handlar om att tolka krav. Det är här kravställare och utvecklare möts: profilen är kontraktet.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Basresurserna är medvetet generella för att fungera i hela världen. Nästan allt är valfritt (0..1, 0..*), och</a:t>
            </a:r>
          </a:p>
          <a:p>
            <a:r>
              <a:t>många bindningar är bara exempel.</a:t>
            </a:r>
          </a:p>
          <a:p/>
          <a:p>
            <a:r>
              <a:t>I ett konkret sammanhang (en region, en tjänst, ett land) behöver vi säga mer: vilka element som krävs, vilka</a:t>
            </a:r>
          </a:p>
          <a:p>
            <a:r>
              <a:t>kodverk som gäller, hur personnummer ska anges osv. Det gör vi med profiler.</a:t>
            </a:r>
          </a:p>
          <a:p/>
          <a:p>
            <a:r>
              <a:t>Profilen är kontraktet mellan parterna och kan valideras maskinellt.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profil kan bara begränsa, inte utöka. Allt som är giltigt mot profilen måste också vara giltigt mot basen.</a:t>
            </a:r>
          </a:p>
          <a:p>
            <a:r>
              <a:t>Det är grunden för att system som inte känner till profilen ändå kan läsa datan.</a:t>
            </a:r>
          </a:p>
          <a:p/>
          <a:p>
            <a:r>
              <a:t>Det enda sättet att lägga till är extensions, och de är en del av basens regelverk.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profil är en StructureDefinition med derivation = constraint och en baseDefinition.</a:t>
            </a:r>
          </a:p>
          <a:p/>
          <a:p>
            <a:r>
              <a:t>Differential: bara ändringarna. Det är det man skriver (i FSH eller Forge).</a:t>
            </a:r>
          </a:p>
          <a:p>
            <a:r>
              <a:t>Snapshot: hela den resulterande definitionen, beräknad från basen + differential. Det är vad validatorn använder.</a:t>
            </a:r>
          </a:p>
          <a:p/>
          <a:p>
            <a:r>
              <a:t>I IG:n finns flikar för båda, och dessutom Key Elements (de viktigaste) och Must Support-vyn.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 Support (MS) är en flagga i profilen. FHIR-specifikationen definierar inte exakt vad den betyder.</a:t>
            </a:r>
          </a:p>
          <a:p>
            <a:r>
              <a:t>Det måste varje IG göra själv, och det är en vanlig källa till missförstånd.</a:t>
            </a:r>
          </a:p>
          <a:p/>
          <a:p>
            <a:r>
              <a:t>Typiska definitioner: avsändaren SKA skicka elementet om informationen finns. Mottagaren SKA kunna ta emot,</a:t>
            </a:r>
          </a:p>
          <a:p>
            <a:r>
              <a:t>lagra och/eller visa det, och får inte avvisa meddelandet för att elementet finns.</a:t>
            </a:r>
          </a:p>
          <a:p/>
          <a:p>
            <a:r>
              <a:t>MS är inte samma sak som obligatoriskt (min = 1). Ett element kan vara 0..1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bindning i profilen är bara halva jobbet. Vid validering används en terminologiserver för att räkna fram</a:t>
            </a:r>
          </a:p>
          <a:p>
            <a:r>
              <a:t>värdemängder ($expand) och kontrollera koder ($validate-code). IG Publisher och FHIR Validator använder</a:t>
            </a:r>
          </a:p>
          <a:p>
            <a:r>
              <a:t>tx.fhir.org som standard. Nationellt kan andra servrar gälla.</a:t>
            </a:r>
          </a:p>
          <a:p/>
          <a:p>
            <a:r>
              <a:t>Viktigt för kravställare:</a:t>
            </a:r>
          </a:p>
          <a:p>
            <a:r>
              <a:t>- required: kod utanför värdemängden ger fel.</a:t>
            </a:r>
          </a:p>
          <a:p>
            <a:r>
              <a:t>- extensible: kod utanför ger bara varning, eftersom validatorn inte kan avgöra om en passande kod fanns.</a:t>
            </a:r>
          </a:p>
          <a:p>
            <a:r>
              <a:t>  Det ser vi i övning 6.3.</a:t>
            </a:r>
          </a:p>
          <a:p>
            <a:r>
              <a:t>- Versioner: SNOMED CT har editioner (svensk edition) och versioner. Ange version när det spelar roll.</a:t>
            </a:r>
          </a:p>
          <a:p>
            <a:r>
              <a:t>- Display-texter kontrolleras. Vi råkade själva få fel när ICD-10-displayen var på svenska.</a:t>
            </a:r>
          </a:p>
          <a:p/>
          <a:p>
            <a:r>
              <a:t>Svenska kodverk: SNOMED CT svensk edition, ICD-10-SE, ATC, NPU, KVÅ och nationella kodverk från Socialstyrelsen</a:t>
            </a:r>
          </a:p>
          <a:p>
            <a:r>
              <a:t>och Inera. HL7 Sveriges basprofiler binder t.ex. civilstånd till ett svenskt ValueSet.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steg: 1) extensionen definieras som en egen StructureDefinition med url, context (var den får användas) och</a:t>
            </a:r>
          </a:p>
          <a:p>
            <a:r>
              <a:t>value[x]. 2) Profilen säger att extensionen får eller ska förekomma, genom att lägga till en slice på extension.</a:t>
            </a:r>
          </a:p>
          <a:p/>
          <a:p>
            <a:r>
              <a:t>Använd i första hand befintliga extensions: från FHIR-standarden (core/extensions-paketet), HL7 Sverige eller</a:t>
            </a:r>
          </a:p>
          <a:p>
            <a:r>
              <a:t>nationella IG:er. Skapa egna bara när inget passar.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Slicing används när ett upprepande element innehåller olika "sorters" saker som ska ha olika regler.</a:t>
            </a:r>
          </a:p>
          <a:p>
            <a:r>
              <a:t>Klassiskt exempel: identifier, där personnummer och samordningsnummer har olika system och regler.</a:t>
            </a:r>
          </a:p>
          <a:p/>
          <a:p>
            <a:r>
              <a:t>För varje slice anges namn, kardinalitet och egna regler. Slicingen har en diskriminator, alltså vad i datan som</a:t>
            </a:r>
          </a:p>
          <a:p>
            <a:r>
              <a:t>avgör vilken slice ett element tillhör, och regler (open/closed/openAtEnd) för element som inte matchar.</a:t>
            </a:r>
          </a:p>
          <a:p/>
          <a:p>
            <a:r>
              <a:t>Extensions är för övrigt alltid slicade på url. Det är så profilen säger vilka extensions som får förekomma.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Viktig poäng: slice-namnet finns bara i profilen. I instansen finns bara en lista.</a:t>
            </a:r>
          </a:p>
          <a:p>
            <a:r>
              <a:t>Mottagaren eller validatorn måste själv räkna ut vilken slice varje element tillhör med hjälp av diskriminatorn.</a:t>
            </a:r>
          </a:p>
          <a:p/>
          <a:p>
            <a:r>
              <a:t>Konsekvenser att diskutera:</a:t>
            </a:r>
          </a:p>
          <a:p>
            <a:r>
              <a:t>- Diskriminatorn måste ha ett fast värde i varje slice, annars går det inte att avgöra.</a:t>
            </a:r>
          </a:p>
          <a:p>
            <a:r>
              <a:t>- Ett stavfel i system gör att elementet inte matchar någon slice. Med open slicing räknas det som "övrigt",</a:t>
            </a:r>
          </a:p>
          <a:p>
            <a:r>
              <a:t>  och slicens regler (t.ex. format på personnumret) kontrolleras aldrig.</a:t>
            </a:r>
          </a:p>
          <a:p>
            <a:r>
              <a:t>- Ordningen i listan betyder inget om inte ordered = true.</a:t>
            </a:r>
          </a:p>
          <a:p>
            <a:r>
              <a:t>- Det är lätt att tro att instansen "har" en personnummer-slice. Det är tolkningen, inte datan.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IG är en samling konformitetsresurser och dokumentation som tillsammans beskriver hur FHIR ska användas i ett</a:t>
            </a:r>
          </a:p>
          <a:p>
            <a:r>
              <a:t>visst sammanhang.</a:t>
            </a:r>
          </a:p>
          <a:p/>
          <a:p>
            <a:r>
              <a:t>Den publiceras som en webbplats (för människor) och som ett npm-paket package.tgz (för maskiner: validatorer,</a:t>
            </a:r>
          </a:p>
          <a:p>
            <a:r>
              <a:t>servrar och andra IG:er som bygger vidare).</a:t>
            </a:r>
          </a:p>
          <a:p/>
          <a:p>
            <a:r>
              <a:t>Varje resurs har en canonical URL. IG:n har ett paket-id och en version, och andra IG:er anger beroenden på</a:t>
            </a:r>
          </a:p>
          <a:p>
            <a:r>
              <a:t>paket-id#version.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kursens egen IG (deltagarnas GitHub Pages) eller en publicerad IG, t.ex. HL7 Sveriges basprofiler.</a:t>
            </a:r>
          </a:p>
          <a:p/>
          <a:p>
            <a:r>
              <a:t>Gå igenom flikarna på en profilsida: Text summary, Differential table, Snapshot table, Key elements, Must support,</a:t>
            </a:r>
          </a:p>
          <a:p>
            <a:r>
              <a:t>Statistics, och XML/JSON/TTL.</a:t>
            </a:r>
          </a:p>
          <a:p/>
          <a:p>
            <a:r>
              <a:t>Visa också Artifacts-sidan och qa.html, där IG Publisher redovisar fel och varningar för hela IG:n.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snabb översikt över verktyg vi använder i dag (fetstil) och andra som är bra att känna till.</a:t>
            </a:r>
          </a:p>
          <a:p/>
          <a:p>
            <a:r>
              <a:t>Forge och Simplifier (Firely) är vanliga i Sverige för grafisk profilering och publicering.</a:t>
            </a:r>
          </a:p>
          <a:p>
            <a:r>
              <a:t>FSH och SUSHI är HL7:s textbaserade alternativ och fungerar bra med git och CI. Det är vad vi använder i dag och</a:t>
            </a:r>
          </a:p>
          <a:p>
            <a:r>
              <a:t>vad Ineras mall-repo bygger på.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Profilen i övningen är den som deltagarna själva bygger i modul 3 och 4, så de får en förhandstitt.</a:t>
            </a:r>
          </a:p>
          <a:p>
            <a:r>
              <a:t>Den publiceras automatiskt som facit-IG under /facit/ på deltagarnas GitHub Pages. Saknas den: Actions → Bygg IG →</a:t>
            </a:r>
          </a:p>
          <a:p>
            <a:r>
              <a:t>Run workflow. Läs profilen i IG Publishers vyer, så som kravställare möter profiler i verkligheten.</a:t>
            </a:r>
          </a:p>
          <a:p>
            <a:r>
              <a:t>Den som vill kan jämföra med JSON-filen i kursmaterialet.</a:t>
            </a:r>
          </a:p>
          <a:p/>
          <a:p>
            <a:r>
              <a:t>Facit-IG:n innehåller också invarianter. Spara dem till modul 4 (övning 4.0).</a:t>
            </a:r>
          </a:p>
          <a:p/>
          <a:p>
            <a:r>
              <a:t>Poängen med 2.2 är den fjärde identifieraren, med felstavat system. Den hamnar utanför alla slices,</a:t>
            </a:r>
          </a:p>
          <a:p>
            <a:r>
              <a:t>och eftersom slicingen är öppen blir instansen ändå giltig. Det leder vidare till diskussionen om</a:t>
            </a:r>
          </a:p>
          <a:p>
            <a:r>
              <a:t>open/closed och om vad validering kan och inte kan fånga (modul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Nästa modul: vi skriver profilen som vi just tolkade, i FSH, och bygger den i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den mest praktiska modulen. Räkna med att de flesta hinner 3.1–3.3. Övning 3.4–3.5 är valfria,</a:t>
            </a:r>
          </a:p>
          <a:p>
            <a:r>
              <a:t>och Kom ikapp → modul 3 ger alla samma läge inför modul 4. Håll genomgången kort och låt deltagarna bygga.</a:t>
            </a:r>
          </a:p>
          <a:p>
            <a:r>
              <a:t>Ha lösningen redo att visa, och påminn om "Kom ikapp".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Shorthand är ett domänspecifikt språk för att skriva FHIR-artefakter. SUSHI kompilerar FSH till JSON.</a:t>
            </a:r>
          </a:p>
          <a:p/>
          <a:p>
            <a:r>
              <a:t>Fördelar: kort och läsbart, fungerar med git (diff, pull requests, code review), kan byggas automatiskt i CI.</a:t>
            </a:r>
          </a:p>
          <a:p>
            <a:r>
              <a:t>Det är HL7-standard och används av de flesta nya IG:er, bland annat Ineras 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repot: test-ig/sushi-config.yaml (metadata för IG:n), input/fsh (FSH-filerna), input/pagecontent (sidor)</a:t>
            </a:r>
          </a:p>
          <a:p>
            <a:r>
              <a:t>och ig.ini (pekar ut IG-resursen och mallen).</a:t>
            </a:r>
          </a:p>
          <a:p/>
          <a:p>
            <a:r>
              <a:t>SUSHI läser FSH och skriver JSON till fsh-generated/. IG Publisher läser JSON och sidorna och skapar webbplatsen</a:t>
            </a:r>
          </a:p>
          <a:p>
            <a:r>
              <a:t>i output/. I GitHub Actions publiceras output till grenen gh-pages, som GitHub Pages visar.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Varje entitet börjar med ett nyckelord och ett namn, följt av metadata (Parent, Id, Title, Description) och</a:t>
            </a:r>
          </a:p>
          <a:p>
            <a:r>
              <a:t>regler som börjar med asterisk.</a:t>
            </a:r>
          </a:p>
          <a:p/>
          <a:p>
            <a:r>
              <a:t>Id blir en del av den canonical URL:en: [canonical]/StructureDefinition/[Id].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de vanligaste reglerna. Caret (^) sätter värden på själva StructureDefinition eller ElementDefinition</a:t>
            </a:r>
          </a:p>
          <a:p>
            <a:r>
              <a:t>i stället för på instansdata, t.ex. ^short, ^slicing och ^status.</a:t>
            </a:r>
          </a:p>
          <a:p/>
          <a:p>
            <a:r>
              <a:t>Regler för instanser (Instance) använder samma syntax: * name.family = "Tolvansson".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Öppna filerna tillsammans i GitHub. Visa sedan resultatet i den publicerade IG:n: profilsidan och exemplet.</a:t>
            </a:r>
          </a:p>
          <a:p/>
          <a:p>
            <a:r>
              <a:t>Påpeka att meta.profile inte står i exemplet: SUSHI lägger till det automatiskt utifrån InstanceOf.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3.2. Visa strukturen, låt deltagarna skriva själva. Notera:</a:t>
            </a:r>
          </a:p>
          <a:p>
            <a:r>
              <a:t>- subject only Reference(EducationPatient) begränsar målet för referensen till vår profil.</a:t>
            </a:r>
          </a:p>
          <a:p>
            <a:r>
              <a:t>- serviceProvider med logisk referens (HSA-id).</a:t>
            </a:r>
          </a:p>
          <a:p>
            <a:r>
              <a:t>- Exemplet refererar till patient-tolvan med Reference(patient-tolvan). SUSHI löser upp det till Patient/patient-tolvan.</a:t>
            </a:r>
          </a:p>
          <a:p>
            <a:r>
              <a:t>- Exemplet måste innehålla alla element som profilen kräver (1..1), annars fel i qa.html.</a:t>
            </a:r>
          </a:p>
          <a:p>
            <a:r>
              <a:t>- type anges som fritext (type.text) tills kodsystemet Kontakttyp finns. I övning 3.3 byts den mot en kod.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sätt att få en bindning på plats:</a:t>
            </a:r>
          </a:p>
          <a:p>
            <a:r>
              <a:t>1. Eget kodsystem + ValueSet som inkluderar hela kodsystemet (include codes from system).</a:t>
            </a:r>
          </a:p>
          <a:p>
            <a:r>
              <a:t>2. ValueSet som räknar upp enskilda koder ur ett befintligt kodsystem (include $system#kod).</a:t>
            </a:r>
          </a:p>
          <a:p>
            <a:r>
              <a:t>3. Bindning genom referens till ett befintligt, publicerat ValueSet (canonical URL).</a:t>
            </a:r>
          </a:p>
          <a:p/>
          <a:p>
            <a:r>
              <a:t>Diskutera förvaltning: ett eget ValueSet måste ni förvalta själva. En referens till ett nationellt ValueSet ger</a:t>
            </a:r>
          </a:p>
          <a:p>
            <a:r>
              <a:t>automatiskt uppdateringar, men också beroenden. Man kan också inkludera ett annat ValueSet (include codes from</a:t>
            </a:r>
          </a:p>
          <a:p>
            <a:r>
              <a:t>valueset) eller filtrera, t.ex. SNOMED CT is-a.</a:t>
            </a:r>
          </a:p>
          <a:p/>
          <a:p>
            <a:r>
              <a:t>Kontakttyp är ett fiktivt kodverk för kursen. I verkligheten används nationella kodverk.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3.4 och 3.5. Visa att extension-slicing (contains) och identifier-slicing har samma syntax:</a:t>
            </a:r>
          </a:p>
          <a:p>
            <a:r>
              <a:t>contains + namn + kardinalitet. Skillnaden är att för extensions sköter FHIR själv diskriminatorn (url), medan vi</a:t>
            </a:r>
          </a:p>
          <a:p>
            <a:r>
              <a:t>för identifier måste ange diskriminatorn med ^slicing.</a:t>
            </a:r>
          </a:p>
          <a:p/>
          <a:p>
            <a:r>
              <a:t>I exemplet: identifier[personnummer].value = "...". Systemet fylls i automatiskt från profilens mönster.</a:t>
            </a:r>
          </a:p>
          <a:p>
            <a:r>
              <a:t>Titta sedan i JSON-fliken: slice-namnet syns inte.</a:t>
            </a:r>
          </a:p>
          <a:p/>
          <a:p>
            <a:r>
              <a:t>Diskussionsfråga om SkyddadIdentitet: HL7 Sveriges SEBasePatient uttrycker sekretessmarkering och skyddad</a:t>
            </a:r>
          </a:p>
          <a:p>
            <a:r>
              <a:t>folkbokföring med meta.security (kodsystemet http://hl7.se/fhir/ig/base/CodeSystem/SecurityLabel), inte med en</a:t>
            </a:r>
          </a:p>
          <a:p>
            <a:r>
              <a:t>extension. Vår extension är en övning i att skapa extensions, men i verkligheten återanvänder man den nationella lösningen.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3.6 (extra). I verkligheten profilerar man sällan direkt på basresursen. HL7 Sveriges SEBasePatient har</a:t>
            </a:r>
          </a:p>
          <a:p>
            <a:r>
              <a:t>redan slicing för personnummer, samordningsnummer och nationellt reservnummer, med samma diskriminator som vi</a:t>
            </a:r>
          </a:p>
          <a:p>
            <a:r>
              <a:t>byggde själva. Den har svenska namnregler (högst ett namn, mellannamn) och säkerhetsmärkning via meta.security.</a:t>
            </a:r>
          </a:p>
          <a:p/>
          <a:p>
            <a:r>
              <a:t>Beroendet anges i sushi-config.yaml med paket-id och version. Det är samma princip som vid kravställning:</a:t>
            </a:r>
          </a:p>
          <a:p>
            <a:r>
              <a:t>peka ut exakt vilken version man bygger på.</a:t>
            </a:r>
          </a:p>
          <a:p/>
          <a:p>
            <a:r>
              <a:t>Diskutera: vad ärver man "på köpet"? Varför kan EducationSEPatient inte ha name 1..* (basprofilen säger 0..1)?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Hela bygget tar cirka 2 minuter, men SUSHI-steget är klart efter ungefär 30 sekunder. Lär deltagarna att titta</a:t>
            </a:r>
          </a:p>
          <a:p>
            <a:r>
              <a:t>där först. Uppmuntra flera ändringar per incheckning, eller github.dev (tryck .) för att ändra flera filer samtidigt.</a:t>
            </a:r>
          </a:p>
          <a:p/>
          <a:p>
            <a:r>
              <a:t>3.4–3.5 är valfria under kurstiden. 3.6 är en extrauppgift (eller hemuppgift) för den som är klar.</a:t>
            </a:r>
          </a:p>
          <a:p/>
          <a:p>
            <a:r>
              <a:t>Vanliga fel:</a:t>
            </a:r>
          </a:p>
          <a:p>
            <a:r>
              <a:t>- Indrag och citattecken i FSH</a:t>
            </a:r>
          </a:p>
          <a:p>
            <a:r>
              <a:t>- Glömt alias ($personnummer) eller skrivit fel namn på ValueSet</a:t>
            </a:r>
          </a:p>
          <a:p>
            <a:r>
              <a:t>- Profilen refererar till ett ValueSet som inte finns ännu</a:t>
            </a:r>
          </a:p>
          <a:p/>
          <a:p>
            <a:r>
              <a:t>Visa en lösning på storskärm efter 20 minuter.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Påminn om Kom ikapp innan lunch, så att alla börjar modul 4 från samma läge.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Efter lunch: kom igång med något konkret. Visa FHIRPath Lab direkt och låt alla prova ett uttryck på Tolvan.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FHIRPath är ett uttrycksspråk för att navigera och välja ut data i FHIR-resurser, ungefär som XPath för XML.</a:t>
            </a:r>
          </a:p>
          <a:p/>
          <a:p>
            <a:r>
              <a:t>Det används på många ställen i FHIR: invarianter (constraints), sökparametrar (SearchParameter.expression),</a:t>
            </a:r>
          </a:p>
          <a:p>
            <a:r>
              <a:t>slicing-diskriminatorer (path), mappningar, CQL, SQL on FHIR (ViewDefinition) och i verktyg som validatorn.</a:t>
            </a:r>
          </a:p>
          <a:p/>
          <a:p>
            <a:r>
              <a:t>Grundprincipen: allt är samlingar (collections). Ett uttryck som inte hittar något ger en tom samling, inte ett 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tabellen. Viktigt att förstå:</a:t>
            </a:r>
          </a:p>
          <a:p>
            <a:r>
              <a:t>- where filtrerar, exists/empty testar, all testar alla element.</a:t>
            </a:r>
          </a:p>
          <a:p>
            <a:r>
              <a:t>- implies: "om A så B". Om A är falskt är hela uttrycket sant.</a:t>
            </a:r>
          </a:p>
          <a:p>
            <a:r>
              <a:t>- Strängar med enkla citattecken, datum med @.</a:t>
            </a:r>
          </a:p>
          <a:p>
            <a:r>
              <a:t>- extension('url') är en genväg för extension.where(url = '...').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fliken Constraints på https://hl7.org/fhir/R4/patient.html.</a:t>
            </a:r>
          </a:p>
          <a:p/>
          <a:p>
            <a:r>
              <a:t>pat-1 gäller Patient.contact: en kontaktperson måste ha minst något av namn, telecom, adress eller organisation.</a:t>
            </a:r>
          </a:p>
          <a:p>
            <a:r>
              <a:t>ele-1 och ext-1 finns på alla element och extensions. dom-6 är en best practice-varning som ni kommer att se</a:t>
            </a:r>
          </a:p>
          <a:p>
            <a:r>
              <a:t>ofta i valideringen.</a:t>
            </a:r>
          </a:p>
          <a:p/>
          <a:p>
            <a:r>
              <a:t>Varje invariant har nyckel, allvarlighetsgrad (error/warning), en mänsklig beskrivning och ett FHIRPath-uttryck.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övning 4.2. Invarianten definieras en gång och kopplas sedan till profilen med obeys.</a:t>
            </a:r>
          </a:p>
          <a:p/>
          <a:p>
            <a:r>
              <a:t>Man kan koppla den till hela resursen (* obeys ...) eller till ett element (* identifier obeys ...). Kontexten avgör</a:t>
            </a:r>
          </a:p>
          <a:p>
            <a:r>
              <a:t>vad uttrycket utgår från.</a:t>
            </a:r>
          </a:p>
          <a:p/>
          <a:p>
            <a:r>
              <a:t>Lägg märke till att edu-pat-1 använder all(): finns det inget personnummer är resultatet sant. Det är kardinaliteten</a:t>
            </a:r>
          </a:p>
          <a:p>
            <a:r>
              <a:t>som avgör OM ett personnummer krävs, och invarianten som avgör HUR det ser 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vanligaste missförstånden:</a:t>
            </a:r>
          </a:p>
          <a:p>
            <a:r>
              <a:t>- Tom samling: all() på en tom samling är sant, exists() är falskt. En jämförelse med en tom samling ger tomt</a:t>
            </a:r>
          </a:p>
          <a:p>
            <a:r>
              <a:t>  (inte false), och en invariant som ger tomt räknas normalt som uppfylld.</a:t>
            </a:r>
          </a:p>
          <a:p>
            <a:r>
              <a:t>- Strängar jämförs exakt (skiftlägeskänsligt). Koder jämförs som strängar.</a:t>
            </a:r>
          </a:p>
          <a:p>
            <a:r>
              <a:t>- matches: förankra alltid med ^ och $.</a:t>
            </a:r>
          </a:p>
          <a:p>
            <a:r>
              <a:t>- Datum med olika precision (1912 jämfört med 1912-12-12) kan ge tomt resultat.</a:t>
            </a:r>
          </a:p>
          <a:p>
            <a:r>
              <a:t>- Flera värden: name.family = 'X' när det finns två namn ger ett oväntat resultat. Använd where/exists.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4.1 kan göras utan att bygga något, så det är bra medan bygget från 4.2 kör.</a:t>
            </a:r>
          </a:p>
          <a:p/>
          <a:p>
            <a:r>
              <a:t>Diskutera efteråt: vad ska stå i en invariant, och vad passar bättre i bindning, kardinalitet eller mottagarens</a:t>
            </a:r>
          </a:p>
          <a:p>
            <a:r>
              <a:t>verksamhetslogik? Invarianter är bra för strukturella regler, men tunga affärsregler hör sällan hemma i profilen.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 lämnar vi IG:n en stund och tittar på hur man faktiskt erbjuder ett FHIR-API som följer profilerna.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Modulen har en blandad publik: utvecklare vill se kod, kravställare vill förstå arkitekturval och säkerhet.</a:t>
            </a:r>
          </a:p>
          <a:p>
            <a:r>
              <a:t>Visa koden översiktligt och lägg tid på mappningsutmaningarna och säkerheten.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definierar ett REST-API med ett fåtal interaktioner på typ- och instansnivå.</a:t>
            </a:r>
          </a:p>
          <a:p/>
          <a:p>
            <a:r>
              <a:t>Alla servrar behöver inte stödja allt. Vad en server stöder beskrivs i dess CapabilityStatement (modul 6).</a:t>
            </a:r>
          </a:p>
          <a:p/>
          <a:p>
            <a:r>
              <a:t>Visa gärna live mot den publika HAPI-servern: https://hapi.fhir.org/baseR4/Patient?_count=1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Sökning är det som oftast skiljer en enkel från en användbar implementation.</a:t>
            </a:r>
          </a:p>
          <a:p/>
          <a:p>
            <a:r>
              <a:t>Sökparametrar är definierade per resurstyp (SearchParameter). Typerna avgör syntaxen: token (system|kod),</a:t>
            </a:r>
          </a:p>
          <a:p>
            <a:r>
              <a:t>reference, date (med prefix som ge/le), string, quantity.</a:t>
            </a:r>
          </a:p>
          <a:p/>
          <a:p>
            <a:r>
              <a:t>Resultatet är en Bundle av typen searchset med total, länkar för paginering och entry.search.mode (match/include).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FHIR-server med egen lagring: HAPI JPA Server (öppen källkod), Firely Server, Smile, molntjänster</a:t>
            </a:r>
          </a:p>
          <a:p>
            <a:r>
              <a:t>   (Azure Health Data Services, Google Healthcare API, AWS HealthLake). Data kopieras in som FHIR.</a:t>
            </a:r>
          </a:p>
          <a:p>
            <a:r>
              <a:t>2. FHIR-fasad: API:t översätter i realtid till ett befintligt system. Ingen dubbellagring, men allt måste</a:t>
            </a:r>
          </a:p>
          <a:p>
            <a:r>
              <a:t>   implementeras och mappas.</a:t>
            </a:r>
          </a:p>
          <a:p>
            <a:r>
              <a:t>3. Integrationsplattform: en integrationsmotor (t.ex. Mirth, Camel, Biztalk eller regionens tjänsteplattform)</a:t>
            </a:r>
          </a:p>
          <a:p>
            <a:r>
              <a:t>   transformerar meddelanden till och från FHIR.</a:t>
            </a:r>
          </a:p>
          <a:p/>
          <a:p>
            <a:r>
              <a:t>Valet beror på krav på aktualitet, prestanda, skrivning, sökning och var "sanningen" finns.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koden i repot: hapi-fasad/src/main/java/se/fhir/education/fasad.</a:t>
            </a:r>
          </a:p>
          <a:p/>
          <a:p>
            <a:r>
              <a:t>Flödet: klienten anropar GET /fhir/Patient/191212121212. HAPI:s RestfulServer tolkar anropet och anropar</a:t>
            </a:r>
          </a:p>
          <a:p>
            <a:r>
              <a:t>PatientProvider.read(). Den hämtar raden från Journalsystem och mappar den med PatientMapper till en FHIR Patient</a:t>
            </a:r>
          </a:p>
          <a:p>
            <a:r>
              <a:t>med meta.profile = EducationPatient. HAPI serialiserar till JSON.</a:t>
            </a:r>
          </a:p>
          <a:p/>
          <a:p>
            <a:r>
              <a:t>CapabilityStatement genereras automatiskt utifrån annoteringarna (@Read, @Search) i resource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tekniska ramverket är den enkla delen. Det svåra är mappningen. Exempel från fasaden:</a:t>
            </a:r>
          </a:p>
          <a:p/>
          <a:p>
            <a:r>
              <a:t>- Kön lagras som M/K och mappas till male/female (required-bindning).</a:t>
            </a:r>
          </a:p>
          <a:p>
            <a:r>
              <a:t>- Tidszoner: vi råkade själva få födelsedatumet en dag fel när ett LocalDate konverterades via tidszon. Datatypen</a:t>
            </a:r>
          </a:p>
          <a:p>
            <a:r>
              <a:t>  date ska inte ha tidszon.</a:t>
            </a:r>
          </a:p>
          <a:p>
            <a:r>
              <a:t>- Logiska id: personnummer som resurs-id är enkelt men problematiskt. Personnummer kan bytas, och id:t läcker</a:t>
            </a:r>
          </a:p>
          <a:p>
            <a:r>
              <a:t>  personuppgifter i URL:er och loggar.</a:t>
            </a:r>
          </a:p>
          <a:p>
            <a:r>
              <a:t>- Saknade värden: utelämna elementet, skicka aldrig tomma element (ele-1).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Säkerhet är mer än en token. Gå igenom lagren:</a:t>
            </a:r>
          </a:p>
          <a:p>
            <a:r>
              <a:t>- Transport: TLS överallt. Ofta mTLS mellan system, i Sverige t.ex. med SITHS-certifikat.</a:t>
            </a:r>
          </a:p>
          <a:p>
            <a:r>
              <a:t>- Autentisering: vem är klienten, och vem är användaren? OpenID Connect för användare, signerad JWT eller mTLS</a:t>
            </a:r>
          </a:p>
          <a:p>
            <a:r>
              <a:t>  för system.</a:t>
            </a:r>
          </a:p>
          <a:p>
            <a:r>
              <a:t>- Auktorisation: vad får klienten göra? OAuth 2.0-scopes (SMART), men i vården också vårdrelation, samtycke,</a:t>
            </a:r>
          </a:p>
          <a:p>
            <a:r>
              <a:t>  spärrar och sammanhållen journalföring. Det kräver mer än scopes.</a:t>
            </a:r>
          </a:p>
          <a:p>
            <a:r>
              <a:t>- Loggning: vem läste vad och när? AuditEvent (IHE BALP). Krav enligt patientdatalagen.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 on FHIR är en HL7-standard som bygger på OAuth 2.0 och OpenID Connect.</a:t>
            </a:r>
          </a:p>
          <a:p/>
          <a:p>
            <a:r>
              <a:t>App Launch: en app startas från journalen (EHR launch) eller fristående, och får en token med kontext</a:t>
            </a:r>
          </a:p>
          <a:p>
            <a:r>
              <a:t>(patient, encounter, användare). Används för appar inbäddade i journalsystem.</a:t>
            </a:r>
          </a:p>
          <a:p/>
          <a:p>
            <a:r>
              <a:t>Backend Services: system-till-system utan användare. Klienten autentiserar sig med en signerad JWT och får en</a:t>
            </a:r>
          </a:p>
          <a:p>
            <a:r>
              <a:t>token med system-scopes.</a:t>
            </a:r>
          </a:p>
          <a:p/>
          <a:p>
            <a:r>
              <a:t>Scopes v2: resurs + behörighet (c=create, r=read, u=update, d=delete, s=search).</a:t>
            </a:r>
          </a:p>
          <a:p/>
          <a:p>
            <a:r>
              <a:t>Discovery: /.well-known/smart-configuration talar om var auktorisationsservern finns och vad den stöder.</a:t>
            </a:r>
          </a:p>
          <a:p/>
          <a:p>
            <a:r>
              <a:t>I fasaden finns ett förenklat exempel: DemoAuthorizationInterceptor.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IHE (Integrating the Healthcare Enterprise) definierar profiler för hur standarder används i vanliga</a:t>
            </a:r>
          </a:p>
          <a:p>
            <a:r>
              <a:t>integrationsscenarier. Flera finns som FHIR-varianter (det lilla m:et står för mobile, alltså FHIR/REST).</a:t>
            </a:r>
          </a:p>
          <a:p/>
          <a:p>
            <a:r>
              <a:t>I svensk kontext är identitet (personnummer, samordningsnummer, reservnummer), katalog (HSA) och loggning (PDL)</a:t>
            </a:r>
          </a:p>
          <a:p>
            <a:r>
              <a:t>centrala. Ofta är Inera och regionernas plattformar de som tillhandahåller tjänsterna.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 fungerar helt i webbläsaren: arbetsflödet HAPI-fasad bygger med Maven, kör testerna, startar servern och visar</a:t>
            </a:r>
          </a:p>
          <a:p>
            <a:r>
              <a:t>svaret på GET Patient/191212121212 i sammanfattningen. Tar cirka 1–2 minuter.</a:t>
            </a:r>
          </a:p>
          <a:p/>
          <a:p>
            <a:r>
              <a:t>För den som vill köra lokalt: Codespaces eller Java 17 + Maven, mvn spring-boot:run i hapi-fasad.</a:t>
            </a:r>
          </a:p>
          <a:p/>
          <a:p>
            <a:r>
              <a:t>Varna för att lägga riktiga personuppgifter på den publika testservern.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Sista modulen knyter ihop dagen: hur vet vi att ett system och dess data följer IG:n?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här modulen är extra viktig för kravställare och testare: hur ställer man krav som går att verifiera?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nivåer:</a:t>
            </a:r>
          </a:p>
          <a:p>
            <a:r>
              <a:t>- Data: en instans är giltig mot en profil (strukturell validering). Det kan kontrolleras automatiskt.</a:t>
            </a:r>
          </a:p>
          <a:p>
            <a:r>
              <a:t>- System: ett system följer en IG om det beter sig som IG:n kräver. Det stöder rätt interaktioner och sökningar,</a:t>
            </a:r>
          </a:p>
          <a:p>
            <a:r>
              <a:t>  hanterar Must Support-element, och säkerhet och felhantering fungerar. Det kräver test av beteende.</a:t>
            </a:r>
          </a:p>
          <a:p/>
          <a:p>
            <a:r>
              <a:t>En IG bör innehålla tydliga konformitetskrav: SHALL/SHOULD/MAY, definition av Must Support,</a:t>
            </a:r>
          </a:p>
          <a:p>
            <a:r>
              <a:t>och CapabilityStatements för de olika aktörerna.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IG blir ett krav först när kravställningen pekar ut den entydigt och säger hur följsamheten verifieras.</a:t>
            </a:r>
          </a:p>
          <a:p>
            <a:r>
              <a:t>Gå igenom tabellen och betona kolumnen "verifieras med": ett krav som inte går att verifiera blir en diskussion</a:t>
            </a:r>
          </a:p>
          <a:p>
            <a:r>
              <a:t>med leverantören i stället för en kontroll.</a:t>
            </a:r>
          </a:p>
          <a:p/>
          <a:p>
            <a:r>
              <a:t>Vanliga otydligheter: "stödja FHIR" (vilken version, resurser, IG?), "hantera Must Support" (visa, lagra eller</a:t>
            </a:r>
          </a:p>
          <a:p>
            <a:r>
              <a:t>bara inte krascha?), "följa HL7 Sverige" (vilken version av basprofilerna?).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CapabilityStatement finns i tre varianter (kind):</a:t>
            </a:r>
          </a:p>
          <a:p>
            <a:r>
              <a:t>- instance: beskriver en faktisk, driftsatt server. Det är vad /metadata returnerar.</a:t>
            </a:r>
          </a:p>
          <a:p>
            <a:r>
              <a:t>- capability: beskriver en mjukvaruprodukt.</a:t>
            </a:r>
          </a:p>
          <a:p>
            <a:r>
              <a:t>- requirements: beskriver krav, t.ex. i en IG. "En server som följer IG:n SKA ..."</a:t>
            </a:r>
          </a:p>
          <a:p/>
          <a:p>
            <a:r>
              <a:t>Viktiga element: fhirVersion, format, rest.mode (server/client), rest.security, rest.resource med type,</a:t>
            </a:r>
          </a:p>
          <a:p>
            <a:r>
              <a:t>supportedProfile, interaction, searchParam, operation. instantiates pekar från en instans till de krav den</a:t>
            </a:r>
          </a:p>
          <a:p>
            <a:r>
              <a:t>uppfyller, och implementationGuide anger vilka IG:er som följs.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6.2. Kraven från IG:n uttryckta maskinläsbart. IG Publisher gör en snygg sida av det.</a:t>
            </a:r>
          </a:p>
          <a:p/>
          <a:p>
            <a:r>
              <a:t>Expectation-extensionen anger SHALL/SHOULD/MAY per interaktion och sökparameter.</a:t>
            </a:r>
          </a:p>
          <a:p>
            <a:r>
              <a:t>Fasaden pekar på detta CapabilityStatement med instantiates.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klient kan ta reda på vad en server stöder innan den börjar använda den:</a:t>
            </a:r>
          </a:p>
          <a:p>
            <a:r>
              <a:t>1. GET /metadata: CapabilityStatement med FHIR-version, resurser, interaktioner, sökparametrar och profiler.</a:t>
            </a:r>
          </a:p>
          <a:p>
            <a:r>
              <a:t>2. GET /.well-known/smart-configuration: var auktorisationsservern finns och vilka scopes och flöden som stöds.</a:t>
            </a:r>
          </a:p>
          <a:p>
            <a:r>
              <a:t>3. Kontrollera instantiates och implementationGuide: följer servern den IG klienten är byggd för?</a:t>
            </a:r>
          </a:p>
          <a:p/>
          <a:p>
            <a:r>
              <a:t>I R4 kan man också använda $versions för att se vilka FHIR-versioner servern stöder.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Validatorn kontrollerar flera nivåer: struktur och datatyper, kardinalitet, bindningar mot terminologi (kräver</a:t>
            </a:r>
          </a:p>
          <a:p>
            <a:r>
              <a:t>terminologiserver för externa kodsystem), invarianter, profiler (meta.profile eller angivna profiler) och i viss</a:t>
            </a:r>
          </a:p>
          <a:p>
            <a:r>
              <a:t>mån referenser.</a:t>
            </a:r>
          </a:p>
          <a:p/>
          <a:p>
            <a:r>
              <a:t>Resultatet är en OperationOutcome med issues: severity (fatal, error, warning, information), en kod, en text och</a:t>
            </a:r>
          </a:p>
          <a:p>
            <a:r>
              <a:t>var i resursen (expression och rad).</a:t>
            </a:r>
          </a:p>
          <a:p/>
          <a:p>
            <a:r>
              <a:t>Validering bör ske i utveckling, i CI, i test och vid behov i drift. Att validera allt i produktion kan vara dyrt.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Validator (validator_cli.jar) är referensvalidatorn från HL7. Den används också av IG Publisher och finns</a:t>
            </a:r>
          </a:p>
          <a:p>
            <a:r>
              <a:t>som webbtjänst på validator.fhir.org. HAPI har en egen validator som bygger på samma kärna.</a:t>
            </a:r>
          </a:p>
          <a:p/>
          <a:p>
            <a:r>
              <a:t>I kursens repo körs validatorn i GitHub Actions på allt i mappen validering/ – samma princip kan användas i</a:t>
            </a:r>
          </a:p>
          <a:p>
            <a:r>
              <a:t>verkliga projekt: validera exempel och testdata vid varje ändring.</a:t>
            </a:r>
          </a:p>
          <a:p/>
          <a:p>
            <a:r>
              <a:t>För API-beteende: Inferno (ONC, öppen källkod), Touchstone (AEGIS), och connectathons.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6.3 är dagens "aha"-övning: validatorn hittar det mesta, men inte stavfelet i identifierarens system.</a:t>
            </a:r>
          </a:p>
          <a:p>
            <a:r>
              <a:t>Med öppen slicing och en invariant som filtrerar på rätt system blir instansen giltig trots fel data.</a:t>
            </a:r>
          </a:p>
          <a:p/>
          <a:p>
            <a:r>
              <a:t>Diskutera: vilka fel kan en mottagare leva med? Vem ansvarar för valideringen? Hur skulle profilen kunna skärpas?</a:t>
            </a:r>
          </a:p>
          <a:p>
            <a:r>
              <a:t>(Se förslaget edu-pat-3 i facit.)</a:t>
            </a:r>
          </a:p>
          <a:p/>
          <a:p>
            <a:r>
              <a:t>6.4 knyter ihop dagen: kraven ska peka på IG, profil, CapabilityStatement och verifieringsmetod. Låt två par läsa</a:t>
            </a:r>
          </a:p>
          <a:p>
            <a:r>
              <a:t>upp ett krav var och låt gruppen hitta tolkningsutrymmet.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tillbaka till den röda tråden: från att läsa en resurs till att validera mot egna profiler och beskriva krav</a:t>
            </a:r>
          </a:p>
          <a:p>
            <a:r>
              <a:t>på servrar.</a:t>
            </a:r>
          </a:p>
          <a:p/>
          <a:p>
            <a:r>
              <a:t>Uppmana deltagarna att behålla sina repon. De är en fungerande miljö för eget arbete: kopiera test-ig, byt</a:t>
            </a:r>
          </a:p>
          <a:p>
            <a:r>
              <a:t>id och canonical, och börja profilera.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Avslutningen (15 min): visa hur samma kedja körs utanför kursmiljön. Målet är att deltagarna ska kunna komma igång</a:t>
            </a:r>
          </a:p>
          <a:p>
            <a:r>
              <a:t>med eget arbete, med eller utan installationsrättigheter. Materialet finns i kursmaterial/avslutning/README.md.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vägar beroende på vad man får installera:</a:t>
            </a:r>
          </a:p>
          <a:p>
            <a:r>
              <a:t>1. Allt lokalt: Node + SUSHI, Java, Ruby + Jekyll. Skripten hämtar IG Publisher och Validator automatiskt.</a:t>
            </a:r>
          </a:p>
          <a:p>
            <a:r>
              <a:t>2. Bara Docker: Docker-spåret i README (PowerShell-skript), som var det ursprungliga upplägget.</a:t>
            </a:r>
          </a:p>
          <a:p>
            <a:r>
              <a:t>3. Ingenting: GitHub Codespaces ger samma miljö i webbläsaren.</a:t>
            </a:r>
          </a:p>
          <a:p/>
          <a:p>
            <a:r>
              <a:t>VS Code med FSH-tillägget ger syntaxfärgning och felmarkering. Det fungerar inte fullt ut i github.dev.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Ditt kursrepo är en färdig startpunkt. För en IG som ska förvaltas på riktigt: utgå från Ineras mall-repo, som har</a:t>
            </a:r>
          </a:p>
          <a:p>
            <a:r>
              <a:t>versionshantering, releaser och publicering på samma sätt som kursens arbetsflöden.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Dela gärna länkarna i chatten. Uppmuntra deltagarna att gå med i chat.fhir.org (Zulip). Där svarar</a:t>
            </a:r>
          </a:p>
          <a:p>
            <a:r>
              <a:t>specifikationens författare på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Tack för i dag! Samla in utvärdering och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FHIR i praktiken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Profilering, Implementation Guides, terminologi och validering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5DAE1"/>
                </a:solidFill>
                <a:latin typeface="Calibri"/>
              </a:rPr>
              <a:t>Utbildningsdag · 6 moduler à 50 minuter
Övningarna görs i ett eget repo på GitHub – ingen installation krävs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Dagens upplägg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7516"/>
                <a:gridCol w="3584349"/>
                <a:gridCol w="563254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Modul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Innehåll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09.00 – 09.15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Inledning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Upplägg, röd tråd, kontroll av allas repon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09.15 – 10.05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  Läsa en FHIR-resurs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Datatyper, terminologibindning, extensions, meta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10.15 – 11.05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2  Profiler och IG:er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StructureDefinition, terminologi i praktiken, slicing, verktyg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11.15 – 12.05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3  FHIR Shorthand (FSH)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Profil, terminologi, extension och slicing i FSH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12.05 – 13.00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Lunch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13.00 – 13.50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4  FHIRPath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Uttryck, invarianter och constraints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14.00 – 14.50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5  Utveckling med HAPI FHIR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FHIR-fasad, REST, API-säkerhet, SMART on FHIR, IHE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15.00 – 15.50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6  Följsamhet, krav och validering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Kravställning, CapabilityStatement, discovery, validering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15.50 – 16.05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Avslutning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Ta hem miljön: lokal installation och egen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Mål med dagen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Läsa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FHIR-resurser, profiler och Implementation Guides med säkerhet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Förstå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terminologibindningar, extensions, slicing och invarianter, som är centrala begrepp vid kravställning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Skriva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egna profiler i FSH och bygga en IG med SUSHI och IG Publisher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Uttrycka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regler med FHIRPath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Känna till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hur man bygger ett FHIR-API ovanpå ett befintligt system, och hur det säkras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Kvalitetssäkra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med CapabilityStatement och validering mot profiler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Ta med dig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en fungerande miljö för eget arbete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Den röda tråden: Tolvan och hans vårdkontakt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Läsa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Patient-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Encounter-resurs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9424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404872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Tolka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EducationPatient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05656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261104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Skriva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Profiler, terminologi,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extension, slicing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61888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117336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Invarianter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 FHIRPath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18120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973568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Exponera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FHIR-fasad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med HAPI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74352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829800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Kvalitetssäkra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Capability-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Statement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validering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222831"/>
                </a:solidFill>
                <a:latin typeface="Calibri"/>
              </a:rPr>
              <a:t>👤 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Tolvan Tolvansson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 ·  personnummer 191212121212  ·  född 1912-12-12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9204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222831"/>
                </a:solidFill>
                <a:latin typeface="Calibri"/>
              </a:rPr>
              <a:t>🏥 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Besök på Vårdcentralen Kursköping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 ·  2026-10-01 09.00–09.30  ·  astma (J45.9)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Utbildningsmiljön: allt sker i GitHub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✏️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Ändra fil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 webbläsaren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(pennan eller  .)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16352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✅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Commit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checka in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ändringen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⚙️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SUSHI +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IG Publisher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22592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51776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🌐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GitHub Pages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din IG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publiceras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90304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19488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🔎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qa.html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läs fel och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varningar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749040"/>
          <a:ext cx="1109441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3513231"/>
                <a:gridCol w="5177393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Arbetsflöde (Actions)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Startar när …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Gör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Bygg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test-ig/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SUSHI + IG Publisher, publicerar på GitHub Pages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Validera instanser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validering/ eller FSH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mot dina profiler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HAPI-fasad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hapi-fasad/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Bygger, testar och provkör FHIR-API:t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Kom ikapp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du startar det manuellt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Hämtar lösningen efter vald modul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Kom igång (förberedelse)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680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1.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Öppna kursens mall-repo och klicka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Use this template → Create a new repository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600" b="0" i="0">
                <a:solidFill>
                  <a:srgbClr val="5B6577"/>
                </a:solidFill>
                <a:latin typeface="Calibri"/>
              </a:rPr>
              <a:t>Välj ditt personliga konto och </a:t>
            </a:r>
            <a:r>
              <a:rPr sz="1600" b="1" i="0">
                <a:solidFill>
                  <a:srgbClr val="5B6577"/>
                </a:solidFill>
                <a:latin typeface="Calibri"/>
              </a:rPr>
              <a:t>Public</a:t>
            </a:r>
            <a:r>
              <a:rPr sz="1600" b="0" i="0">
                <a:solidFill>
                  <a:srgbClr val="5B6577"/>
                </a:solidFill>
                <a:latin typeface="Calibri"/>
              </a:rPr>
              <a:t> (krävs för GitHub Pages på gratiskonton)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2.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Vänta tills arbetsflödet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Bygg IG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blivit grönt under fliken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Actions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(2–4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3.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Aktivera GitHub Pages: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Settings → Pages → Deploy from a branch → gh-pages / (root)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4.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https://&lt;ditt-konto&gt;.github.io/&lt;repo&gt;/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– där finns din 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5.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Testa: ändra titeln i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test-ig/sushi-config.yaml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checka in och se den nya titeln efter bygget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0" y="1417320"/>
            <a:ext cx="3017520" cy="219456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Alternativ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Lokalt med Docker (README)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GitHub Codespaces: Code → Codespaces → Create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Lokalt utan Docker: scripts/build-ig.sh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417320"/>
            <a:ext cx="64008" cy="21945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3840480"/>
            <a:ext cx="3017520" cy="15544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Hamnat efter?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Actions →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Kom ikapp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→ Run workflow → välj modul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3840480"/>
            <a:ext cx="64008" cy="15544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Läsa en FHIR-resurs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igen strukturen i en resurs: id, meta, text, extensions och data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skilja på primitiva och komplexa datatyper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terminologibindning och bindningsstyrkor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hitta och tolka extensions, även på primitiva värden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 1.1 och 1.2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FHIR på en minut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Resurser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~150 byggstenar som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Patient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Encounter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Observation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Condition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MedicationRequest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Format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JSON, XML (och RDF): samma innehåll, olika syntax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API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RESTful –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GET [bas]/Patient/123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sökning, transaktioner, operationer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80/20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basresurserna täcker det gemensamma, och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profiler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anpassar dem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Versioner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R4 (4.0.1) är vanligast i Sverige idag. R5 och R6 finns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Specifikationen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är det viktigaste verktyget: https://hl7.org/fhir/R4/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463040"/>
            <a:ext cx="4023360" cy="29260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[bas]/Patient/patient-tolvan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Accept: application/fhir+json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200 OK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"resourceType"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"patient-tolvan"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4864" cy="2926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Anatomin hos en resurs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7406640" cy="49377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"patient-tolvan"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"meta"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"versionId"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"3"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"lastUpdated"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"2026-10-01T08:15:00+02:00"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"profile"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"http://example.org/.../EducationPatient"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"text"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"status"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"generated"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"div"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"&lt;div ...&gt;...&lt;/div&gt;"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"url"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"http://hl7.org/.../patient-interpreterRequired"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"valueBoolean"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true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"http://electronichealth.se/.../personnummer"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"191212121212"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"use"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"official"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"family"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"given"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"gender"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"male"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"1912-12-12"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937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83879" y="14173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resourceType + id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Typ och logiskt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3317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meta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Version, profiler, taggar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2461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text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Narrativ i XHTML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41605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extension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Tillägg utöver basresursen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50749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identifier, name …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Resursens egna element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Datatyper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51206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9476"/>
                <a:gridCol w="315116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Primitiv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"Tolvansson"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boolean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"1912-12-12", "1912-12", "1912"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dateTime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"2026-10-01T09:00:00+02:00"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"male" (från en värdemängd)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uri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canonical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"http://electronichealth.se/..."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decimal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integer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72.5 /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325880"/>
          <a:ext cx="56692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6576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Komplex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Innehåller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system + value (+ use, type, period)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HumanName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family, given, use, prefix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system + code + 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CodeableConcept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eller flera Coding + text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Reference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reference, identifier, 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start + end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Quantity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value + unit + system + code (UCUM)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Läsa specifikationen: elementtabellen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25204"/>
                <a:gridCol w="733515"/>
                <a:gridCol w="2750681"/>
                <a:gridCol w="440109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Flags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Card.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 &amp; Constraints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DomainResource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Information about an individual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identifier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An identifier for this 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active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?! 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Whether this patient's record is in active use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HumanName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A name associated with the 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gender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male | female | other | unknown
AdministrativeGender (Required)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birthDate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The date of birth for the individual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maritalStatus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CodeableConcept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Marital (civil) status
Marital Status Codes (Extensible)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generalPractitioner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Reference(Organization |
Practitioner | PractitionerRole)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Patient's nominated primary care provider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5B6577"/>
                </a:solidFill>
                <a:latin typeface="Calibri"/>
              </a:rPr>
              <a:t>Σ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ingår i sammanfattning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?!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modifierande element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I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har invarianter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Card.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kardinalitet (min..max)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Referenser mellan resurser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Bokstavlig (literal) referens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09928"/>
            <a:ext cx="5303520" cy="11704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/>
            </a:r>
            <a:r>
              <a:rPr sz="1400" b="0" i="0">
                <a:solidFill>
                  <a:srgbClr val="0E6B74"/>
                </a:solidFill>
                <a:latin typeface="Consolas"/>
              </a:rPr>
              <a:t>"subject"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"reference"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"Patient/patient-tolvan"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 Tolvansson"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09928"/>
            <a:ext cx="54864" cy="11704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Logisk referens (identifier)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3007"/>
            <a:ext cx="5303520" cy="20848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/>
            </a:r>
            <a:r>
              <a:rPr sz="1400" b="0" i="0">
                <a:solidFill>
                  <a:srgbClr val="0E6B74"/>
                </a:solidFill>
                <a:latin typeface="Consolas"/>
              </a:rPr>
              <a:t>"serviceProvider"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"urn:oid:1.2.752.29.4.19"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"SE2321000016-KURS"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"Vårdcentralen Kursköping"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93007"/>
            <a:ext cx="54864" cy="20848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reference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relativ (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Patient/123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) eller absolut URL. Kan hämtas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identifier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pekar ut vad som avses utan att peka på en resurs, t.ex. HSA-id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display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endast för människor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contained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inbäddad resurs (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#id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). Används när resursen inte kan stå för sig själv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Profilen avgör vilka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måltyper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som är tillåtna: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Reference(EducationPatient)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Kodade värden och terminologi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301752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CodeSystem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Definierar koder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SNOMED CT, ICD-10, LOINC,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lokala kodverk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508760"/>
            <a:ext cx="301752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ValueSet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Väljer ut koder för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ett syfte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508760"/>
            <a:ext cx="3931920" cy="146304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Element i resurs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Encounter.type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binds till ett ValueSet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11880" y="2240280"/>
            <a:ext cx="45720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78040" y="2240280"/>
            <a:ext cx="45720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29000" y="1874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include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874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94415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"gender"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"male"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"class"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{       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Coding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"http://terminology.hl7.org/CodeSystem/v3-ActCode"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"ambulatory"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"maritalStatus"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{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CodeableConcept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"coding"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[ {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"http://terminology.hl7.org/CodeSystem/v3-MaritalStatus"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        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"W"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"Widowed"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"text"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"Änkling"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54864" cy="2834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Bindningsstyrkor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162"/>
                <a:gridCol w="5732114"/>
                <a:gridCol w="369813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Styrka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Exempel i R4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Koden MÅSTE komma från värdemängden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Patient.gender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extensible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Använd en kod härifrån om det finns en som passar, annars får annan kod användas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Patient.maritalStatus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Encounter.class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preferred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Rekommenderad värdemängd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Patient.communication.language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Bara ett exempel på möjliga koder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Encounter.type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Encounter.reasonCode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89204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I en profil får en bindning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skärpas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(example → extensible → required) men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aldrig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lättas upp.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9204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7315200" cy="40690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"http://hl7.org/fhir/StructureDefinition/patient-interpreterRequired"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"valueBoolean"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true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"http://hl7.org/fhir/StructureDefinition/patient-nationality"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"valueCodeableConcept"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"coding"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[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"SE"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 ... } ] } }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],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"birthDate"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"1912-12-12"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"_birthDate"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"http://hl7.org/fhir/StructureDefinition/patient-birthTime"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"valueDateTime"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"1912-12-12T04:30:00+01:00"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}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069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137160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Enkel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url + value[x]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46888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Komplex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url + nästlade extensions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38912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På primitivt värde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_birthDate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modifierExtension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ändrar betydelsen av resursen och får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inte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ignoreras av mottagaren.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meta och text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577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meta.versionId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Versionen av resursen på servern (ändras vid varje uppdatering)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meta.lastUpdated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När resursen senast ändrades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meta.source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Varifrån resursen kommer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meta.profile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 som resursen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gör anspråk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på att följa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meta.security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Säkerhetsmärkning, t.ex. konfidentialitet (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= normal)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meta.tag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Fria etiketter för arbetsflöden, som inte ändrar betydelsen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Människoläsbar narrativ (XHTML)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status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generated / extensions / additional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03920" y="1417320"/>
            <a:ext cx="3108960" cy="274320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meta.profile är ett påstående, inte en garanti.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Mottagaren måste validera för att veta. En resurs kan också följa en profil utan att den står i meta.profile.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417320"/>
            <a:ext cx="64008" cy="274320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1.1 Tolka en Patient  ·  1.2 Hitta felet i en Encounter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kursmaterial/modul-1-lasa-en-resurs/  (frågorna finns i README.md)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Patient-tolvan.json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Använd https://hl7.org/fhir/R4/patient.html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datatyper har identifier, name, gender, birthDate, maritalStatus, generalPractitioner?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Hitta alla extensions. Vilken är enkel och vilken är komplex? Vad betyder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_birthDate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är skillnaden mellan referenserna i generalPractitioner och managingOrganization?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säger – och vad säger inte –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meta.profile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Encounter-tolvan-1.json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Använd https://hl7.org/fhir/R4/encounter.html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Resursen har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ett fel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som gör den ogiltig. Hitta det! (Tips: bindningsstyrkor)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kodsystem används? Vilka är internationella och vilka nationella?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Facit: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kursmaterial/modul-1-lasa-en-resurs/facit.md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resurs =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ram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(id, meta, text, extensions) +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egna element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Datatyper: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primitiva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komplexa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Lär dig Identifier, CodeableConcept och Reference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Bindningsstyrkan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avgör hur strikt koderna styrs. required går aldrig att runda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identifieras med url. modifierExtension får inte ignoreras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meta.profile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ett påstående, och validering avgör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Specifikationen (elementtabellen) är ditt viktigaste verktyg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2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Profiler och Implementation Guides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Profiler och Implementation Guides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vad en profil och en Implementation Guide är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en profil: differential, snapshot och Must Support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förstå extensions och slicing i en profil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verktygen för profilering och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30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 2.1 och 2.2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Diskussion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Varför profilera?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Basresurserna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generella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nästan allt är valfritt, och många bindningar är bara exempel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I 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sammanhang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(land, region, tjänst) behöver vi precisera: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element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krävs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 Vilka ska kunna hanteras (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Must Support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)?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kodverk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gäller? (ICD-10-SE, SNOMED CT, KV …)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Hur anges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personnummer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HSA-id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samordningsnummer?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svensk information saknas i basen (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extensions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)?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Profilen blir 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maskinläsbart kontrakt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som kan valideras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Profiler bygger på varandra: bas → nationellt → regionalt → tjänst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508760"/>
            <a:ext cx="4206240" cy="7315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FHIR R4 – basresurser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377440"/>
            <a:ext cx="3749040" cy="73152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HL7 Sverige – basprofiler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461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3B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Nationella IG:er (t.ex. Inera)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14800"/>
            <a:ext cx="2834640" cy="7315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Regional / tjänstespecifik 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98348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Kursens IG – EducationPatient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kan en profil göra?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4067952"/>
                <a:gridCol w="480757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Mekanism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FSH (modul 3)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name 0..* →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name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Must Support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birthDate ska kunna hanteras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birthDate 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Begränsa 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subject bara till EducationPatient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subject only Reference(EducationPatient)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Terminologibindning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Encounter.type från Kontakttyp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type from KontakttypVS (extensible)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Fast värde / mönster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identifier.system = personnummer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identifier.system = $personnummer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Extensions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tolkbehov, skyddad identitet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extension contains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Slicing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identifier: personnummer + samordningsnummer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 contains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Invarianter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personnummer = 12 siffror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obeys edu-pat-1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En profil får bara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begränsa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basen. Allt som är giltigt mot profilen är också giltigt mot basresursen. Det enda sättet att lägga till är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StructureDefinition: differential och snapshot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6766560" cy="47548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"StructureDefinition"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"http://example.org/.../StructureDefinition/EducationPatient"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"baseDefinition"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"http://hl7.org/fhir/StructureDefinition/Patient"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"derivation"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"constraint"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"differential"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"element"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true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true }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7548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50876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Differential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Bara det profilen ändrar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(det man skriver)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880360"/>
            <a:ext cx="3931920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+ Basresurs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6118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= Snapshot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Hela den resulterande strukturen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(det validatorn använder)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74919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B6577"/>
                </a:solidFill>
                <a:latin typeface="Calibri"/>
              </a:rPr>
              <a:t>Canonical URL = globalt unik identifierare för profilen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Must Support – vad betyder det?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Flaggan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säger att elementet är viktigt i det här sammanhanget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Exakt vad det innebär definieras i varje 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inte i FHIR-specifikationen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Vanlig definition: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Avsändare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SKA skicka elementet om informationen finns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Mottagare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SKA kunna ta emot och hantera (lagra, visa) elementet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MS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inte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samma sak som obligatoriskt: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0..1 MS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vanligt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Vid kravställning: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definiera MS tydligt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IG:ns inledning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508760"/>
          <a:ext cx="3840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640080"/>
                <a:gridCol w="20802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Får skickas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Ska skickas om det finns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Ska alltid skickas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Får inte skickas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Terminologibindning i praktiken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74320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Profil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type from KontakttypVS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(extensible)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417320"/>
            <a:ext cx="329184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Validator / IG Publisher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Kontrollerar instansen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417320"/>
            <a:ext cx="3383280" cy="11887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Terminologiserver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$expand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$validate-code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tx.fhir.org eller nationell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37560" y="2011680"/>
            <a:ext cx="54864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69480" y="2011680"/>
            <a:ext cx="914399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88036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Resultat vid validering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 utanför värdemängd, bindning </a:t>
                      </a:r>
                      <a:r>
                        <a:rPr sz="1400" b="1" i="0">
                          <a:solidFill>
                            <a:srgbClr val="222831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 utanför värdemängd, bindning </a:t>
                      </a:r>
                      <a:r>
                        <a:rPr sz="1400" b="1" i="0">
                          <a:solidFill>
                            <a:srgbClr val="222831"/>
                          </a:solidFill>
                          <a:latin typeface="Calibri"/>
                        </a:rPr>
                        <a:t>extensible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⚠️ Varning (validatorn vet inte om en passande kod fanns)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Koden finns inte i kodsystemet den anger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Fel display-text för koden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 eller ⚠️ varning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772400" y="2880360"/>
            <a:ext cx="3840480" cy="274320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400" b="1" i="0">
                <a:solidFill>
                  <a:srgbClr val="222831"/>
                </a:solidFill>
                <a:latin typeface="Calibri"/>
              </a:rPr>
              <a:t>Svenska kodverk</a:t>
            </a:r>
          </a:p>
          <a:p>
            <a:pPr algn="l"/>
            <a:r>
              <a:rPr sz="1400" b="0" i="0">
                <a:solidFill>
                  <a:srgbClr val="222831"/>
                </a:solidFill>
                <a:latin typeface="Calibri"/>
              </a:rPr>
              <a:t>SNOMED CT (svensk edition), ICD-10-SE, ATC, NPU, KVÅ, nationella kodverk (Socialstyrelsen, Inera)</a:t>
            </a:r>
          </a:p>
          <a:p>
            <a:pPr algn="l"/>
          </a:p>
          <a:p>
            <a:pPr algn="l"/>
            <a:r>
              <a:rPr sz="1400" b="1" i="0">
                <a:solidFill>
                  <a:srgbClr val="222831"/>
                </a:solidFill>
                <a:latin typeface="Calibri"/>
              </a:rPr>
              <a:t>Vid kravställning: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ange ValueSet (canonical + version), styrka och terminologiserver.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880360"/>
            <a:ext cx="64008" cy="27432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 i en profil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2011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1. Definiera extensionen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StructureDefinition (type = Extension)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url – unik identitet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context – var den får användas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value[x] – datatyp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120640" cy="16459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2. Använd den i profilen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slice på Patient.extension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kardinalitet (0..1, 1..1 …)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Must Support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417320"/>
            <a:ext cx="5577840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Extension: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Context: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value[x] only boolean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extension contains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$patient-interpreterRequired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named tolkbehov 0..1 MS and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SkyddadIdentitet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named skyddadIdentitet 0..1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417320"/>
            <a:ext cx="54864" cy="31089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4754880"/>
            <a:ext cx="5577840" cy="8686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Återanvänd först: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FHIR-standarden → HL7 Sverige → nationella IG:er. Skapa egna extensions bara när inget passar.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4754880"/>
            <a:ext cx="64008" cy="8686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Slicing – dela upp en lista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03520" cy="868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Patient.identifier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 0..*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discriminator: value @ system  ·  rules: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56032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personnummer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0..1 MS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system = http://electronichealth.se/identifier/personnummer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56616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samordningsnummer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0..1 MS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system = …/identifier/samordningsnummer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572000"/>
            <a:ext cx="4754880" cy="64008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(övriga)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tillåts eftersom slicingen är öppen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41732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384047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Diskriminator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Matchar på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Fast värde på en sökväg (t.ex. system)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pattern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Mönster (t.ex. en Coding i CodeableConcept)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Datatyp (t.ex. value[x])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profile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Att elementet följer en viss profil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Att ett element finns eller inte finns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438912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384047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Regel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 som inte matchar …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open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tillåts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closed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är fel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openAtEnd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tillåts sist i listan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Slicing: urvalet försvinner i instansen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Profilen (FSH)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029200" cy="17190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* identifier contains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personnummer 0..1 MS and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samordningsnummer 0..1 MS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* identifier[personnummer].system =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$personnummer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7190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3716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Instansen (JSON) – inga slice-namn!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64208"/>
            <a:ext cx="576072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/>
            </a:r>
            <a:r>
              <a:rPr sz="13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".../samordningsnummer"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samordningsnr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"199001721234"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".../personnummer"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  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personnummer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"199001012384"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".../personumer"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    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ingen slice!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"19900101-2384"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4415" cy="1005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Validatorn räknar ut vilken slice varje element tillhör med hjälp av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diskriminatorn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 Ett stavfel i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system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ger ingen slice. Med öppen slicing är det då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inte ett fel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och slicens regler kontrolleras aldrig.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64008" cy="1005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är en Implementation Guide?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Profiler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StructureDefinition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Extensions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StructureDefinition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Terminologi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CodeSystem, ValueSet, ConceptMap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Exempel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instanser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Krav på system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CapabilityStatement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Sökparametrar</a:t>
            </a:r>
          </a:p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och operationer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SearchParameter,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OperationDefinition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Dokumentation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sidor i Markdown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📦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package.tgz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för maskiner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Publiceras som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webbplats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(för människor) och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npm-paket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(för validatorer, servrar och andra IG:er)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Identifieras med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paket-id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version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fhir.education.kursig#0.1.0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. Beroenden anges på samma sätt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Varje artefakt har en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canonical URL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…/StructureDefinition/EducationPatient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Läsa 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31520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Vy / sida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Visar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Differential 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Det profilen ändrar jämfört med basen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Snapshot Table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Hela strukturen efter ändringarna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Key Elements 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Obligatoriska och Must Support-element plus deras föräldrar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Must Support Table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Bara Must Support-element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Artifacts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Alla profiler, extensions, terminologi och exempel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qa.html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Kvalitetsrapport: fel, varningar och trasiga länkar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138160" y="1417320"/>
            <a:ext cx="3474720" cy="301752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Exempel att bläddra i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Din egen kurs-IG (GitHub Pages)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HL7 Sverige basprofiler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  hl7.se/fhir/ig/base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International Patient Summary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  hl7.org/fhir/uv/ips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417320"/>
            <a:ext cx="64008" cy="30175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Verktyg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6841555"/>
                <a:gridCol w="184906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Användning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 dag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FSH + 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Skriva profiler, extensions, terminologi och exempel som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IG Publisher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Bygga IG-webbplats och paket, med kvalitetsrapport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3–6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 Validator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instanser mot bas, profiler och 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FHIRPath Lab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FHIRPath-uttryck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4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Java-bibliotek, klient och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Forge / Simplifier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Grafisk profilering och publicering (Firely)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Inferno / Touchstone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API-beteende och konformitet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GitHub Actions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Automatiskt bygge och validering vid varje incheckning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Hela dagen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2.1 Läs en profil  ·  2.2 Vilken slice?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kursmaterial/modul-2-profiler-och-ig/  (frågor i README.md, facit i facit.md)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profilen i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facit-IG:n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https://&lt;konto&gt;.github.io/&lt;repo&gt;/facit/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Artifacts → EducationPatient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Använd flikarna Differential, Snapshot och Key Elements. Vilken canonical URL och basresurs?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element har ändrad kardinalitet? Vilka är Must Support?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bindning har ändrats, och är ändringen tillåten?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extensions används? Hur är identifier slicad?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Patient-identifierare.json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(fyra identifierare)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slice hamnar varje identifierare i? Är instansen giltig?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händer med den fjärde? Och om slicingen vore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closed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Bläddra i en publicerad IG och hitta slicing och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profil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begränsar en basresurs. Den är ett maskinläsbart kontrakt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Differential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ändringar,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snapshot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hela resultatet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Must Support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av varje IG. Var tydlig!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först och används sedan i profilen. Återanvänd befintliga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Slicing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delar upp listor, och diskriminatorn avgör tillhörigheten. Slice-namnen syns inte i data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paketerar profiler, terminologi, exempel och krav: webbplats + npm-paket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3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FHIR Shorthand – vi skriver profilerna själva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FHIR Shorthand (FSH)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och skriva FSH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skapa en profil och se den i den byggda IG:n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binda terminologi med include och med referens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lägga till extensions och slicing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30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3.1–3.3 (3.4–3.5 om tid finns)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Varför FSH?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FSH – 8 rader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120640" cy="235915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"Patientprofil för FHIR-utbildningen."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name 1..* MS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3591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716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JSON – ca 40 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664208"/>
            <a:ext cx="557784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"StructureDefinition"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"http://example.org/fhir/.../EducationPatient"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"title"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 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"status"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"draft"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"fhirVersion"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"4.0.1"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"kind"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"resource"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"abstract"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false,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"baseDefinition"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"http://hl7.org/fhir/StructureDefinition/Patient"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"derivation"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"constraint"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"differential"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"element"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true },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...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Läsbart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och kompakt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Git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diff, pull requests och granskning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CI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bygg och validera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HL7-standard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som används av de flesta nya IG:er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Byggkedjan i ditt repo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FSH-filer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input/fsh/*.fsh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0592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96512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52544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FHIR-JSON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fsh-generated/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98464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54496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IG Publisher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00416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56448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Webbplats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output/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02368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58400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GitHub Pages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80360"/>
            <a:ext cx="7498079" cy="3291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test-ig/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├── sushi-config.yaml        # id, canonical, namn, version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├── ig.ini                   # pekar på IG-resursen och mallen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└── input/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├── fsh/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aliases.fsh      # korta namn för URL:er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profiles/        # EducationPatient.fsh …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extensions/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terminology/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└── examples/        # patient-tolvan.fsh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├── pagecontent/index.md # startsidan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└── ignoreWarnings.txt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80360"/>
            <a:ext cx="54864" cy="32918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880360"/>
            <a:ext cx="3291840" cy="3291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Fel i FSH?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Steget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Kör SUSHI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blir rött i Actions. Felet står med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fil och rad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loggen.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Fel i profiler eller exempel?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Läs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qa.html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den publicerade IG:n.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880360"/>
            <a:ext cx="64008" cy="3291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FSH-syntax: entiteter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49807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19"/>
                <a:gridCol w="2743199"/>
                <a:gridCol w="310895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Nyckelord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Skapar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Används till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Profile: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 (constraint)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 på resurser och datatyper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 (Extension)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Egna extensions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ValueSet: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ValueSet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Urval av koder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CodeSystem: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CodeSystem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Egna kodverk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Instance: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Valfri resurs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Exempel, CapabilityStatement m.m.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Invariant: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constraint i profilen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FHIRPath-regler (modul 4)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Alias: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Korta namn för långa URL:er, t.ex.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$personnummer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RuleSet: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Återanvändbara regler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371600"/>
            <a:ext cx="3383280" cy="24688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^status = #draft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name 1..*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371600"/>
            <a:ext cx="54864" cy="24688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02336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Id → canonical URL:</a:t>
            </a:r>
          </a:p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…/StructureDefinition/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EducationPatient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FSH-syntax: regler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887553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Regel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name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Flaggor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birthDate MS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gender 1..1 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Bindning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type from KontakttypVS (extensible)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Tilldelning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identifier.system = $personnummer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status = #finished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Typbegränsning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subject only Reference(EducationPatient)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value[x] only boolean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Contains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extension contains SkyddadIdentitet named skyddadIdentitet 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Invariant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obeys edu-pat-1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Caret (metadata)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^status = #draft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 ^short = "Identifierare"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Kod och referens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$v3-ActCode#AMB "ambulatory"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Reference(patient-tolvan)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Startprofilen i ditt repo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input/fsh/profiles/EducationPatient.fsh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4864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5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50" b="0" i="0">
                <a:solidFill>
                  <a:srgbClr val="A64B00"/>
                </a:solidFill>
                <a:latin typeface="Consolas"/>
              </a:rPr>
              <a:t>"Patientprofil för FHIR-utbildningen."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^status = #draft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identifier.system 1..1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identifier.value 1..1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 1..*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name.family 1..1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name.given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gender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input/fsh/examples/patient-tolvan.fsh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64208"/>
            <a:ext cx="5303520" cy="35478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patient-tolvan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 Tolvansson"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#example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identifier[0].system = $personnummer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identifier[0].value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"191212121212"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name[0].use = #official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name[0].family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"Tolvansson"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name[0].given[0]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gender = #male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birthDate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"1912-12-12"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64208"/>
            <a:ext cx="54864" cy="35478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394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B6577"/>
                </a:solidFill>
                <a:latin typeface="Calibri"/>
              </a:rPr>
              <a:t>SUSHI sätter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meta.profile</a:t>
            </a:r>
            <a:r>
              <a:rPr sz="1500" b="0" i="0">
                <a:solidFill>
                  <a:srgbClr val="5B6577"/>
                </a:solidFill>
                <a:latin typeface="Calibri"/>
              </a:rPr>
              <a:t> automatiskt utifrån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InstanceOf</a:t>
            </a:r>
            <a:r>
              <a:rPr sz="1500" b="0" i="0">
                <a:solidFill>
                  <a:srgbClr val="5B657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Ny profil: EducationEncounter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input/fsh/profiles/EducationEncounter.fsh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0292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"Education Encounter"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"Profil för en vårdkontakt."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status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class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type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subject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subject only Reference(EducationPatient)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period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period.start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reasonCode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serviceProvider.identifier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serviceProvider.identifier.system = $hsaid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input/fsh/examples/encounter-tolvan-1.fsh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64208"/>
            <a:ext cx="585216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encounter-tolvan-1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#example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status = #finished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class = $v3-ActCode#AMB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"ambulatory"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type.text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"Besök"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kod i övning 3.3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subject = Reference(patient-tolvan)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period.start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"2026-10-01T09:00:00+02:00"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period.end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"2026-10-01T09:30:00+02:00"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reasonCode = $ICD10#J45.9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"Asthma, unspecified"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serviceProvider.identifier.system = $hsaid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serviceProvider.identifier.value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"SE2321000016-KURS"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serviceProvider.display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"Vårdcentralen Kursköping"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Terminologi i FSH: include och referens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a) Eget kodsystem – ValueSet med hela kodsystemet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39496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CodeSystem: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KontakttypCS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#besok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"Besök"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#hembesok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"Hembesök"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#video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"Videokontakt"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#telefon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"Telefonkontakt"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ValueSet: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KontakttypVS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kontakttyp-vs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codes from system KontakttypCS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a) Befintligt kodsystem – enskilda koder med include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64208"/>
            <a:ext cx="539496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ValueSet: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EducationEncounterClassVS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education-encounter-class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$v3-ActCode#AMB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"ambulatory"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$v3-ActCode#IMP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"inpatient encounter"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$v3-ActCode#EMER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"emergency"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$v3-ActCode#HH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"home health"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$v3-ActCode#VR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"virtual"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b) Bindning med referens – och andra varianter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18888"/>
            <a:ext cx="11094415" cy="1490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Bindningar i profilerna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class from EducationEncounterClassVS (required)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type from KontakttypVS (extensible)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maritalStatus from http://hl7.org/fhir/ValueSet/marital-status (required) 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b)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... och i exemplet: * type = KontakttypCS#besok "Besök"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Fler varianter i ett ValueSet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include codes from valueset http://...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include codes from system $SCT where concept is-a #308335008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18888"/>
            <a:ext cx="54864" cy="1490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 och slicing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Extensions (övning 3.4)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4864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Extension: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"Skyddad identitet"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Context: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value[x] 1..1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value[x] only boolean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6A737D"/>
                </a:solidFill>
                <a:latin typeface="Consolas"/>
              </a:rPr>
              <a:t>// I EducationPatient: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extension contains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$patient-interpreterRequired named tolkbehov 0..1 MS and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SkyddadIdentitet named skyddadIdentitet 0..1 MS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6A737D"/>
                </a:solidFill>
                <a:latin typeface="Consolas"/>
              </a:rPr>
              <a:t>// I exemplet: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extension[tolkbehov].valueBoolean = false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Slicing (övning 3.5)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64208"/>
            <a:ext cx="530352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^slicing.discriminator.type = #value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^slicing.discriminator.path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^slicing.rules = #open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contains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personnummer 0..1 MS and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samordningsnummer 0..1 MS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identifier[personnummer].system = $personnummer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identifier[samordningsnummer].system =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$samordningsnummer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I exemplet: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identifier[personnummer].value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"191212121212"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 verkligheten: bygg på HL7 Sveriges basprofiler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1. Beroende till HL7 Sveriges paket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4937760" cy="1033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# test-ig/sushi-config.yaml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dependencies: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hl7se.fhir.base: 1.1.0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033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13716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2. Profil och exempel på SEBasePatient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664208"/>
            <a:ext cx="59436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Alias: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$SecLabel = http://hl7.se/fhir/ig/base/CodeSystem/SecurityLabel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SEBasePatient        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från hl7se.fhir.base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identifier[personnummer] MS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slicen ärvs!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name 1..1 MS               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basprofilen: 0..1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patient-tolvan-se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meta.security = $SecLabel#sekretessmarkering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identifier[personnummer].value = </a:t>
            </a:r>
            <a:r>
              <a:rPr sz="1050" b="0" i="0">
                <a:solidFill>
                  <a:srgbClr val="A64B00"/>
                </a:solidFill>
                <a:latin typeface="Consolas"/>
              </a:rPr>
              <a:t>"191212121212"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Slicing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för personnummer, samordningsnummer och reservnummer finns redan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Svenska namnregler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adresstyper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Skyddad identitet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via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meta.security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inte en egen extension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Peka ut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exakt version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av beroendet, som vid kravställning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FSH: bygg ut kursens 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test-ig/input/fsh/  ·  instruktioner: kursmaterial/modul-3-fsh/README.md  ·  lösning: kursmaterial/losningar/modul-3/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Titta på startprofilen och jämför Differential och Snapshot i din IG  (5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Skapa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profiles/EducationEncounter.fsh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+ exemplet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encounter-tolvan-1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Terminologi: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Kontakttyp.fsh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(CodeSystem + ValueSet med include), class-ValueSet, och bind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maritalStatus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via referens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(om tid finns) Extensions: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patient-interpreterRequired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egen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SkyddadIdentitet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3.5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(om tid finns) Slicing av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identifier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personnummer och samordningsnummer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3.6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Bygg på HL7 Sveriges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SEBasePatient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med beroende till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hl7se.fhir.base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Efter varje steg: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Commit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steget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Kör SUSHI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klart efter ~30 s → titta sedan i din 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Hamnat efter?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3.2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eller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ett kompakt textformat för FHIR-artefakter,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SUSHI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kompilerar till JSON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Byggkedjan: FSH → SUSHI → IG Publisher → GitHub Pages, automatiskt vid varje incheckning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Terminologi: eget ValueSet med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include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eller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referens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till ett befintligt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Extensions och slicing använder samma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contains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-syntax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Slice-namn används i FSH-exemplen men syns inte i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Lunch!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Sedan modul 4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skriva FHIRPath-uttryck för att navigera och filtrera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invarianter i FHIR-specifikationen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lägga till en egen invariant i en profil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se invarianten slå till vid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4.1–4.3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är FHIRPath?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uttrycksspråk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att navigera i och välja ut data ur FHIR-resurser (jfr XPath)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Används i FHIR för: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invarianter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(constraints) i resurser och profiler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sökparametrar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Patient.name.family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slicing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-diskriminatorer, mappningar, SQL on FHIR, CQL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Allt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samlingar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ett uttryck kan ge noll, ett eller flera värden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Hittar uttrycket inget blir resultatet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tomt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inte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417320"/>
            <a:ext cx="4206240" cy="4206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Patient.name.given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"Bertil"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"Tolle"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name.where(use = 'official').family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telecom.where(system = 'email')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 ]   (tom samling)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birthDate &lt; @1950-01-01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[true]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417320"/>
            <a:ext cx="54864" cy="4206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Grundsyntax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2114"/>
                <a:gridCol w="53623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Uttryck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name.given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Navigera: alla förnamn i alla namn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name.where(use = 'official')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Filtrera en samling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identifier.exists()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telecom.empty()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Finns det något? / Är det tomt?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identifier.count() = 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Antal element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telecom.all(system.exists())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Gäller villkoret för alla element?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status = 'finished' implies period.end.exists()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Om A så 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value.matches('^[0-9]{12}$')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Reguljärt uttryck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birthDate &lt;= today()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Datumjämförelse (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@1912-12-12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ett datumvärde)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extension('http://…/patient-interpreterRequired').value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Värdet i en viss extension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and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not()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|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Logik och union av samlingar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Invarianter i specifikationen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988"/>
                <a:gridCol w="1016988"/>
                <a:gridCol w="3698138"/>
                <a:gridCol w="536230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Nyckel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Nivå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Beskrivning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Uttryck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pat-1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kontaktperson ska ha namn, telecom, adress eller organisation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name.exists() or telecom.exists() or address.exists() or organization.exists()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ele-1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Alla element ska ha ett värde eller barn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hasValue() or (children().count() &gt; id.count())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ext-1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extension har antingen värde eller nästlade extensions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extension.exists() != value.exists()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dom-6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warning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resurs bör ha en narrativ (best practice)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text.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div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.exists()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349240"/>
            <a:ext cx="11094415" cy="77724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Ett invariant-uttryck ska ge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true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för att instansen ska vara giltig. Varje invariant har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nyckel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nivå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(error/warning),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beskrivning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ett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uttryck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49240"/>
            <a:ext cx="64008" cy="777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Egna invarianter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input/fsh/invariants.fsh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7589520" cy="29992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edu-pat-1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"Ett personnummer ska bestå av exakt 12 siffror."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Expression: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"identifier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.where(system = 'http://electronichealth.se/identifier/personnummer')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.all(value.matches('^[0-9]{12}$'))"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Severity: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#error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edu-enc-1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"En avslutad vårdkontakt ska ha en sluttid."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Expression: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"status = 'finished' implies period.end.exists()"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Severity: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#error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9992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3716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Koppla till profilen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664208"/>
            <a:ext cx="3246120" cy="18105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i EducationPatient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obeys edu-pat-1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i EducationEncounter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obeys edu-enc-1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54864" cy="18105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937760"/>
            <a:ext cx="11094415" cy="1005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Testa!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Ändra personnumret i exemplet till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19121212-1212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bygg. Felet syns i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qa.html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</a:t>
            </a:r>
          </a:p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Constraint failed: edu-pat-1: 'Ett personnummer ska bestå av exakt 12 siffror'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60"/>
            <a:ext cx="64008" cy="1005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Fallgropar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429"/>
                <a:gridCol w="4992486"/>
                <a:gridCol w="3975498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Fallgrop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Tips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Tomma samlingar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{}.all(…)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true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men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{}.exists()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Kombinera med kardinalitet eller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Jämförelse med tomt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period.end &gt; period.start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ger tomt om end saknas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Skriv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period.end.empty() or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Flera värden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name.family = 'X'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när det finns flera namn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Använd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where(…)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och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Reguljära uttryck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matches('[0-9]{12}')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matchar även 13 siffror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Förankra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^…$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Datumprecision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jämfört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@1912-12-12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blir tomt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Var medveten om precisionen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Sträng eller kod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gender = 'Male'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Skiftlägeskänsligt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kursmaterial/modul-4-fhirpath/README.md  ·  facit: facit.md  ·  lösning: kursmaterial/losningar/modul-4/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4.0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Läs invarianterna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facit-IG:n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(EducationPatient). Vad kontrollerar de?  (3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fhirpath-lab.com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klistra in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Patient-tolvan.json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(modul 1) och testa uttrycken i README  (7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Skriv ett eget uttryck som är sant om patienten har ett personnummer med exakt 12 siffror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Skapa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test-ig/input/fsh/invariants.fsh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edu-enc-1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koppla dem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obeys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Bygg, och kontrollera fliken Constraints på profilsidan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Ändra personnumret i exemplet så att det blir fel, och läs felet i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qa.html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. Ändra sedan tillbaka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Skriv själv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(födelsedatum ej i framtiden)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edu-enc-2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(slut efter start, varning)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Hamnat efter?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 → modul 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innan du börjar (eller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modul 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lösningen)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FHIRPath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navigerar, filtrerar och testar data. Allt är samlingar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Invarianter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nyckel + nivå + beskrivning + FHIRPath-uttryck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I FSH: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och kopplas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obeys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Se upp med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tomma samlingar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flera värden och oförankrade reguljära uttryck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Kardinaliteten styr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om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något krävs, och invarianten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hur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det ser 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5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Utveckling med HAPI FHIR och API-säkerhet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Utveckling med HAPI FHIR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beskriva FHIR:s REST-API: interaktioner och sökning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förstå hur en FHIR-fasad ovanpå ett befintligt system byggs med HAPI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grunderna i API-säkerhet: OAuth 2.0 och SMART on FHIR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relevanta IHE-profiler för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 och demo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5.1–5.3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FHIR:s REST-API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1664162"/>
                <a:gridCol w="7026462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Interaktion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HTTP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[bas]/Patient/191212121212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vread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[bas]/Patient/123/_history/2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GET/POST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[bas]/Encounter?patient=191212121212&amp;date=ge2026-10-01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update / patch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PUT / PATCH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[bas]/Patient/123/_history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capabilities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[bas]/metadata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transaction / batch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med en Bundle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GET/POST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[bas]/Patient/$validate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[bas]/Patient/123/$everything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Sökning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94415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[bas]/Patient?identifier=http://electronichealth.se/identifier/personnummer|191212121212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[bas]/Encounter?patient=191212121212&amp;date=ge2026-10-01&amp;_sort=-date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[bas]/Encounter?patient=191212121212&amp;_include=Encounter:subject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[bas]/Patient?family=Tolvansson&amp;_count=10&amp;_summary=true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[bas]/Patient?_has:Encounter:patient:status=in-progress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" cy="1920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566160"/>
          <a:ext cx="585215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4572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Typ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identifier=system|värde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gender=male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patient=191212121212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subject=Patient/123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date=ge2026-10-01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(eq, ne, lt, le, gt, ge …)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family=Tolv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name:exact=Tolvan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356616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Resultatparameter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Gör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Antal per sida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_include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_revinclude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Ta med refererade resurser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_summary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_elements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Begränsa innehållet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_sort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Sortering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Tre sätt att erbjuda ett FHIR-API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FHIR-server med lagring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HAPI JPA Server, Firely,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molntjänster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Full sökning och CRUD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Versionshistorik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Data måste synkas/kopieras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FHIR-fasad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HAPI Plain Server,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egen kod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Data stannar i källsystemet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Alltid aktuellt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Bara det du implementerar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Integrationsplattform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Integrationsmotor,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tjänsteplattform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8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Återanvänder befintlig integration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Transformering av meddelanden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Ofta asynkront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11094415" cy="77724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Kursens exempel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hapi-fasad/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är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fasad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ett FHIR-API ovanpå ett simulerat journalsystem med egna tabeller och koder.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2040"/>
            <a:ext cx="64008" cy="777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Kursens FHIR-fasad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920240" cy="12801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Klient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app, annat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417320"/>
            <a:ext cx="4023360" cy="18288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FHIR-fasad (HAPI)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RestfulServer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PatientProvider · EncounterProvider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PatientMapper · EncounterMapper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CapabilityStatement (auto)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91640"/>
            <a:ext cx="3108960" cy="128016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Journalsystem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tabeller PATIENT, BESOK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egna koder: M/K, AVSL, BES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331720"/>
            <a:ext cx="73152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60920" y="2331720"/>
            <a:ext cx="109728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23160" y="196596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FHIR/REST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96596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SQL /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66160"/>
            <a:ext cx="11094415" cy="26517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@Component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public class PatientProvider implements IResourceProvider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@Read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public Patient read(@IdParam IdType id)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return journalsystem.hamtaPatient(id.getIdPart())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    .map(PatientMapper::toFhir)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    .orElseThrow(() -&gt; new ResourceNotFoundException(id));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@Search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public List&lt;Patient&gt; search(@OptionalParam(name =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"identifier"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) TokenParam id) { … }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66160"/>
            <a:ext cx="54864" cy="2651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Mappning: där det svåra finns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4252859"/>
                <a:gridCol w="4992486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Utmaning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 i fasaden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Att tänka på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Kodverk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Kön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/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K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→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male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/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female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Required-bindningar kräver korrekt mappning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 och tid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LocalDate →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(utan tidszon!)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dateTime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med klockslag kräver tidszon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Personnummer som logiskt 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Byte av personnummer, personuppgifter i URL:er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Saknade värden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Telefonnummer saknas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Utelämna elementet, skicka aldrig tomma element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Referenser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Vårdenhet som HSA-id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Logisk eller bokstavlig referens?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Prestanda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Sökning utan index i källsystemet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Paginering,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_count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cache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meta.profile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= EducationPatient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svaren mot profilen i test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API-säkerhet i lager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41732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TLS / mTLS (t.ex. SITHS-certifikat)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Autentisering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42316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Vem är klienten och användaren? OpenID Connect, signerad JWT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Auktorisation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342900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Vad får klienten göra? OAuth 2.0-scopes (SMART), vårdrelation, samtycke, spärrar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Loggning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43484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Vem läste vad och när? AuditEvent (IHE BALP), loggkrav i patientdatalagen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FHIR, OAuth och SMART ger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byggstenarna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 Vårdens behörighetsregler måste fortfarande lösas i arkitekturen.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SMART on FHIR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App Launch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App startas från journalen eller fristående.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Token + kontext (patient, användare).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OpenID Connect för inloggning.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94960" cy="155448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Backend Services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System-till-system utan användare.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Klienten signerar en JWT (client credentials).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Token med system-scopes.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4612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Scope (SMART v2)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Betyder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patient/Observation.rs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Läsa och söka observationer för patienten i kontexten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user/Encounter.cruds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Allt på vårdkontakter som användaren har rätt till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system/Patient.rs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Läsa och söka alla patienter (backend)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openid fhirUser launch/patient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Inloggning, användarens identitet, patientkontext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80960" y="3246120"/>
            <a:ext cx="3931920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GET [bas]/.well-known/smart-configuration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"token_endpoint"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"https://auth…/token"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"authorization_endpoint"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"…"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"scopes_supported"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"system/*.rs"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 … ],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"capabilities"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"launch-ehr"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"client-confidential-asymmetric"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 … ]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246120"/>
            <a:ext cx="54864" cy="2834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IHE-profiler för integration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498"/>
                <a:gridCol w="3883045"/>
                <a:gridCol w="3235871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Område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FHIR-resurser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IUA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Internet User Authorization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Token (OAuth 2.0) mellan system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ATNA / BALP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Audit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Loggning av åtkomst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AuditEvent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PDQm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Patient Demographics Query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Söka patientuppgifter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PIXm / PMIR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Identity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Matcha och hantera patientidentiteter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Patient, Bundle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MHD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Mobile access to Health Documents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Dela dokument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DocumentReference, List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mCSD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Care Services Directory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Katalog över vårdgivare, enheter, personal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Organization, Location, PractitionerRole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QEDm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Query for Existing 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Hämta kliniska 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Observation, Condition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REST, fasad och behörighet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kursmaterial/modul-5-hapi-fhir/README.md  ·  hapi-fasad/README.md  ·  lösning: kursmaterial/losningar/modul-5/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Utforska ett FHIR-API: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hapi.fhir.org/baseR4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(testdata!) eller fasaden i Codespaces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600" b="0" i="0">
                <a:solidFill>
                  <a:srgbClr val="0E6B74"/>
                </a:solidFill>
                <a:latin typeface="Consolas"/>
              </a:rPr>
              <a:t>/metadata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Patient?family=Smith&amp;_count=5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_summary=count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_include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_history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Mappa ett nytt fält i fasaden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Öppna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hapi-fasad/…/mapping/PatientMapper.java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hitta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ÖVNING 5.2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Mappa telefonnummer till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Patient.telecom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. Utelämna elementet om värdet saknas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Commit → arbetsflödet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HAPI-fasad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bygger, testar och visar svaret i sammanfattningen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(demo/extra) Starta fasaden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--fasad.sakerhet.aktiv=true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prova demo-tokens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Vilket scope krävs för Encounter? Vad saknas jämfört med en riktig lösning?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FHIR:s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REST-API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ett fåtal interaktioner och kraftfull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sökning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Server med lagring,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fasad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eller integrationsplattform: välj efter behov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HAPI: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resource providers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+ mappning, och CapabilityStatement skapas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Det svåra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mappningen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kodverk, tidszoner, identitet och saknade värden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Säkerhet i lager: TLS, autentisering,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SMART/OAuth-scopes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loggning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IHE-profiler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beskriver vanliga integrationsmönster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6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Följsamhet, CapabilityStatement och validering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Följsamhet, krav och validering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vad följsamhet mot en IG innebär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och skriva ett CapabilityStatement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använda capability discovery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validera instanser och tolka resultatet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kravställa mot en IG med krav som går att verifiera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 och demo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6.2–6.4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betyder följsamhet?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Data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Är instansen giltig mot profilen?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Struktur · kardinalitet · datatyper · bindningar · invarianter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→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Validering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(automatisk)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System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Beter sig systemet som IG:n kräver?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Interaktioner · sökparametrar · Must Support · säkerhet · felhantering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→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Test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av API-beteende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8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0" i="0">
                <a:solidFill>
                  <a:srgbClr val="222831"/>
                </a:solidFill>
                <a:latin typeface="Calibri"/>
              </a:rPr>
              <a:t>IG:n ska uttrycka krav så att de går att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verifiera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SHALL / SHOULD / MAY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Must Support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måste definieras för både avsändare och mottagare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CapabilityStatement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beskriver vad en server ska kunna (krav) och vad den faktiskt kan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Kravställa mot 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5917021"/>
                <a:gridCol w="332832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Kravområde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Exempel på verifierbart krav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Verifieras med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IG och 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Lösningen SKA följa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fhir.education.kursig#0.1.0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Granskning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Beroenden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Profilerna SKA bygga på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hl7se.fhir.base#1.1.0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Granskning av paket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Alla Encounter SKA validera utan fel mot EducationEncounter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i test och CI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Must Support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Avsändaren SKA skicka MS-element när informationen finns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Testfall med ofullständiga data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Servern SKA ange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EducationServerCapabilities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i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instantiates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GET /metadata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, Inferno/Touchstone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Säkerhet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Åtkomst SKA kräva SMART Backend Services, scope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system/Encounter.rs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Säkerhetstest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Encounter.type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SKA kodas från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kontakttyp-vs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(version X)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Validering mot terminologiserver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Peka ut IG:n med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paket-id och version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skriv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SKA / BÖR / KAN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ange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hur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varje krav verifieras  ·  lägg API-krav i ett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CapabilityStatement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CapabilityStatement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Beskriver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instance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faktisk, driftsatt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Det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GET [bas]/metadata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returnerar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mjukvaruprodukt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"HAPI FHIR JPA Server 8.x kan …"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requirements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Krav, t.ex. i en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"En server som följer kurs-IG:n SKA …"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rest.resource.type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+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supportedProfile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interaction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read, search-type, create …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searchParam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namn, typ, definition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rest.security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t.ex. SMART on FHIR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instantiates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"jag uppfyller kraven i …"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implementationGuide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IG:er som följs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Expectation-extension: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SHALL / SHOULD / MAY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6766560" cy="21945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/>
            </a:r>
            <a:r>
              <a:rPr sz="1250" b="0" i="0">
                <a:solidFill>
                  <a:srgbClr val="0E6B74"/>
                </a:solidFill>
                <a:latin typeface="Consolas"/>
              </a:rPr>
              <a:t>"rest"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"mode"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"server"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"resource"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"supportedProfile"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".../EducationPatient"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],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"interaction"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"read"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},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"search-type"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"searchParam"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"name"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"identifier"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"token"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 ]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} ]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}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54864" cy="21945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Krav som CapabilityStatement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input/fsh/capabilities/EducationServerCapabilities.fsh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82296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EducationServerCapabilities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CapabilityStatement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#definition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name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"EducationServerCapabilities"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status = #draft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date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"2026-10-13"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kind = #requirements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fhirVersion = #4.0.1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format[0] = #json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rest[0].mode = #server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rest[0].resource[0].type = #Patient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rest[0].resource[0].supportedProfile = Canonical(EducationPatient)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rest[0].resource[0].interaction[0].code = #read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rest[0].resource[0].interaction[0].extension[$expectation].valueCode = #SHALL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rest[0].resource[0].searchParam[0].name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"identifier"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rest[0].resource[0].searchParam[0].type = #token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rest[0].resource[0].searchParam[0].extension[$expectation].valueCode = #SHALL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691640"/>
            <a:ext cx="2606040" cy="173736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Kravet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(requirements) i IG:n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↑ instantiates</a:t>
            </a:r>
          </a:p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Servern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(instance) via /metadata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6840" y="1691640"/>
            <a:ext cx="64008" cy="1737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06840" y="3703320"/>
            <a:ext cx="2606040" cy="1188720"/>
          </a:xfrm>
          <a:prstGeom prst="rect">
            <a:avLst/>
          </a:prstGeom>
          <a:solidFill>
            <a:srgbClr val="DF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300" b="0" i="0">
                <a:solidFill>
                  <a:srgbClr val="0E6B74"/>
                </a:solidFill>
                <a:latin typeface="Consolas"/>
              </a:rPr>
              <a:t>$expectation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är ett alias för</a:t>
            </a:r>
          </a:p>
          <a:p>
            <a:pPr algn="l"/>
            <a:r>
              <a:rPr sz="1400" b="0" i="0">
                <a:solidFill>
                  <a:srgbClr val="222831"/>
                </a:solidFill>
                <a:latin typeface="Calibri"/>
              </a:rPr>
              <a:t>extensionen capabilitystatement-expectation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3703320"/>
            <a:ext cx="64008" cy="11887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Capability discovery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69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6304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GET [bas]/metadata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160020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FHIR-version, resurser, interaktioner, sökparametrar, profiler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9748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56032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GET [bas]/.well-known/smart-configuration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Auktorisationsserver, scopes, flöden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65760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Kontrollera instantiates och implementationGuide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79476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Följer servern den IG klienten är byggd för?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9204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75488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Anpassa klienten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89204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Använd bara det servern faktiskt stöder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Validering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Kontrolleras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 på fel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Struktur och datatyper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Okänt element, fel datatyp, ogiltigt datum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Patient.name.family: minimum required = 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'kvinna' was not found in the value set AdministrativeGender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Invarianter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Constraint failed: edu-pat-1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 och slicing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Fel antal i en slice, fast värde stämmer inte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Best practice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dom-6: A resource should have narrative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(varning)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3716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Resultat: OperationOutcome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8"/>
            <a:ext cx="3931920" cy="36393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"OperationOutcome"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"issue"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"severity"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"error"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"invariant"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"details"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"text"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"Constraint failed: edu-pat-1: 'Ett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personnummer ska bestå av exakt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12 siffror (ÅÅÅÅMMDDNNNN).'" },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"expression"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64208"/>
            <a:ext cx="54864" cy="36393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Verktyg för validering och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FHIR Validator på kommandoraden (så gör arbetsflödet Validera instanser)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94415" cy="11247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java -jar validator_cli.jar validering/patient-fel.json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-version 4.0.1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-ig test-ig/fsh-generated/resources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-tx https://tx.fhir.org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1247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06324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3045"/>
                <a:gridCol w="721136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Används till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 Validator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(validator_cli.jar)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filer lokalt och i CI, mot valfria IG:er och paket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IG Publisher – qa.html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Validerar alla exempel i IG:n vid varje bygge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$validate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POST [bas]/Patient/$validate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på en FHIR-server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validator.fhir.org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Webbgränssnitt för FHIR Validator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Inferno / Touchstone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API-beteende mot en IG (sökning, säkerhet, CapabilityStatement)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Krav, CapabilityStatement och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kursmaterial/modul-6-foljsamhet/README.md  ·  facit: facit.md  ·  lösning: kursmaterial/losningar/modul-6/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(demo) Kursledaren visar CapabilityStatement för fasaden och hapi.fhir.org/baseR4/metadata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Skriv kraven som ett CapabilityStatement (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kind = #requirements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)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test-ig/input/fsh/capabilities/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Validera instanser mot din profil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Kopiera filerna i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kursmaterial/modul-6-foljsamhet/exempel/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till mappen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validering/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checka in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Läs resultatet i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Validera instanser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. Vilka fel hittas? Varför är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patient-felstavat-system.json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giltig?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Rätta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patient-fel.json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tills den blir grön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par: formulera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tre verifierbara krav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en tjänst som visar vårdkontakter  (5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Förutsätter profilerna från modul 3–4: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 → modul 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vid behov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 av dagen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73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Läsa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resurser, datatyper,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bindningar, extensions</a:t>
            </a:r>
          </a:p>
        </p:txBody>
      </p:sp>
      <p:sp>
        <p:nvSpPr>
          <p:cNvPr id="9" name="Oval 8"/>
          <p:cNvSpPr/>
          <p:nvPr/>
        </p:nvSpPr>
        <p:spPr>
          <a:xfrm>
            <a:off x="2404872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Tolka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profiler, slicing,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Must Support, IG:er</a:t>
            </a:r>
          </a:p>
        </p:txBody>
      </p:sp>
      <p:sp>
        <p:nvSpPr>
          <p:cNvPr id="11" name="Oval 10"/>
          <p:cNvSpPr/>
          <p:nvPr/>
        </p:nvSpPr>
        <p:spPr>
          <a:xfrm>
            <a:off x="4261104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Skriva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 + SUSHI +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IG Publisher</a:t>
            </a:r>
          </a:p>
        </p:txBody>
      </p:sp>
      <p:sp>
        <p:nvSpPr>
          <p:cNvPr id="13" name="Oval 12"/>
          <p:cNvSpPr/>
          <p:nvPr/>
        </p:nvSpPr>
        <p:spPr>
          <a:xfrm>
            <a:off x="6117336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FHIRPath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invarianter</a:t>
            </a:r>
          </a:p>
        </p:txBody>
      </p:sp>
      <p:sp>
        <p:nvSpPr>
          <p:cNvPr id="15" name="Oval 14"/>
          <p:cNvSpPr/>
          <p:nvPr/>
        </p:nvSpPr>
        <p:spPr>
          <a:xfrm>
            <a:off x="7973568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Exponera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FHIR-fasad, REST,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SMART, IHE</a:t>
            </a:r>
          </a:p>
        </p:txBody>
      </p:sp>
      <p:sp>
        <p:nvSpPr>
          <p:cNvPr id="17" name="Oval 16"/>
          <p:cNvSpPr/>
          <p:nvPr/>
        </p:nvSpPr>
        <p:spPr>
          <a:xfrm>
            <a:off x="9829800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Kvalitetssäkra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Capability-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Statement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validering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77640"/>
            <a:ext cx="110944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Ditt repo är 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fungerande miljö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kopiera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byt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canonical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börja profilera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Bygg och validera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automatiskt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vid varje ändring, lokalt med Docker eller i GitHub Actions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Återanvänd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befintliga profiler, extensions och kodverk innan du skapar nya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Ta hem miljön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Samma kedja på din egen dator, och en egen IG att bygga vidare på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8772E"/>
                </a:solidFill>
                <a:latin typeface="Calibri"/>
              </a:rPr>
              <a:t>15 minuter  ·  kursmaterial/avslutning/README.md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Installera verktygen lokalt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589518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599"/>
                <a:gridCol w="173735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Installation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Kontroll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VS Code + FSH-tillägg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code.visualstudio.com, tillägget FHIR Shorthand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Git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git-scm.com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git --version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Node.js + 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nodejs.org, sedan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npm install -g fsh-sushi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sushi --version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Java 17+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adoptium.net (Temurin)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java -version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Ruby + Jekyll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rubyinstaller.org, sedan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gem install jekyll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jekyll --version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IG Publisher, Validator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Hämtas automatiskt av skripten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412480" y="1417320"/>
            <a:ext cx="3200400" cy="274320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Får du inte installera?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Bara Docker: Docker-spåret i README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Ingenting: GitHub Codespaces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Samma skript i alla miljöer.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1417320"/>
            <a:ext cx="64008" cy="27432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11094415" cy="11887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./scripts/build-ig.sh --sushi-only   # snabb kontroll av FSH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./scripts/build-ig.sh                # hela IG:n -&gt; test-ig/output/index.html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./scripts/validate.sh                # validera filerna i validering/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54864" cy="1188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Starta en egen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Kopiera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till en ny mapp, t.ex.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min-ig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Ändra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canonical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name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title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sushi-config.yaml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sökvägen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ig.ini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Lägg till beroenden, t.ex.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hl7se.fhir.base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profilera på dem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Bygg: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./scripts/build-ig.sh min-ig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eller ändra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IG_FOLDER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arbetsflödet för GitHub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 IG:n förvaltas på riktigt: utgå från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Ineras mall-repo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(versioner, releaser, publicering)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Validera exempel och testdata i CI vid varje ändring, som i kursen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Vidare läsning och resurser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Resurs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Adress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 R4-specifikationen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hl7.org/fhir/R4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 Sverige – basprofiler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hl7.se/fhir/ig/base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FSH School – kurser och FSH Online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fshschool.org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FHIRPath Lab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fhirpath-lab.com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(webb)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validator.fhir.org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SMART App Launch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hl7.org/fhir/smart-app-launch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IHE-profiler (FHIR)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profiles.ihe.net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hapifhir.io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Chat – frågor och diskussion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chat.fhir.org (#shorthand, #IG creation, #Sweden)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Tack!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Frågor?  ·  Behåll ditt repo: det är din miljö för fortsatt arbete med FHIR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8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